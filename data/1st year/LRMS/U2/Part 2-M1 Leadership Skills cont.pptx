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3.xml" ContentType="application/vnd.openxmlformats-officedocument.theme+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4.xml" ContentType="application/vnd.openxmlformats-officedocument.theme+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theme/themeOverride2.xml" ContentType="application/vnd.openxmlformats-officedocument.themeOverride+xml"/>
  <Override PartName="/ppt/media/image30.jpg" ContentType="image/jpg"/>
  <Override PartName="/ppt/media/image31.jpg" ContentType="image/jpg"/>
  <Override PartName="/ppt/media/image34.jpg" ContentType="image/jpg"/>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 id="2147483712" r:id="rId3"/>
    <p:sldMasterId id="2147483731" r:id="rId4"/>
    <p:sldMasterId id="2147483743" r:id="rId5"/>
  </p:sldMasterIdLst>
  <p:notesMasterIdLst>
    <p:notesMasterId r:id="rId78"/>
  </p:notesMasterIdLst>
  <p:sldIdLst>
    <p:sldId id="256" r:id="rId6"/>
    <p:sldId id="257" r:id="rId7"/>
    <p:sldId id="258" r:id="rId8"/>
    <p:sldId id="259" r:id="rId9"/>
    <p:sldId id="264" r:id="rId10"/>
    <p:sldId id="265" r:id="rId11"/>
    <p:sldId id="260" r:id="rId12"/>
    <p:sldId id="261" r:id="rId13"/>
    <p:sldId id="262" r:id="rId14"/>
    <p:sldId id="263" r:id="rId15"/>
    <p:sldId id="400" r:id="rId16"/>
    <p:sldId id="422" r:id="rId17"/>
    <p:sldId id="403" r:id="rId18"/>
    <p:sldId id="428" r:id="rId19"/>
    <p:sldId id="438" r:id="rId20"/>
    <p:sldId id="278" r:id="rId21"/>
    <p:sldId id="449" r:id="rId22"/>
    <p:sldId id="455" r:id="rId23"/>
    <p:sldId id="453" r:id="rId24"/>
    <p:sldId id="450" r:id="rId25"/>
    <p:sldId id="448" r:id="rId26"/>
    <p:sldId id="457" r:id="rId27"/>
    <p:sldId id="458" r:id="rId28"/>
    <p:sldId id="459" r:id="rId29"/>
    <p:sldId id="460" r:id="rId30"/>
    <p:sldId id="461" r:id="rId31"/>
    <p:sldId id="462" r:id="rId32"/>
    <p:sldId id="463" r:id="rId33"/>
    <p:sldId id="464" r:id="rId34"/>
    <p:sldId id="465" r:id="rId35"/>
    <p:sldId id="466" r:id="rId36"/>
    <p:sldId id="467" r:id="rId37"/>
    <p:sldId id="468" r:id="rId38"/>
    <p:sldId id="469" r:id="rId39"/>
    <p:sldId id="470" r:id="rId40"/>
    <p:sldId id="471" r:id="rId41"/>
    <p:sldId id="472" r:id="rId42"/>
    <p:sldId id="473" r:id="rId43"/>
    <p:sldId id="418" r:id="rId44"/>
    <p:sldId id="444" r:id="rId45"/>
    <p:sldId id="445" r:id="rId46"/>
    <p:sldId id="446" r:id="rId47"/>
    <p:sldId id="420" r:id="rId48"/>
    <p:sldId id="421" r:id="rId49"/>
    <p:sldId id="490" r:id="rId50"/>
    <p:sldId id="424" r:id="rId51"/>
    <p:sldId id="425" r:id="rId52"/>
    <p:sldId id="426" r:id="rId53"/>
    <p:sldId id="427" r:id="rId54"/>
    <p:sldId id="491" r:id="rId55"/>
    <p:sldId id="492" r:id="rId56"/>
    <p:sldId id="493" r:id="rId57"/>
    <p:sldId id="494" r:id="rId58"/>
    <p:sldId id="497" r:id="rId59"/>
    <p:sldId id="498" r:id="rId60"/>
    <p:sldId id="499" r:id="rId61"/>
    <p:sldId id="500" r:id="rId62"/>
    <p:sldId id="501" r:id="rId63"/>
    <p:sldId id="502" r:id="rId64"/>
    <p:sldId id="297" r:id="rId65"/>
    <p:sldId id="512" r:id="rId66"/>
    <p:sldId id="513" r:id="rId67"/>
    <p:sldId id="299" r:id="rId68"/>
    <p:sldId id="300" r:id="rId69"/>
    <p:sldId id="508" r:id="rId70"/>
    <p:sldId id="509" r:id="rId71"/>
    <p:sldId id="510" r:id="rId72"/>
    <p:sldId id="511" r:id="rId73"/>
    <p:sldId id="503" r:id="rId74"/>
    <p:sldId id="504" r:id="rId75"/>
    <p:sldId id="505" r:id="rId76"/>
    <p:sldId id="506" r:id="rId7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16" Type="http://schemas.openxmlformats.org/officeDocument/2006/relationships/slide" Target="slides/slide11.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slide" Target="slides/slide69.xml"/><Relationship Id="rId79" Type="http://schemas.openxmlformats.org/officeDocument/2006/relationships/presProps" Target="presProps.xml"/><Relationship Id="rId5" Type="http://schemas.openxmlformats.org/officeDocument/2006/relationships/slideMaster" Target="slideMasters/slideMaster5.xml"/><Relationship Id="rId61" Type="http://schemas.openxmlformats.org/officeDocument/2006/relationships/slide" Target="slides/slide56.xml"/><Relationship Id="rId82" Type="http://schemas.openxmlformats.org/officeDocument/2006/relationships/tableStyles" Target="tableStyles.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slide" Target="slides/slide64.xml"/><Relationship Id="rId77" Type="http://schemas.openxmlformats.org/officeDocument/2006/relationships/slide" Target="slides/slide72.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80" Type="http://schemas.openxmlformats.org/officeDocument/2006/relationships/viewProps" Target="viewProps.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slide" Target="slides/slide70.xml"/><Relationship Id="rId1" Type="http://schemas.openxmlformats.org/officeDocument/2006/relationships/slideMaster" Target="slideMasters/slideMaster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notesMaster" Target="notesMasters/notesMaster1.xml"/><Relationship Id="rId81"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slide" Target="slides/slide71.xml"/><Relationship Id="rId7" Type="http://schemas.openxmlformats.org/officeDocument/2006/relationships/slide" Target="slides/slide2.xml"/><Relationship Id="rId71" Type="http://schemas.openxmlformats.org/officeDocument/2006/relationships/slide" Target="slides/slide66.xml"/><Relationship Id="rId2" Type="http://schemas.openxmlformats.org/officeDocument/2006/relationships/slideMaster" Target="slideMasters/slideMaster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3A400F0-417E-4DD7-8B8E-DCB5BF64942B}" type="datetimeFigureOut">
              <a:rPr lang="en-IN" smtClean="0"/>
              <a:t>Monday-8-09-25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85C73E-A543-4F51-B9E9-2C111D74650D}" type="slidenum">
              <a:rPr lang="en-IN" smtClean="0"/>
              <a:t>‹#›</a:t>
            </a:fld>
            <a:endParaRPr lang="en-IN"/>
          </a:p>
        </p:txBody>
      </p:sp>
    </p:spTree>
    <p:extLst>
      <p:ext uri="{BB962C8B-B14F-4D97-AF65-F5344CB8AC3E}">
        <p14:creationId xmlns:p14="http://schemas.microsoft.com/office/powerpoint/2010/main" val="10560335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16B53AF-37DC-4525-AF06-79F7B14466C1}" type="slidenum">
              <a:rPr kumimoji="0" lang="en-GB"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4450" name="Rectangle 2"/>
          <p:cNvSpPr>
            <a:spLocks noGrp="1" noRot="1" noChangeAspect="1" noChangeArrowheads="1" noTextEdit="1"/>
          </p:cNvSpPr>
          <p:nvPr>
            <p:ph type="sldImg"/>
          </p:nvPr>
        </p:nvSpPr>
        <p:spPr>
          <a:ln/>
        </p:spPr>
      </p:sp>
      <p:sp>
        <p:nvSpPr>
          <p:cNvPr id="10445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950956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1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1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1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2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ECF462A-09A3-42AC-AE26-BC0D043C1538}" type="datetimeFigureOut">
              <a:rPr lang="en-IN" smtClean="0"/>
              <a:t>Monday-8-09-25</a:t>
            </a:fld>
            <a:endParaRPr lang="en-IN"/>
          </a:p>
        </p:txBody>
      </p:sp>
      <p:sp>
        <p:nvSpPr>
          <p:cNvPr id="5" name="Footer Placeholder 4"/>
          <p:cNvSpPr>
            <a:spLocks noGrp="1"/>
          </p:cNvSpPr>
          <p:nvPr>
            <p:ph type="ftr" sz="quarter" idx="11"/>
          </p:nvPr>
        </p:nvSpPr>
        <p:spPr>
          <a:xfrm>
            <a:off x="2416500" y="329307"/>
            <a:ext cx="4973915" cy="309201"/>
          </a:xfrm>
        </p:spPr>
        <p:txBody>
          <a:bodyPr/>
          <a:lstStyle/>
          <a:p>
            <a:endParaRPr lang="en-IN"/>
          </a:p>
        </p:txBody>
      </p:sp>
      <p:sp>
        <p:nvSpPr>
          <p:cNvPr id="6" name="Slide Number Placeholder 5"/>
          <p:cNvSpPr>
            <a:spLocks noGrp="1"/>
          </p:cNvSpPr>
          <p:nvPr>
            <p:ph type="sldNum" sz="quarter" idx="12"/>
          </p:nvPr>
        </p:nvSpPr>
        <p:spPr>
          <a:xfrm>
            <a:off x="1437664" y="798973"/>
            <a:ext cx="811019" cy="503578"/>
          </a:xfrm>
        </p:spPr>
        <p:txBody>
          <a:bodyPr/>
          <a:lstStyle/>
          <a:p>
            <a:fld id="{5D52BF2B-D97C-4B49-97C4-E33F4EC1575C}" type="slidenum">
              <a:rPr lang="en-IN" smtClean="0"/>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254751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ECF462A-09A3-42AC-AE26-BC0D043C1538}" type="datetimeFigureOut">
              <a:rPr lang="en-IN" smtClean="0"/>
              <a:t>Monday-8-09-25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D52BF2B-D97C-4B49-97C4-E33F4EC1575C}" type="slidenum">
              <a:rPr lang="en-IN" smtClean="0"/>
              <a:t>‹#›</a:t>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8938772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ECF462A-09A3-42AC-AE26-BC0D043C1538}" type="datetimeFigureOut">
              <a:rPr lang="en-IN" smtClean="0"/>
              <a:t>Monday-8-09-25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D52BF2B-D97C-4B49-97C4-E33F4EC1575C}" type="slidenum">
              <a:rPr lang="en-IN" smtClean="0"/>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5592205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ECF462A-09A3-42AC-AE26-BC0D043C1538}" type="datetimeFigureOut">
              <a:rPr lang="en-IN" smtClean="0"/>
              <a:t>Monday-8-09-25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D52BF2B-D97C-4B49-97C4-E33F4EC1575C}" type="slidenum">
              <a:rPr lang="en-IN" smtClean="0"/>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2455489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ECF462A-09A3-42AC-AE26-BC0D043C1538}" type="datetimeFigureOut">
              <a:rPr lang="en-IN" smtClean="0"/>
              <a:t>Monday-8-09-25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D52BF2B-D97C-4B49-97C4-E33F4EC1575C}" type="slidenum">
              <a:rPr lang="en-IN" smtClean="0"/>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5765994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ECF462A-09A3-42AC-AE26-BC0D043C1538}" type="datetimeFigureOut">
              <a:rPr lang="en-IN" smtClean="0"/>
              <a:t>Monday-8-09-25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D52BF2B-D97C-4B49-97C4-E33F4EC1575C}" type="slidenum">
              <a:rPr lang="en-IN" smtClean="0"/>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398577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ECF462A-09A3-42AC-AE26-BC0D043C1538}" type="datetimeFigureOut">
              <a:rPr lang="en-IN" smtClean="0"/>
              <a:t>Monday-8-09-25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D52BF2B-D97C-4B49-97C4-E33F4EC1575C}" type="slidenum">
              <a:rPr lang="en-IN" smtClean="0"/>
              <a:t>‹#›</a:t>
            </a:fld>
            <a:endParaRPr lang="en-IN"/>
          </a:p>
        </p:txBody>
      </p:sp>
    </p:spTree>
    <p:extLst>
      <p:ext uri="{BB962C8B-B14F-4D97-AF65-F5344CB8AC3E}">
        <p14:creationId xmlns:p14="http://schemas.microsoft.com/office/powerpoint/2010/main" val="11373832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ECF462A-09A3-42AC-AE26-BC0D043C1538}" type="datetimeFigureOut">
              <a:rPr lang="en-IN" smtClean="0"/>
              <a:t>Monday-8-09-25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D52BF2B-D97C-4B49-97C4-E33F4EC1575C}" type="slidenum">
              <a:rPr lang="en-IN" smtClean="0"/>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5769004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CECF462A-09A3-42AC-AE26-BC0D043C1538}" type="datetimeFigureOut">
              <a:rPr lang="en-IN" smtClean="0"/>
              <a:t>Monday-8-09-25</a:t>
            </a:fld>
            <a:endParaRPr lang="en-IN"/>
          </a:p>
        </p:txBody>
      </p:sp>
      <p:sp>
        <p:nvSpPr>
          <p:cNvPr id="6" name="Footer Placeholder 5"/>
          <p:cNvSpPr>
            <a:spLocks noGrp="1"/>
          </p:cNvSpPr>
          <p:nvPr>
            <p:ph type="ftr" sz="quarter" idx="11"/>
          </p:nvPr>
        </p:nvSpPr>
        <p:spPr>
          <a:xfrm>
            <a:off x="1447382" y="318640"/>
            <a:ext cx="5541004" cy="320931"/>
          </a:xfrm>
        </p:spPr>
        <p:txBody>
          <a:bodyPr/>
          <a:lstStyle/>
          <a:p>
            <a:endParaRPr lang="en-IN"/>
          </a:p>
        </p:txBody>
      </p:sp>
      <p:sp>
        <p:nvSpPr>
          <p:cNvPr id="7" name="Slide Number Placeholder 6"/>
          <p:cNvSpPr>
            <a:spLocks noGrp="1"/>
          </p:cNvSpPr>
          <p:nvPr>
            <p:ph type="sldNum" sz="quarter" idx="12"/>
          </p:nvPr>
        </p:nvSpPr>
        <p:spPr/>
        <p:txBody>
          <a:bodyPr/>
          <a:lstStyle/>
          <a:p>
            <a:fld id="{5D52BF2B-D97C-4B49-97C4-E33F4EC1575C}" type="slidenum">
              <a:rPr lang="en-IN" smtClean="0"/>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5443988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ECF462A-09A3-42AC-AE26-BC0D043C1538}" type="datetimeFigureOut">
              <a:rPr lang="en-IN" smtClean="0"/>
              <a:t>Monday-8-09-25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D52BF2B-D97C-4B49-97C4-E33F4EC1575C}" type="slidenum">
              <a:rPr lang="en-IN" smtClean="0"/>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1652036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ECF462A-09A3-42AC-AE26-BC0D043C1538}" type="datetimeFigureOut">
              <a:rPr lang="en-IN" smtClean="0"/>
              <a:t>Monday-8-09-25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D52BF2B-D97C-4B49-97C4-E33F4EC1575C}" type="slidenum">
              <a:rPr lang="en-IN" smtClean="0"/>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8299819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148908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3F3FF">
              <a:alpha val="75000"/>
            </a:srgbClr>
          </a:solidFill>
          <a:ln/>
        </p:spPr>
      </p:sp>
      <p:pic>
        <p:nvPicPr>
          <p:cNvPr id="4" name="Image 1" descr="preencoded.png">
            <a:hlinkClick r:id="rId3"/>
          </p:cNvPr>
          <p:cNvPicPr>
            <a:picLocks noChangeAspect="1"/>
          </p:cNvPicPr>
          <p:nvPr/>
        </p:nvPicPr>
        <p:blipFill>
          <a:blip r:embed="rId4"/>
          <a:stretch>
            <a:fillRect/>
          </a:stretch>
        </p:blipFill>
        <p:spPr>
          <a:xfrm>
            <a:off x="10699346" y="6457950"/>
            <a:ext cx="1435504" cy="342900"/>
          </a:xfrm>
          <a:prstGeom prst="rect">
            <a:avLst/>
          </a:prstGeom>
        </p:spPr>
      </p:pic>
    </p:spTree>
    <p:extLst>
      <p:ext uri="{BB962C8B-B14F-4D97-AF65-F5344CB8AC3E}">
        <p14:creationId xmlns:p14="http://schemas.microsoft.com/office/powerpoint/2010/main" val="4748920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3F3FF">
              <a:alpha val="75000"/>
            </a:srgbClr>
          </a:solidFill>
          <a:ln/>
        </p:spPr>
      </p:sp>
      <p:pic>
        <p:nvPicPr>
          <p:cNvPr id="4" name="Image 1" descr="preencoded.png">
            <a:hlinkClick r:id="rId3"/>
          </p:cNvPr>
          <p:cNvPicPr>
            <a:picLocks noChangeAspect="1"/>
          </p:cNvPicPr>
          <p:nvPr/>
        </p:nvPicPr>
        <p:blipFill>
          <a:blip r:embed="rId4"/>
          <a:stretch>
            <a:fillRect/>
          </a:stretch>
        </p:blipFill>
        <p:spPr>
          <a:xfrm>
            <a:off x="10699346" y="6457950"/>
            <a:ext cx="1435504" cy="342900"/>
          </a:xfrm>
          <a:prstGeom prst="rect">
            <a:avLst/>
          </a:prstGeom>
        </p:spPr>
      </p:pic>
    </p:spTree>
    <p:extLst>
      <p:ext uri="{BB962C8B-B14F-4D97-AF65-F5344CB8AC3E}">
        <p14:creationId xmlns:p14="http://schemas.microsoft.com/office/powerpoint/2010/main" val="5287305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3F3FF">
              <a:alpha val="75000"/>
            </a:srgbClr>
          </a:solidFill>
          <a:ln/>
        </p:spPr>
      </p:sp>
      <p:pic>
        <p:nvPicPr>
          <p:cNvPr id="4" name="Image 1" descr="preencoded.png">
            <a:hlinkClick r:id="rId3"/>
          </p:cNvPr>
          <p:cNvPicPr>
            <a:picLocks noChangeAspect="1"/>
          </p:cNvPicPr>
          <p:nvPr/>
        </p:nvPicPr>
        <p:blipFill>
          <a:blip r:embed="rId4"/>
          <a:stretch>
            <a:fillRect/>
          </a:stretch>
        </p:blipFill>
        <p:spPr>
          <a:xfrm>
            <a:off x="10699346" y="6457950"/>
            <a:ext cx="1435504" cy="342900"/>
          </a:xfrm>
          <a:prstGeom prst="rect">
            <a:avLst/>
          </a:prstGeom>
        </p:spPr>
      </p:pic>
    </p:spTree>
    <p:extLst>
      <p:ext uri="{BB962C8B-B14F-4D97-AF65-F5344CB8AC3E}">
        <p14:creationId xmlns:p14="http://schemas.microsoft.com/office/powerpoint/2010/main" val="31491749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3F3FF">
              <a:alpha val="75000"/>
            </a:srgbClr>
          </a:solidFill>
          <a:ln/>
        </p:spPr>
      </p:sp>
      <p:pic>
        <p:nvPicPr>
          <p:cNvPr id="4" name="Image 1" descr="preencoded.png">
            <a:hlinkClick r:id="rId3"/>
          </p:cNvPr>
          <p:cNvPicPr>
            <a:picLocks noChangeAspect="1"/>
          </p:cNvPicPr>
          <p:nvPr/>
        </p:nvPicPr>
        <p:blipFill>
          <a:blip r:embed="rId4"/>
          <a:stretch>
            <a:fillRect/>
          </a:stretch>
        </p:blipFill>
        <p:spPr>
          <a:xfrm>
            <a:off x="10699346" y="6457950"/>
            <a:ext cx="1435504" cy="342900"/>
          </a:xfrm>
          <a:prstGeom prst="rect">
            <a:avLst/>
          </a:prstGeom>
        </p:spPr>
      </p:pic>
    </p:spTree>
    <p:extLst>
      <p:ext uri="{BB962C8B-B14F-4D97-AF65-F5344CB8AC3E}">
        <p14:creationId xmlns:p14="http://schemas.microsoft.com/office/powerpoint/2010/main" val="371022996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3F3FF">
              <a:alpha val="75000"/>
            </a:srgbClr>
          </a:solidFill>
          <a:ln/>
        </p:spPr>
      </p:sp>
      <p:pic>
        <p:nvPicPr>
          <p:cNvPr id="4" name="Image 1" descr="preencoded.png">
            <a:hlinkClick r:id="rId3"/>
          </p:cNvPr>
          <p:cNvPicPr>
            <a:picLocks noChangeAspect="1"/>
          </p:cNvPicPr>
          <p:nvPr/>
        </p:nvPicPr>
        <p:blipFill>
          <a:blip r:embed="rId4"/>
          <a:stretch>
            <a:fillRect/>
          </a:stretch>
        </p:blipFill>
        <p:spPr>
          <a:xfrm>
            <a:off x="10699346" y="6457950"/>
            <a:ext cx="1435504" cy="342900"/>
          </a:xfrm>
          <a:prstGeom prst="rect">
            <a:avLst/>
          </a:prstGeom>
        </p:spPr>
      </p:pic>
    </p:spTree>
    <p:extLst>
      <p:ext uri="{BB962C8B-B14F-4D97-AF65-F5344CB8AC3E}">
        <p14:creationId xmlns:p14="http://schemas.microsoft.com/office/powerpoint/2010/main" val="409695291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3F3FF">
              <a:alpha val="75000"/>
            </a:srgbClr>
          </a:solidFill>
          <a:ln/>
        </p:spPr>
      </p:sp>
      <p:pic>
        <p:nvPicPr>
          <p:cNvPr id="4" name="Image 1" descr="preencoded.png">
            <a:hlinkClick r:id="rId3"/>
          </p:cNvPr>
          <p:cNvPicPr>
            <a:picLocks noChangeAspect="1"/>
          </p:cNvPicPr>
          <p:nvPr/>
        </p:nvPicPr>
        <p:blipFill>
          <a:blip r:embed="rId4"/>
          <a:stretch>
            <a:fillRect/>
          </a:stretch>
        </p:blipFill>
        <p:spPr>
          <a:xfrm>
            <a:off x="10699346" y="6457950"/>
            <a:ext cx="1435504" cy="342900"/>
          </a:xfrm>
          <a:prstGeom prst="rect">
            <a:avLst/>
          </a:prstGeom>
        </p:spPr>
      </p:pic>
    </p:spTree>
    <p:extLst>
      <p:ext uri="{BB962C8B-B14F-4D97-AF65-F5344CB8AC3E}">
        <p14:creationId xmlns:p14="http://schemas.microsoft.com/office/powerpoint/2010/main" val="208433535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3F3FF">
              <a:alpha val="75000"/>
            </a:srgbClr>
          </a:solidFill>
          <a:ln/>
        </p:spPr>
      </p:sp>
      <p:pic>
        <p:nvPicPr>
          <p:cNvPr id="4" name="Image 1" descr="preencoded.png">
            <a:hlinkClick r:id="rId3"/>
          </p:cNvPr>
          <p:cNvPicPr>
            <a:picLocks noChangeAspect="1"/>
          </p:cNvPicPr>
          <p:nvPr/>
        </p:nvPicPr>
        <p:blipFill>
          <a:blip r:embed="rId4"/>
          <a:stretch>
            <a:fillRect/>
          </a:stretch>
        </p:blipFill>
        <p:spPr>
          <a:xfrm>
            <a:off x="10699346" y="6457950"/>
            <a:ext cx="1435504" cy="342900"/>
          </a:xfrm>
          <a:prstGeom prst="rect">
            <a:avLst/>
          </a:prstGeom>
        </p:spPr>
      </p:pic>
    </p:spTree>
    <p:extLst>
      <p:ext uri="{BB962C8B-B14F-4D97-AF65-F5344CB8AC3E}">
        <p14:creationId xmlns:p14="http://schemas.microsoft.com/office/powerpoint/2010/main" val="314012687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3F3FF">
              <a:alpha val="75000"/>
            </a:srgbClr>
          </a:solidFill>
          <a:ln/>
        </p:spPr>
      </p:sp>
      <p:pic>
        <p:nvPicPr>
          <p:cNvPr id="4" name="Image 1" descr="preencoded.png">
            <a:hlinkClick r:id="rId3"/>
          </p:cNvPr>
          <p:cNvPicPr>
            <a:picLocks noChangeAspect="1"/>
          </p:cNvPicPr>
          <p:nvPr/>
        </p:nvPicPr>
        <p:blipFill>
          <a:blip r:embed="rId4"/>
          <a:stretch>
            <a:fillRect/>
          </a:stretch>
        </p:blipFill>
        <p:spPr>
          <a:xfrm>
            <a:off x="10699346" y="6457950"/>
            <a:ext cx="1435504" cy="342900"/>
          </a:xfrm>
          <a:prstGeom prst="rect">
            <a:avLst/>
          </a:prstGeom>
        </p:spPr>
      </p:pic>
    </p:spTree>
    <p:extLst>
      <p:ext uri="{BB962C8B-B14F-4D97-AF65-F5344CB8AC3E}">
        <p14:creationId xmlns:p14="http://schemas.microsoft.com/office/powerpoint/2010/main" val="60609542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C2CF9AE6-380A-40A4-81FD-470E63F11B8C}" type="datetimeFigureOut">
              <a:rPr lang="en-US" smtClean="0">
                <a:solidFill>
                  <a:prstClr val="black"/>
                </a:solidFill>
              </a:rPr>
              <a:pPr/>
              <a:t>9/8/2025</a:t>
            </a:fld>
            <a:endParaRPr lang="en-US">
              <a:solidFill>
                <a:prstClr val="black"/>
              </a:solidFill>
            </a:endParaRPr>
          </a:p>
        </p:txBody>
      </p:sp>
      <p:sp>
        <p:nvSpPr>
          <p:cNvPr id="5" name="Footer Placeholder 4"/>
          <p:cNvSpPr>
            <a:spLocks noGrp="1"/>
          </p:cNvSpPr>
          <p:nvPr>
            <p:ph type="ftr" sz="quarter" idx="11"/>
          </p:nvPr>
        </p:nvSpPr>
        <p:spPr/>
        <p:txBody>
          <a:bodyPr/>
          <a:lstStyle/>
          <a:p>
            <a:endParaRPr lang="en-US">
              <a:solidFill>
                <a:prstClr val="black"/>
              </a:solidFill>
            </a:endParaRPr>
          </a:p>
        </p:txBody>
      </p:sp>
      <p:sp>
        <p:nvSpPr>
          <p:cNvPr id="6" name="Slide Number Placeholder 5"/>
          <p:cNvSpPr>
            <a:spLocks noGrp="1"/>
          </p:cNvSpPr>
          <p:nvPr>
            <p:ph type="sldNum" sz="quarter" idx="12"/>
          </p:nvPr>
        </p:nvSpPr>
        <p:spPr/>
        <p:txBody>
          <a:bodyPr/>
          <a:lstStyle/>
          <a:p>
            <a:fld id="{3D96A285-B91F-4010-AB38-5FCF965919FF}" type="slidenum">
              <a:rPr lang="en-US" smtClean="0">
                <a:solidFill>
                  <a:prstClr val="black"/>
                </a:solidFill>
              </a:rPr>
              <a:pPr/>
              <a:t>‹#›</a:t>
            </a:fld>
            <a:endParaRPr lang="en-US">
              <a:solidFill>
                <a:prstClr val="black"/>
              </a:solidFill>
            </a:endParaRPr>
          </a:p>
        </p:txBody>
      </p:sp>
      <p:sp>
        <p:nvSpPr>
          <p:cNvPr id="7" name="Title 6"/>
          <p:cNvSpPr>
            <a:spLocks noGrp="1"/>
          </p:cNvSpPr>
          <p:nvPr>
            <p:ph type="title"/>
          </p:nvPr>
        </p:nvSpPr>
        <p:spPr/>
        <p:txBody>
          <a:bodyPr rtlCol="0"/>
          <a:lstStyle/>
          <a:p>
            <a:r>
              <a:rPr kumimoji="0" lang="en-US"/>
              <a:t>Click to edit Master title style</a:t>
            </a:r>
          </a:p>
        </p:txBody>
      </p:sp>
    </p:spTree>
    <p:extLst>
      <p:ext uri="{BB962C8B-B14F-4D97-AF65-F5344CB8AC3E}">
        <p14:creationId xmlns:p14="http://schemas.microsoft.com/office/powerpoint/2010/main" val="171719508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solidFill>
                <a:prstClr val="black">
                  <a:tint val="75000"/>
                </a:prstClr>
              </a:solidFill>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solidFill>
                  <a:prstClr val="black">
                    <a:tint val="75000"/>
                  </a:prstClr>
                </a:solidFill>
              </a:rPr>
              <a:pPr/>
              <a:t>9/8/2025</a:t>
            </a:fld>
            <a:endParaRPr lang="en-US">
              <a:solidFill>
                <a:prstClr val="black">
                  <a:tint val="75000"/>
                </a:prstClr>
              </a:solidFill>
            </a:endParaRPr>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solidFill>
                  <a:prstClr val="black">
                    <a:tint val="75000"/>
                  </a:prstClr>
                </a:solidFill>
              </a:rPr>
              <a:pPr/>
              <a:t>‹#›</a:t>
            </a:fld>
            <a:endParaRPr>
              <a:solidFill>
                <a:prstClr val="black">
                  <a:tint val="75000"/>
                </a:prstClr>
              </a:solidFill>
            </a:endParaRPr>
          </a:p>
        </p:txBody>
      </p:sp>
    </p:spTree>
    <p:extLst>
      <p:ext uri="{BB962C8B-B14F-4D97-AF65-F5344CB8AC3E}">
        <p14:creationId xmlns:p14="http://schemas.microsoft.com/office/powerpoint/2010/main" val="211276263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ECF462A-09A3-42AC-AE26-BC0D043C1538}" type="datetimeFigureOut">
              <a:rPr lang="en-IN" smtClean="0"/>
              <a:t>Monday-8-09-25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D52BF2B-D97C-4B49-97C4-E33F4EC1575C}" type="slidenum">
              <a:rPr lang="en-IN" smtClean="0"/>
              <a:t>‹#›</a:t>
            </a:fld>
            <a:endParaRPr lang="en-IN"/>
          </a:p>
        </p:txBody>
      </p:sp>
    </p:spTree>
    <p:extLst>
      <p:ext uri="{BB962C8B-B14F-4D97-AF65-F5344CB8AC3E}">
        <p14:creationId xmlns:p14="http://schemas.microsoft.com/office/powerpoint/2010/main" val="223026676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ECF462A-09A3-42AC-AE26-BC0D043C1538}" type="datetimeFigureOut">
              <a:rPr lang="en-IN" smtClean="0"/>
              <a:t>Monday-8-09-25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D52BF2B-D97C-4B49-97C4-E33F4EC1575C}" type="slidenum">
              <a:rPr lang="en-IN" smtClean="0"/>
              <a:t>‹#›</a:t>
            </a:fld>
            <a:endParaRPr lang="en-IN"/>
          </a:p>
        </p:txBody>
      </p:sp>
    </p:spTree>
    <p:extLst>
      <p:ext uri="{BB962C8B-B14F-4D97-AF65-F5344CB8AC3E}">
        <p14:creationId xmlns:p14="http://schemas.microsoft.com/office/powerpoint/2010/main" val="361544919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ECF462A-09A3-42AC-AE26-BC0D043C1538}" type="datetimeFigureOut">
              <a:rPr lang="en-IN" smtClean="0"/>
              <a:t>Monday-8-09-25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D52BF2B-D97C-4B49-97C4-E33F4EC1575C}" type="slidenum">
              <a:rPr lang="en-IN" smtClean="0"/>
              <a:t>‹#›</a:t>
            </a:fld>
            <a:endParaRPr lang="en-IN"/>
          </a:p>
        </p:txBody>
      </p:sp>
    </p:spTree>
    <p:extLst>
      <p:ext uri="{BB962C8B-B14F-4D97-AF65-F5344CB8AC3E}">
        <p14:creationId xmlns:p14="http://schemas.microsoft.com/office/powerpoint/2010/main" val="119994702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ECF462A-09A3-42AC-AE26-BC0D043C1538}" type="datetimeFigureOut">
              <a:rPr lang="en-IN" smtClean="0"/>
              <a:t>Monday-8-09-25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D52BF2B-D97C-4B49-97C4-E33F4EC1575C}" type="slidenum">
              <a:rPr lang="en-IN" smtClean="0"/>
              <a:t>‹#›</a:t>
            </a:fld>
            <a:endParaRPr lang="en-IN"/>
          </a:p>
        </p:txBody>
      </p:sp>
    </p:spTree>
    <p:extLst>
      <p:ext uri="{BB962C8B-B14F-4D97-AF65-F5344CB8AC3E}">
        <p14:creationId xmlns:p14="http://schemas.microsoft.com/office/powerpoint/2010/main" val="220098835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ECF462A-09A3-42AC-AE26-BC0D043C1538}" type="datetimeFigureOut">
              <a:rPr lang="en-IN" smtClean="0"/>
              <a:t>Monday-8-09-25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D52BF2B-D97C-4B49-97C4-E33F4EC1575C}" type="slidenum">
              <a:rPr lang="en-IN" smtClean="0"/>
              <a:t>‹#›</a:t>
            </a:fld>
            <a:endParaRPr lang="en-IN"/>
          </a:p>
        </p:txBody>
      </p:sp>
    </p:spTree>
    <p:extLst>
      <p:ext uri="{BB962C8B-B14F-4D97-AF65-F5344CB8AC3E}">
        <p14:creationId xmlns:p14="http://schemas.microsoft.com/office/powerpoint/2010/main" val="378582235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ECF462A-09A3-42AC-AE26-BC0D043C1538}" type="datetimeFigureOut">
              <a:rPr lang="en-IN" smtClean="0"/>
              <a:t>Monday-8-09-25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D52BF2B-D97C-4B49-97C4-E33F4EC1575C}" type="slidenum">
              <a:rPr lang="en-IN" smtClean="0"/>
              <a:t>‹#›</a:t>
            </a:fld>
            <a:endParaRPr lang="en-IN"/>
          </a:p>
        </p:txBody>
      </p:sp>
    </p:spTree>
    <p:extLst>
      <p:ext uri="{BB962C8B-B14F-4D97-AF65-F5344CB8AC3E}">
        <p14:creationId xmlns:p14="http://schemas.microsoft.com/office/powerpoint/2010/main" val="227025345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CECF462A-09A3-42AC-AE26-BC0D043C1538}" type="datetimeFigureOut">
              <a:rPr lang="en-IN" smtClean="0"/>
              <a:t>Monday-8-09-25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D52BF2B-D97C-4B49-97C4-E33F4EC1575C}" type="slidenum">
              <a:rPr lang="en-IN" smtClean="0"/>
              <a:t>‹#›</a:t>
            </a:fld>
            <a:endParaRPr lang="en-IN"/>
          </a:p>
        </p:txBody>
      </p:sp>
    </p:spTree>
    <p:extLst>
      <p:ext uri="{BB962C8B-B14F-4D97-AF65-F5344CB8AC3E}">
        <p14:creationId xmlns:p14="http://schemas.microsoft.com/office/powerpoint/2010/main" val="18036255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ECF462A-09A3-42AC-AE26-BC0D043C1538}" type="datetimeFigureOut">
              <a:rPr lang="en-IN" smtClean="0"/>
              <a:t>Monday-8-09-25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D52BF2B-D97C-4B49-97C4-E33F4EC1575C}" type="slidenum">
              <a:rPr lang="en-IN" smtClean="0"/>
              <a:t>‹#›</a:t>
            </a:fld>
            <a:endParaRPr lang="en-IN"/>
          </a:p>
        </p:txBody>
      </p:sp>
    </p:spTree>
    <p:extLst>
      <p:ext uri="{BB962C8B-B14F-4D97-AF65-F5344CB8AC3E}">
        <p14:creationId xmlns:p14="http://schemas.microsoft.com/office/powerpoint/2010/main" val="201870172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ECF462A-09A3-42AC-AE26-BC0D043C1538}" type="datetimeFigureOut">
              <a:rPr lang="en-IN" smtClean="0"/>
              <a:t>Monday-8-09-25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D52BF2B-D97C-4B49-97C4-E33F4EC1575C}" type="slidenum">
              <a:rPr lang="en-IN" smtClean="0"/>
              <a:t>‹#›</a:t>
            </a:fld>
            <a:endParaRPr lang="en-IN"/>
          </a:p>
        </p:txBody>
      </p:sp>
    </p:spTree>
    <p:extLst>
      <p:ext uri="{BB962C8B-B14F-4D97-AF65-F5344CB8AC3E}">
        <p14:creationId xmlns:p14="http://schemas.microsoft.com/office/powerpoint/2010/main" val="131373863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ECF462A-09A3-42AC-AE26-BC0D043C1538}" type="datetimeFigureOut">
              <a:rPr lang="en-IN" smtClean="0"/>
              <a:t>Monday-8-09-25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D52BF2B-D97C-4B49-97C4-E33F4EC1575C}" type="slidenum">
              <a:rPr lang="en-IN" smtClean="0"/>
              <a:t>‹#›</a:t>
            </a:fld>
            <a:endParaRPr lang="en-IN"/>
          </a:p>
        </p:txBody>
      </p:sp>
    </p:spTree>
    <p:extLst>
      <p:ext uri="{BB962C8B-B14F-4D97-AF65-F5344CB8AC3E}">
        <p14:creationId xmlns:p14="http://schemas.microsoft.com/office/powerpoint/2010/main" val="57194851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ECF462A-09A3-42AC-AE26-BC0D043C1538}" type="datetimeFigureOut">
              <a:rPr lang="en-IN" smtClean="0"/>
              <a:t>Monday-8-09-25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D52BF2B-D97C-4B49-97C4-E33F4EC1575C}" type="slidenum">
              <a:rPr lang="en-IN" smtClean="0"/>
              <a:t>‹#›</a:t>
            </a:fld>
            <a:endParaRPr lang="en-IN"/>
          </a:p>
        </p:txBody>
      </p:sp>
    </p:spTree>
    <p:extLst>
      <p:ext uri="{BB962C8B-B14F-4D97-AF65-F5344CB8AC3E}">
        <p14:creationId xmlns:p14="http://schemas.microsoft.com/office/powerpoint/2010/main" val="124041019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ECF462A-09A3-42AC-AE26-BC0D043C1538}" type="datetimeFigureOut">
              <a:rPr lang="en-IN" smtClean="0"/>
              <a:t>Monday-8-09-25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D52BF2B-D97C-4B49-97C4-E33F4EC1575C}" type="slidenum">
              <a:rPr lang="en-IN" smtClean="0"/>
              <a:t>‹#›</a:t>
            </a:fld>
            <a:endParaRPr lang="en-IN"/>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48851900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ECF462A-09A3-42AC-AE26-BC0D043C1538}" type="datetimeFigureOut">
              <a:rPr lang="en-IN" smtClean="0"/>
              <a:t>Monday-8-09-25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D52BF2B-D97C-4B49-97C4-E33F4EC1575C}" type="slidenum">
              <a:rPr lang="en-IN" smtClean="0"/>
              <a:t>‹#›</a:t>
            </a:fld>
            <a:endParaRPr lang="en-IN"/>
          </a:p>
        </p:txBody>
      </p:sp>
    </p:spTree>
    <p:extLst>
      <p:ext uri="{BB962C8B-B14F-4D97-AF65-F5344CB8AC3E}">
        <p14:creationId xmlns:p14="http://schemas.microsoft.com/office/powerpoint/2010/main" val="366630416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CECF462A-09A3-42AC-AE26-BC0D043C1538}" type="datetimeFigureOut">
              <a:rPr lang="en-IN" smtClean="0"/>
              <a:t>Monday-8-09-25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D52BF2B-D97C-4B49-97C4-E33F4EC1575C}" type="slidenum">
              <a:rPr lang="en-IN" smtClean="0"/>
              <a:t>‹#›</a:t>
            </a:fld>
            <a:endParaRPr lang="en-IN"/>
          </a:p>
        </p:txBody>
      </p:sp>
    </p:spTree>
    <p:extLst>
      <p:ext uri="{BB962C8B-B14F-4D97-AF65-F5344CB8AC3E}">
        <p14:creationId xmlns:p14="http://schemas.microsoft.com/office/powerpoint/2010/main" val="234855882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CECF462A-09A3-42AC-AE26-BC0D043C1538}" type="datetimeFigureOut">
              <a:rPr lang="en-IN" smtClean="0"/>
              <a:t>Monday-8-09-25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D52BF2B-D97C-4B49-97C4-E33F4EC1575C}" type="slidenum">
              <a:rPr lang="en-IN" smtClean="0"/>
              <a:t>‹#›</a:t>
            </a:fld>
            <a:endParaRPr lang="en-IN"/>
          </a:p>
        </p:txBody>
      </p:sp>
    </p:spTree>
    <p:extLst>
      <p:ext uri="{BB962C8B-B14F-4D97-AF65-F5344CB8AC3E}">
        <p14:creationId xmlns:p14="http://schemas.microsoft.com/office/powerpoint/2010/main" val="186199927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ECF462A-09A3-42AC-AE26-BC0D043C1538}" type="datetimeFigureOut">
              <a:rPr lang="en-IN" smtClean="0"/>
              <a:t>Monday-8-09-25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D52BF2B-D97C-4B49-97C4-E33F4EC1575C}" type="slidenum">
              <a:rPr lang="en-IN" smtClean="0"/>
              <a:t>‹#›</a:t>
            </a:fld>
            <a:endParaRPr lang="en-IN"/>
          </a:p>
        </p:txBody>
      </p:sp>
    </p:spTree>
    <p:extLst>
      <p:ext uri="{BB962C8B-B14F-4D97-AF65-F5344CB8AC3E}">
        <p14:creationId xmlns:p14="http://schemas.microsoft.com/office/powerpoint/2010/main" val="84702799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ECF462A-09A3-42AC-AE26-BC0D043C1538}" type="datetimeFigureOut">
              <a:rPr lang="en-IN" smtClean="0"/>
              <a:t>Monday-8-09-25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D52BF2B-D97C-4B49-97C4-E33F4EC1575C}" type="slidenum">
              <a:rPr lang="en-IN" smtClean="0"/>
              <a:t>‹#›</a:t>
            </a:fld>
            <a:endParaRPr lang="en-IN"/>
          </a:p>
        </p:txBody>
      </p:sp>
    </p:spTree>
    <p:extLst>
      <p:ext uri="{BB962C8B-B14F-4D97-AF65-F5344CB8AC3E}">
        <p14:creationId xmlns:p14="http://schemas.microsoft.com/office/powerpoint/2010/main" val="109184605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ECF462A-09A3-42AC-AE26-BC0D043C1538}" type="datetimeFigureOut">
              <a:rPr lang="en-IN" smtClean="0"/>
              <a:t>Monday-8-09-25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D52BF2B-D97C-4B49-97C4-E33F4EC1575C}" type="slidenum">
              <a:rPr lang="en-IN" smtClean="0"/>
              <a:t>‹#›</a:t>
            </a:fld>
            <a:endParaRPr lang="en-IN"/>
          </a:p>
        </p:txBody>
      </p:sp>
    </p:spTree>
    <p:extLst>
      <p:ext uri="{BB962C8B-B14F-4D97-AF65-F5344CB8AC3E}">
        <p14:creationId xmlns:p14="http://schemas.microsoft.com/office/powerpoint/2010/main" val="374643663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B2D1AFA-743E-4804-AC49-77AF91FA9A80}" type="datetimeFigureOut">
              <a:rPr lang="en-US" smtClean="0">
                <a:solidFill>
                  <a:prstClr val="black">
                    <a:tint val="75000"/>
                  </a:prstClr>
                </a:solidFill>
              </a:rPr>
              <a:pPr/>
              <a:t>9/8/2025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7CFCCACC-8DFA-4D97-BFC0-CA4B76F41DC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50558783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B2D1AFA-743E-4804-AC49-77AF91FA9A80}" type="datetimeFigureOut">
              <a:rPr lang="en-US" smtClean="0">
                <a:solidFill>
                  <a:prstClr val="black">
                    <a:tint val="75000"/>
                  </a:prstClr>
                </a:solidFill>
              </a:rPr>
              <a:pPr/>
              <a:t>9/8/2025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7CFCCACC-8DFA-4D97-BFC0-CA4B76F41DC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51047383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B2D1AFA-743E-4804-AC49-77AF91FA9A80}" type="datetimeFigureOut">
              <a:rPr lang="en-US" smtClean="0">
                <a:solidFill>
                  <a:prstClr val="black">
                    <a:tint val="75000"/>
                  </a:prstClr>
                </a:solidFill>
              </a:rPr>
              <a:pPr/>
              <a:t>9/8/2025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7CFCCACC-8DFA-4D97-BFC0-CA4B76F41DC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05338288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B2D1AFA-743E-4804-AC49-77AF91FA9A80}" type="datetimeFigureOut">
              <a:rPr lang="en-US" smtClean="0">
                <a:solidFill>
                  <a:prstClr val="black">
                    <a:tint val="75000"/>
                  </a:prstClr>
                </a:solidFill>
              </a:rPr>
              <a:pPr/>
              <a:t>9/8/2025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7CFCCACC-8DFA-4D97-BFC0-CA4B76F41DC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9875895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B2D1AFA-743E-4804-AC49-77AF91FA9A80}" type="datetimeFigureOut">
              <a:rPr lang="en-US" smtClean="0">
                <a:solidFill>
                  <a:prstClr val="black">
                    <a:tint val="75000"/>
                  </a:prstClr>
                </a:solidFill>
              </a:rPr>
              <a:pPr/>
              <a:t>9/8/2025</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7CFCCACC-8DFA-4D97-BFC0-CA4B76F41DC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0255547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B2D1AFA-743E-4804-AC49-77AF91FA9A80}" type="datetimeFigureOut">
              <a:rPr lang="en-US" smtClean="0">
                <a:solidFill>
                  <a:prstClr val="black">
                    <a:tint val="75000"/>
                  </a:prstClr>
                </a:solidFill>
              </a:rPr>
              <a:pPr/>
              <a:t>9/8/2025</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7CFCCACC-8DFA-4D97-BFC0-CA4B76F41DC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6565932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B2D1AFA-743E-4804-AC49-77AF91FA9A80}" type="datetimeFigureOut">
              <a:rPr lang="en-US" smtClean="0">
                <a:solidFill>
                  <a:prstClr val="black">
                    <a:tint val="75000"/>
                  </a:prstClr>
                </a:solidFill>
              </a:rPr>
              <a:pPr/>
              <a:t>9/8/2025</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7CFCCACC-8DFA-4D97-BFC0-CA4B76F41DC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23748576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B2D1AFA-743E-4804-AC49-77AF91FA9A80}" type="datetimeFigureOut">
              <a:rPr lang="en-US" smtClean="0">
                <a:solidFill>
                  <a:prstClr val="black">
                    <a:tint val="75000"/>
                  </a:prstClr>
                </a:solidFill>
              </a:rPr>
              <a:pPr/>
              <a:t>9/8/2025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7CFCCACC-8DFA-4D97-BFC0-CA4B76F41DC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01407651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B2D1AFA-743E-4804-AC49-77AF91FA9A80}" type="datetimeFigureOut">
              <a:rPr lang="en-US" smtClean="0">
                <a:solidFill>
                  <a:prstClr val="black">
                    <a:tint val="75000"/>
                  </a:prstClr>
                </a:solidFill>
              </a:rPr>
              <a:pPr/>
              <a:t>9/8/2025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7CFCCACC-8DFA-4D97-BFC0-CA4B76F41DC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45428089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B2D1AFA-743E-4804-AC49-77AF91FA9A80}" type="datetimeFigureOut">
              <a:rPr lang="en-US" smtClean="0">
                <a:solidFill>
                  <a:prstClr val="black">
                    <a:tint val="75000"/>
                  </a:prstClr>
                </a:solidFill>
              </a:rPr>
              <a:pPr/>
              <a:t>9/8/2025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7CFCCACC-8DFA-4D97-BFC0-CA4B76F41DC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53426525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B2D1AFA-743E-4804-AC49-77AF91FA9A80}" type="datetimeFigureOut">
              <a:rPr lang="en-US" smtClean="0">
                <a:solidFill>
                  <a:prstClr val="black">
                    <a:tint val="75000"/>
                  </a:prstClr>
                </a:solidFill>
              </a:rPr>
              <a:pPr/>
              <a:t>9/8/2025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7CFCCACC-8DFA-4D97-BFC0-CA4B76F41DC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25222641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E55EA654-C308-411B-BAA0-8496D27EA307}" type="datetimeFigureOut">
              <a:rPr lang="en-IN" smtClean="0"/>
              <a:t>Monday-8-09-25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2027BB4-7A45-46AE-9FD1-26470F129DAF}" type="slidenum">
              <a:rPr lang="en-IN" smtClean="0"/>
              <a:t>‹#›</a:t>
            </a:fld>
            <a:endParaRPr lang="en-IN"/>
          </a:p>
        </p:txBody>
      </p:sp>
    </p:spTree>
    <p:extLst>
      <p:ext uri="{BB962C8B-B14F-4D97-AF65-F5344CB8AC3E}">
        <p14:creationId xmlns:p14="http://schemas.microsoft.com/office/powerpoint/2010/main" val="402608947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E55EA654-C308-411B-BAA0-8496D27EA307}" type="datetimeFigureOut">
              <a:rPr lang="en-IN" smtClean="0"/>
              <a:t>Monday-8-09-25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2027BB4-7A45-46AE-9FD1-26470F129DAF}" type="slidenum">
              <a:rPr lang="en-IN" smtClean="0"/>
              <a:t>‹#›</a:t>
            </a:fld>
            <a:endParaRPr lang="en-IN"/>
          </a:p>
        </p:txBody>
      </p:sp>
    </p:spTree>
    <p:extLst>
      <p:ext uri="{BB962C8B-B14F-4D97-AF65-F5344CB8AC3E}">
        <p14:creationId xmlns:p14="http://schemas.microsoft.com/office/powerpoint/2010/main" val="140658413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55EA654-C308-411B-BAA0-8496D27EA307}" type="datetimeFigureOut">
              <a:rPr lang="en-IN" smtClean="0"/>
              <a:t>Monday-8-09-25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2027BB4-7A45-46AE-9FD1-26470F129DAF}" type="slidenum">
              <a:rPr lang="en-IN" smtClean="0"/>
              <a:t>‹#›</a:t>
            </a:fld>
            <a:endParaRPr lang="en-IN"/>
          </a:p>
        </p:txBody>
      </p:sp>
    </p:spTree>
    <p:extLst>
      <p:ext uri="{BB962C8B-B14F-4D97-AF65-F5344CB8AC3E}">
        <p14:creationId xmlns:p14="http://schemas.microsoft.com/office/powerpoint/2010/main" val="414192570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E55EA654-C308-411B-BAA0-8496D27EA307}" type="datetimeFigureOut">
              <a:rPr lang="en-IN" smtClean="0"/>
              <a:t>Monday-8-09-25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2027BB4-7A45-46AE-9FD1-26470F129DAF}" type="slidenum">
              <a:rPr lang="en-IN" smtClean="0"/>
              <a:t>‹#›</a:t>
            </a:fld>
            <a:endParaRPr lang="en-IN"/>
          </a:p>
        </p:txBody>
      </p:sp>
    </p:spTree>
    <p:extLst>
      <p:ext uri="{BB962C8B-B14F-4D97-AF65-F5344CB8AC3E}">
        <p14:creationId xmlns:p14="http://schemas.microsoft.com/office/powerpoint/2010/main" val="255777955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E55EA654-C308-411B-BAA0-8496D27EA307}" type="datetimeFigureOut">
              <a:rPr lang="en-IN" smtClean="0"/>
              <a:t>Monday-8-09-25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2027BB4-7A45-46AE-9FD1-26470F129DAF}" type="slidenum">
              <a:rPr lang="en-IN" smtClean="0"/>
              <a:t>‹#›</a:t>
            </a:fld>
            <a:endParaRPr lang="en-IN"/>
          </a:p>
        </p:txBody>
      </p:sp>
    </p:spTree>
    <p:extLst>
      <p:ext uri="{BB962C8B-B14F-4D97-AF65-F5344CB8AC3E}">
        <p14:creationId xmlns:p14="http://schemas.microsoft.com/office/powerpoint/2010/main" val="198764569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E55EA654-C308-411B-BAA0-8496D27EA307}" type="datetimeFigureOut">
              <a:rPr lang="en-IN" smtClean="0"/>
              <a:t>Monday-8-09-25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2027BB4-7A45-46AE-9FD1-26470F129DAF}" type="slidenum">
              <a:rPr lang="en-IN" smtClean="0"/>
              <a:t>‹#›</a:t>
            </a:fld>
            <a:endParaRPr lang="en-IN"/>
          </a:p>
        </p:txBody>
      </p:sp>
    </p:spTree>
    <p:extLst>
      <p:ext uri="{BB962C8B-B14F-4D97-AF65-F5344CB8AC3E}">
        <p14:creationId xmlns:p14="http://schemas.microsoft.com/office/powerpoint/2010/main" val="18004747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55EA654-C308-411B-BAA0-8496D27EA307}" type="datetimeFigureOut">
              <a:rPr lang="en-IN" smtClean="0"/>
              <a:t>Monday-8-09-25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2027BB4-7A45-46AE-9FD1-26470F129DAF}" type="slidenum">
              <a:rPr lang="en-IN" smtClean="0"/>
              <a:t>‹#›</a:t>
            </a:fld>
            <a:endParaRPr lang="en-IN"/>
          </a:p>
        </p:txBody>
      </p:sp>
    </p:spTree>
    <p:extLst>
      <p:ext uri="{BB962C8B-B14F-4D97-AF65-F5344CB8AC3E}">
        <p14:creationId xmlns:p14="http://schemas.microsoft.com/office/powerpoint/2010/main" val="326068194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55EA654-C308-411B-BAA0-8496D27EA307}" type="datetimeFigureOut">
              <a:rPr lang="en-IN" smtClean="0"/>
              <a:t>Monday-8-09-25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2027BB4-7A45-46AE-9FD1-26470F129DAF}" type="slidenum">
              <a:rPr lang="en-IN" smtClean="0"/>
              <a:t>‹#›</a:t>
            </a:fld>
            <a:endParaRPr lang="en-IN"/>
          </a:p>
        </p:txBody>
      </p:sp>
    </p:spTree>
    <p:extLst>
      <p:ext uri="{BB962C8B-B14F-4D97-AF65-F5344CB8AC3E}">
        <p14:creationId xmlns:p14="http://schemas.microsoft.com/office/powerpoint/2010/main" val="986145186"/>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55EA654-C308-411B-BAA0-8496D27EA307}" type="datetimeFigureOut">
              <a:rPr lang="en-IN" smtClean="0"/>
              <a:t>Monday-8-09-25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2027BB4-7A45-46AE-9FD1-26470F129DAF}" type="slidenum">
              <a:rPr lang="en-IN" smtClean="0"/>
              <a:t>‹#›</a:t>
            </a:fld>
            <a:endParaRPr lang="en-IN"/>
          </a:p>
        </p:txBody>
      </p:sp>
    </p:spTree>
    <p:extLst>
      <p:ext uri="{BB962C8B-B14F-4D97-AF65-F5344CB8AC3E}">
        <p14:creationId xmlns:p14="http://schemas.microsoft.com/office/powerpoint/2010/main" val="302086745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E55EA654-C308-411B-BAA0-8496D27EA307}" type="datetimeFigureOut">
              <a:rPr lang="en-IN" smtClean="0"/>
              <a:t>Monday-8-09-25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2027BB4-7A45-46AE-9FD1-26470F129DAF}" type="slidenum">
              <a:rPr lang="en-IN" smtClean="0"/>
              <a:t>‹#›</a:t>
            </a:fld>
            <a:endParaRPr lang="en-IN"/>
          </a:p>
        </p:txBody>
      </p:sp>
    </p:spTree>
    <p:extLst>
      <p:ext uri="{BB962C8B-B14F-4D97-AF65-F5344CB8AC3E}">
        <p14:creationId xmlns:p14="http://schemas.microsoft.com/office/powerpoint/2010/main" val="367063076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E55EA654-C308-411B-BAA0-8496D27EA307}" type="datetimeFigureOut">
              <a:rPr lang="en-IN" smtClean="0"/>
              <a:t>Monday-8-09-25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2027BB4-7A45-46AE-9FD1-26470F129DAF}" type="slidenum">
              <a:rPr lang="en-IN" smtClean="0"/>
              <a:t>‹#›</a:t>
            </a:fld>
            <a:endParaRPr lang="en-IN"/>
          </a:p>
        </p:txBody>
      </p:sp>
    </p:spTree>
    <p:extLst>
      <p:ext uri="{BB962C8B-B14F-4D97-AF65-F5344CB8AC3E}">
        <p14:creationId xmlns:p14="http://schemas.microsoft.com/office/powerpoint/2010/main" val="3397894120"/>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2038351" y="304800"/>
            <a:ext cx="10085916" cy="1143000"/>
          </a:xfrm>
        </p:spPr>
        <p:txBody>
          <a:bodyPr/>
          <a:lstStyle/>
          <a:p>
            <a:r>
              <a:rPr lang="en-US"/>
              <a:t>Click to edit Master title style</a:t>
            </a:r>
            <a:endParaRPr lang="en-IN"/>
          </a:p>
        </p:txBody>
      </p:sp>
      <p:sp>
        <p:nvSpPr>
          <p:cNvPr id="3" name="Table Placeholder 2"/>
          <p:cNvSpPr>
            <a:spLocks noGrp="1"/>
          </p:cNvSpPr>
          <p:nvPr>
            <p:ph type="tbl" idx="1"/>
          </p:nvPr>
        </p:nvSpPr>
        <p:spPr>
          <a:xfrm>
            <a:off x="1972733" y="1981200"/>
            <a:ext cx="10168467" cy="4114800"/>
          </a:xfrm>
        </p:spPr>
        <p:txBody>
          <a:bodyPr/>
          <a:lstStyle/>
          <a:p>
            <a:endParaRPr lang="en-IN"/>
          </a:p>
        </p:txBody>
      </p:sp>
      <p:sp>
        <p:nvSpPr>
          <p:cNvPr id="4" name="Date Placeholder 3"/>
          <p:cNvSpPr>
            <a:spLocks noGrp="1"/>
          </p:cNvSpPr>
          <p:nvPr>
            <p:ph type="dt" sz="half" idx="10"/>
          </p:nvPr>
        </p:nvSpPr>
        <p:spPr>
          <a:xfrm>
            <a:off x="1974851" y="6248400"/>
            <a:ext cx="2377016" cy="457200"/>
          </a:xfrm>
        </p:spPr>
        <p:txBody>
          <a:bodyPr/>
          <a:lstStyle>
            <a:lvl1pPr>
              <a:defRPr/>
            </a:lvl1pPr>
          </a:lstStyle>
          <a:p>
            <a:endParaRPr lang="en-US"/>
          </a:p>
        </p:txBody>
      </p:sp>
      <p:sp>
        <p:nvSpPr>
          <p:cNvPr id="5" name="Footer Placeholder 4"/>
          <p:cNvSpPr>
            <a:spLocks noGrp="1"/>
          </p:cNvSpPr>
          <p:nvPr>
            <p:ph type="ftr" sz="quarter" idx="11"/>
          </p:nvPr>
        </p:nvSpPr>
        <p:spPr>
          <a:xfrm>
            <a:off x="5063067" y="6248400"/>
            <a:ext cx="3860800" cy="457200"/>
          </a:xfrm>
        </p:spPr>
        <p:txBody>
          <a:bodyPr/>
          <a:lstStyle>
            <a:lvl1pPr>
              <a:defRPr/>
            </a:lvl1pPr>
          </a:lstStyle>
          <a:p>
            <a:endParaRPr lang="en-US"/>
          </a:p>
        </p:txBody>
      </p:sp>
      <p:sp>
        <p:nvSpPr>
          <p:cNvPr id="6" name="Slide Number Placeholder 5"/>
          <p:cNvSpPr>
            <a:spLocks noGrp="1"/>
          </p:cNvSpPr>
          <p:nvPr>
            <p:ph type="sldNum" sz="quarter" idx="12"/>
          </p:nvPr>
        </p:nvSpPr>
        <p:spPr>
          <a:xfrm>
            <a:off x="9635067" y="6248400"/>
            <a:ext cx="2540000" cy="457200"/>
          </a:xfrm>
        </p:spPr>
        <p:txBody>
          <a:bodyPr/>
          <a:lstStyle>
            <a:lvl1pPr>
              <a:defRPr/>
            </a:lvl1pPr>
          </a:lstStyle>
          <a:p>
            <a:fld id="{2CF90740-B41E-4F88-8999-D4A3A747CBD7}" type="slidenum">
              <a:rPr lang="en-US"/>
              <a:pPr/>
              <a:t>‹#›</a:t>
            </a:fld>
            <a:endParaRPr lang="en-US"/>
          </a:p>
        </p:txBody>
      </p:sp>
    </p:spTree>
    <p:extLst>
      <p:ext uri="{BB962C8B-B14F-4D97-AF65-F5344CB8AC3E}">
        <p14:creationId xmlns:p14="http://schemas.microsoft.com/office/powerpoint/2010/main" val="8027300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slideLayout" Target="../slideLayouts/slideLayout35.xml"/><Relationship Id="rId18" Type="http://schemas.openxmlformats.org/officeDocument/2006/relationships/slideLayout" Target="../slideLayouts/slideLayout4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17" Type="http://schemas.openxmlformats.org/officeDocument/2006/relationships/slideLayout" Target="../slideLayouts/slideLayout39.xml"/><Relationship Id="rId2" Type="http://schemas.openxmlformats.org/officeDocument/2006/relationships/slideLayout" Target="../slideLayouts/slideLayout24.xml"/><Relationship Id="rId16" Type="http://schemas.openxmlformats.org/officeDocument/2006/relationships/slideLayout" Target="../slideLayouts/slideLayout38.xml"/><Relationship Id="rId20" Type="http://schemas.openxmlformats.org/officeDocument/2006/relationships/image" Target="../media/image4.png"/><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5" Type="http://schemas.openxmlformats.org/officeDocument/2006/relationships/slideLayout" Target="../slideLayouts/slideLayout37.xml"/><Relationship Id="rId10" Type="http://schemas.openxmlformats.org/officeDocument/2006/relationships/slideLayout" Target="../slideLayouts/slideLayout32.xml"/><Relationship Id="rId19" Type="http://schemas.openxmlformats.org/officeDocument/2006/relationships/theme" Target="../theme/theme3.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slideLayout" Target="../slideLayouts/slideLayout3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8.xml"/><Relationship Id="rId3" Type="http://schemas.openxmlformats.org/officeDocument/2006/relationships/slideLayout" Target="../slideLayouts/slideLayout43.xml"/><Relationship Id="rId7" Type="http://schemas.openxmlformats.org/officeDocument/2006/relationships/slideLayout" Target="../slideLayouts/slideLayout47.xml"/><Relationship Id="rId12" Type="http://schemas.openxmlformats.org/officeDocument/2006/relationships/theme" Target="../theme/theme4.xml"/><Relationship Id="rId2" Type="http://schemas.openxmlformats.org/officeDocument/2006/relationships/slideLayout" Target="../slideLayouts/slideLayout42.xml"/><Relationship Id="rId1" Type="http://schemas.openxmlformats.org/officeDocument/2006/relationships/slideLayout" Target="../slideLayouts/slideLayout41.xml"/><Relationship Id="rId6" Type="http://schemas.openxmlformats.org/officeDocument/2006/relationships/slideLayout" Target="../slideLayouts/slideLayout46.xml"/><Relationship Id="rId11" Type="http://schemas.openxmlformats.org/officeDocument/2006/relationships/slideLayout" Target="../slideLayouts/slideLayout51.xml"/><Relationship Id="rId5" Type="http://schemas.openxmlformats.org/officeDocument/2006/relationships/slideLayout" Target="../slideLayouts/slideLayout45.xml"/><Relationship Id="rId10" Type="http://schemas.openxmlformats.org/officeDocument/2006/relationships/slideLayout" Target="../slideLayouts/slideLayout50.xml"/><Relationship Id="rId4" Type="http://schemas.openxmlformats.org/officeDocument/2006/relationships/slideLayout" Target="../slideLayouts/slideLayout44.xml"/><Relationship Id="rId9" Type="http://schemas.openxmlformats.org/officeDocument/2006/relationships/slideLayout" Target="../slideLayouts/slideLayout49.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9.xml"/><Relationship Id="rId13" Type="http://schemas.openxmlformats.org/officeDocument/2006/relationships/theme" Target="../theme/theme5.xml"/><Relationship Id="rId3" Type="http://schemas.openxmlformats.org/officeDocument/2006/relationships/slideLayout" Target="../slideLayouts/slideLayout54.xml"/><Relationship Id="rId7" Type="http://schemas.openxmlformats.org/officeDocument/2006/relationships/slideLayout" Target="../slideLayouts/slideLayout58.xml"/><Relationship Id="rId12" Type="http://schemas.openxmlformats.org/officeDocument/2006/relationships/slideLayout" Target="../slideLayouts/slideLayout63.xml"/><Relationship Id="rId2" Type="http://schemas.openxmlformats.org/officeDocument/2006/relationships/slideLayout" Target="../slideLayouts/slideLayout53.xml"/><Relationship Id="rId1" Type="http://schemas.openxmlformats.org/officeDocument/2006/relationships/slideLayout" Target="../slideLayouts/slideLayout52.xml"/><Relationship Id="rId6" Type="http://schemas.openxmlformats.org/officeDocument/2006/relationships/slideLayout" Target="../slideLayouts/slideLayout57.xml"/><Relationship Id="rId11" Type="http://schemas.openxmlformats.org/officeDocument/2006/relationships/slideLayout" Target="../slideLayouts/slideLayout62.xml"/><Relationship Id="rId5" Type="http://schemas.openxmlformats.org/officeDocument/2006/relationships/slideLayout" Target="../slideLayouts/slideLayout56.xml"/><Relationship Id="rId10" Type="http://schemas.openxmlformats.org/officeDocument/2006/relationships/slideLayout" Target="../slideLayouts/slideLayout61.xml"/><Relationship Id="rId4" Type="http://schemas.openxmlformats.org/officeDocument/2006/relationships/slideLayout" Target="../slideLayouts/slideLayout55.xml"/><Relationship Id="rId9" Type="http://schemas.openxmlformats.org/officeDocument/2006/relationships/slideLayout" Target="../slideLayouts/slideLayout6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CECF462A-09A3-42AC-AE26-BC0D043C1538}" type="datetimeFigureOut">
              <a:rPr lang="en-IN" smtClean="0"/>
              <a:t>Monday-8-09-25</a:t>
            </a:fld>
            <a:endParaRPr lang="en-IN"/>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5D52BF2B-D97C-4B49-97C4-E33F4EC1575C}" type="slidenum">
              <a:rPr lang="en-IN" smtClean="0"/>
              <a:t>‹#›</a:t>
            </a:fld>
            <a:endParaRPr lang="en-IN"/>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1741335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9133811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768" r:id="rId11"/>
  </p:sldLayoutIdLst>
  <p:hf sldNum="0" hdr="0" ftr="0" dt="0"/>
  <p:txStyles>
    <p:titleStyle>
      <a:lvl1pPr algn="ctr" defTabSz="761940" rtl="0" eaLnBrk="1" latinLnBrk="0" hangingPunct="1">
        <a:spcBef>
          <a:spcPct val="0"/>
        </a:spcBef>
        <a:buNone/>
        <a:defRPr sz="3667" kern="1200">
          <a:solidFill>
            <a:schemeClr val="tx1"/>
          </a:solidFill>
          <a:latin typeface="+mj-lt"/>
          <a:ea typeface="+mj-ea"/>
          <a:cs typeface="+mj-cs"/>
        </a:defRPr>
      </a:lvl1pPr>
    </p:titleStyle>
    <p:bodyStyle>
      <a:lvl1pPr marL="285728" indent="-285728" algn="l" defTabSz="761940" rtl="0" eaLnBrk="1" latinLnBrk="0" hangingPunct="1">
        <a:spcBef>
          <a:spcPct val="20000"/>
        </a:spcBef>
        <a:buFont typeface="Arial" pitchFamily="34" charset="0"/>
        <a:buChar char="•"/>
        <a:defRPr sz="2667" kern="1200">
          <a:solidFill>
            <a:schemeClr val="tx1"/>
          </a:solidFill>
          <a:latin typeface="+mn-lt"/>
          <a:ea typeface="+mn-ea"/>
          <a:cs typeface="+mn-cs"/>
        </a:defRPr>
      </a:lvl1pPr>
      <a:lvl2pPr marL="619075" indent="-238105" algn="l" defTabSz="761940" rtl="0" eaLnBrk="1" latinLnBrk="0" hangingPunct="1">
        <a:spcBef>
          <a:spcPct val="20000"/>
        </a:spcBef>
        <a:buFont typeface="Arial" pitchFamily="34" charset="0"/>
        <a:buChar char="–"/>
        <a:defRPr sz="2333" kern="1200">
          <a:solidFill>
            <a:schemeClr val="tx1"/>
          </a:solidFill>
          <a:latin typeface="+mn-lt"/>
          <a:ea typeface="+mn-ea"/>
          <a:cs typeface="+mn-cs"/>
        </a:defRPr>
      </a:lvl2pPr>
      <a:lvl3pPr marL="952424" indent="-190484" algn="l" defTabSz="761940" rtl="0" eaLnBrk="1" latinLnBrk="0" hangingPunct="1">
        <a:spcBef>
          <a:spcPct val="20000"/>
        </a:spcBef>
        <a:buFont typeface="Arial" pitchFamily="34" charset="0"/>
        <a:buChar char="•"/>
        <a:defRPr sz="2000" kern="1200">
          <a:solidFill>
            <a:schemeClr val="tx1"/>
          </a:solidFill>
          <a:latin typeface="+mn-lt"/>
          <a:ea typeface="+mn-ea"/>
          <a:cs typeface="+mn-cs"/>
        </a:defRPr>
      </a:lvl3pPr>
      <a:lvl4pPr marL="1333393" indent="-190484" algn="l" defTabSz="761940" rtl="0" eaLnBrk="1" latinLnBrk="0" hangingPunct="1">
        <a:spcBef>
          <a:spcPct val="20000"/>
        </a:spcBef>
        <a:buFont typeface="Arial" pitchFamily="34" charset="0"/>
        <a:buChar char="–"/>
        <a:defRPr sz="1667" kern="1200">
          <a:solidFill>
            <a:schemeClr val="tx1"/>
          </a:solidFill>
          <a:latin typeface="+mn-lt"/>
          <a:ea typeface="+mn-ea"/>
          <a:cs typeface="+mn-cs"/>
        </a:defRPr>
      </a:lvl4pPr>
      <a:lvl5pPr marL="1714362" indent="-190484" algn="l" defTabSz="761940" rtl="0" eaLnBrk="1" latinLnBrk="0" hangingPunct="1">
        <a:spcBef>
          <a:spcPct val="20000"/>
        </a:spcBef>
        <a:buFont typeface="Arial" pitchFamily="34" charset="0"/>
        <a:buChar char="»"/>
        <a:defRPr sz="1667" kern="1200">
          <a:solidFill>
            <a:schemeClr val="tx1"/>
          </a:solidFill>
          <a:latin typeface="+mn-lt"/>
          <a:ea typeface="+mn-ea"/>
          <a:cs typeface="+mn-cs"/>
        </a:defRPr>
      </a:lvl5pPr>
      <a:lvl6pPr marL="2095332" indent="-190484" algn="l" defTabSz="761940" rtl="0" eaLnBrk="1" latinLnBrk="0" hangingPunct="1">
        <a:spcBef>
          <a:spcPct val="20000"/>
        </a:spcBef>
        <a:buFont typeface="Arial" pitchFamily="34" charset="0"/>
        <a:buChar char="•"/>
        <a:defRPr sz="1667" kern="1200">
          <a:solidFill>
            <a:schemeClr val="tx1"/>
          </a:solidFill>
          <a:latin typeface="+mn-lt"/>
          <a:ea typeface="+mn-ea"/>
          <a:cs typeface="+mn-cs"/>
        </a:defRPr>
      </a:lvl6pPr>
      <a:lvl7pPr marL="2476302" indent="-190484" algn="l" defTabSz="761940" rtl="0" eaLnBrk="1" latinLnBrk="0" hangingPunct="1">
        <a:spcBef>
          <a:spcPct val="20000"/>
        </a:spcBef>
        <a:buFont typeface="Arial" pitchFamily="34" charset="0"/>
        <a:buChar char="•"/>
        <a:defRPr sz="1667" kern="1200">
          <a:solidFill>
            <a:schemeClr val="tx1"/>
          </a:solidFill>
          <a:latin typeface="+mn-lt"/>
          <a:ea typeface="+mn-ea"/>
          <a:cs typeface="+mn-cs"/>
        </a:defRPr>
      </a:lvl7pPr>
      <a:lvl8pPr marL="2857272" indent="-190484" algn="l" defTabSz="761940" rtl="0" eaLnBrk="1" latinLnBrk="0" hangingPunct="1">
        <a:spcBef>
          <a:spcPct val="20000"/>
        </a:spcBef>
        <a:buFont typeface="Arial" pitchFamily="34" charset="0"/>
        <a:buChar char="•"/>
        <a:defRPr sz="1667" kern="1200">
          <a:solidFill>
            <a:schemeClr val="tx1"/>
          </a:solidFill>
          <a:latin typeface="+mn-lt"/>
          <a:ea typeface="+mn-ea"/>
          <a:cs typeface="+mn-cs"/>
        </a:defRPr>
      </a:lvl8pPr>
      <a:lvl9pPr marL="3238240" indent="-190484" algn="l" defTabSz="761940" rtl="0" eaLnBrk="1" latinLnBrk="0" hangingPunct="1">
        <a:spcBef>
          <a:spcPct val="20000"/>
        </a:spcBef>
        <a:buFont typeface="Arial" pitchFamily="34" charset="0"/>
        <a:buChar char="•"/>
        <a:defRPr sz="1667" kern="1200">
          <a:solidFill>
            <a:schemeClr val="tx1"/>
          </a:solidFill>
          <a:latin typeface="+mn-lt"/>
          <a:ea typeface="+mn-ea"/>
          <a:cs typeface="+mn-cs"/>
        </a:defRPr>
      </a:lvl9pPr>
    </p:bodyStyle>
    <p:otherStyle>
      <a:defPPr>
        <a:defRPr lang="en-US"/>
      </a:defPPr>
      <a:lvl1pPr marL="0" algn="l" defTabSz="761940" rtl="0" eaLnBrk="1" latinLnBrk="0" hangingPunct="1">
        <a:defRPr sz="1500" kern="1200">
          <a:solidFill>
            <a:schemeClr val="tx1"/>
          </a:solidFill>
          <a:latin typeface="+mn-lt"/>
          <a:ea typeface="+mn-ea"/>
          <a:cs typeface="+mn-cs"/>
        </a:defRPr>
      </a:lvl1pPr>
      <a:lvl2pPr marL="380970" algn="l" defTabSz="761940" rtl="0" eaLnBrk="1" latinLnBrk="0" hangingPunct="1">
        <a:defRPr sz="1500" kern="1200">
          <a:solidFill>
            <a:schemeClr val="tx1"/>
          </a:solidFill>
          <a:latin typeface="+mn-lt"/>
          <a:ea typeface="+mn-ea"/>
          <a:cs typeface="+mn-cs"/>
        </a:defRPr>
      </a:lvl2pPr>
      <a:lvl3pPr marL="761940" algn="l" defTabSz="761940" rtl="0" eaLnBrk="1" latinLnBrk="0" hangingPunct="1">
        <a:defRPr sz="1500" kern="1200">
          <a:solidFill>
            <a:schemeClr val="tx1"/>
          </a:solidFill>
          <a:latin typeface="+mn-lt"/>
          <a:ea typeface="+mn-ea"/>
          <a:cs typeface="+mn-cs"/>
        </a:defRPr>
      </a:lvl3pPr>
      <a:lvl4pPr marL="1142908" algn="l" defTabSz="761940" rtl="0" eaLnBrk="1" latinLnBrk="0" hangingPunct="1">
        <a:defRPr sz="1500" kern="1200">
          <a:solidFill>
            <a:schemeClr val="tx1"/>
          </a:solidFill>
          <a:latin typeface="+mn-lt"/>
          <a:ea typeface="+mn-ea"/>
          <a:cs typeface="+mn-cs"/>
        </a:defRPr>
      </a:lvl4pPr>
      <a:lvl5pPr marL="1523878" algn="l" defTabSz="761940" rtl="0" eaLnBrk="1" latinLnBrk="0" hangingPunct="1">
        <a:defRPr sz="1500" kern="1200">
          <a:solidFill>
            <a:schemeClr val="tx1"/>
          </a:solidFill>
          <a:latin typeface="+mn-lt"/>
          <a:ea typeface="+mn-ea"/>
          <a:cs typeface="+mn-cs"/>
        </a:defRPr>
      </a:lvl5pPr>
      <a:lvl6pPr marL="1904848" algn="l" defTabSz="761940" rtl="0" eaLnBrk="1" latinLnBrk="0" hangingPunct="1">
        <a:defRPr sz="1500" kern="1200">
          <a:solidFill>
            <a:schemeClr val="tx1"/>
          </a:solidFill>
          <a:latin typeface="+mn-lt"/>
          <a:ea typeface="+mn-ea"/>
          <a:cs typeface="+mn-cs"/>
        </a:defRPr>
      </a:lvl6pPr>
      <a:lvl7pPr marL="2285818" algn="l" defTabSz="761940" rtl="0" eaLnBrk="1" latinLnBrk="0" hangingPunct="1">
        <a:defRPr sz="1500" kern="1200">
          <a:solidFill>
            <a:schemeClr val="tx1"/>
          </a:solidFill>
          <a:latin typeface="+mn-lt"/>
          <a:ea typeface="+mn-ea"/>
          <a:cs typeface="+mn-cs"/>
        </a:defRPr>
      </a:lvl7pPr>
      <a:lvl8pPr marL="2666787" algn="l" defTabSz="761940" rtl="0" eaLnBrk="1" latinLnBrk="0" hangingPunct="1">
        <a:defRPr sz="1500" kern="1200">
          <a:solidFill>
            <a:schemeClr val="tx1"/>
          </a:solidFill>
          <a:latin typeface="+mn-lt"/>
          <a:ea typeface="+mn-ea"/>
          <a:cs typeface="+mn-cs"/>
        </a:defRPr>
      </a:lvl8pPr>
      <a:lvl9pPr marL="3047756" algn="l" defTabSz="761940" rtl="0" eaLnBrk="1" latinLnBrk="0" hangingPunct="1">
        <a:defRPr sz="15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20">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CECF462A-09A3-42AC-AE26-BC0D043C1538}" type="datetimeFigureOut">
              <a:rPr lang="en-IN" smtClean="0"/>
              <a:t>Monday-8-09-25</a:t>
            </a:fld>
            <a:endParaRPr lang="en-IN"/>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IN"/>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5D52BF2B-D97C-4B49-97C4-E33F4EC1575C}" type="slidenum">
              <a:rPr lang="en-IN" smtClean="0"/>
              <a:t>‹#›</a:t>
            </a:fld>
            <a:endParaRPr lang="en-IN"/>
          </a:p>
        </p:txBody>
      </p:sp>
    </p:spTree>
    <p:extLst>
      <p:ext uri="{BB962C8B-B14F-4D97-AF65-F5344CB8AC3E}">
        <p14:creationId xmlns:p14="http://schemas.microsoft.com/office/powerpoint/2010/main" val="3398066827"/>
      </p:ext>
    </p:extLst>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 id="2147483725" r:id="rId13"/>
    <p:sldLayoutId id="2147483726" r:id="rId14"/>
    <p:sldLayoutId id="2147483727" r:id="rId15"/>
    <p:sldLayoutId id="2147483728" r:id="rId16"/>
    <p:sldLayoutId id="2147483729" r:id="rId17"/>
    <p:sldLayoutId id="2147483730" r:id="rId18"/>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B2D1AFA-743E-4804-AC49-77AF91FA9A80}" type="datetimeFigureOut">
              <a:rPr lang="en-US" smtClean="0">
                <a:solidFill>
                  <a:prstClr val="black">
                    <a:tint val="75000"/>
                  </a:prstClr>
                </a:solidFill>
              </a:rPr>
              <a:pPr/>
              <a:t>9/8/2025</a:t>
            </a:fld>
            <a:endParaRPr lang="en-US">
              <a:solidFill>
                <a:prstClr val="black">
                  <a:tint val="75000"/>
                </a:prstClr>
              </a:solidFill>
            </a:endParaRPr>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CFCCACC-8DFA-4D97-BFC0-CA4B76F41DC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832749666"/>
      </p:ext>
    </p:extLst>
  </p:cSld>
  <p:clrMap bg1="lt1" tx1="dk1" bg2="lt2" tx2="dk2" accent1="accent1" accent2="accent2" accent3="accent3" accent4="accent4" accent5="accent5" accent6="accent6" hlink="hlink" folHlink="folHlink"/>
  <p:sldLayoutIdLst>
    <p:sldLayoutId id="2147483732" r:id="rId1"/>
    <p:sldLayoutId id="2147483733" r:id="rId2"/>
    <p:sldLayoutId id="2147483734" r:id="rId3"/>
    <p:sldLayoutId id="2147483735" r:id="rId4"/>
    <p:sldLayoutId id="2147483736" r:id="rId5"/>
    <p:sldLayoutId id="2147483737" r:id="rId6"/>
    <p:sldLayoutId id="2147483738" r:id="rId7"/>
    <p:sldLayoutId id="2147483739" r:id="rId8"/>
    <p:sldLayoutId id="2147483740" r:id="rId9"/>
    <p:sldLayoutId id="2147483741" r:id="rId10"/>
    <p:sldLayoutId id="2147483742"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55EA654-C308-411B-BAA0-8496D27EA307}" type="datetimeFigureOut">
              <a:rPr lang="en-IN" smtClean="0"/>
              <a:t>Monday-8-09-25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2027BB4-7A45-46AE-9FD1-26470F129DAF}" type="slidenum">
              <a:rPr lang="en-IN" smtClean="0"/>
              <a:t>‹#›</a:t>
            </a:fld>
            <a:endParaRPr lang="en-IN"/>
          </a:p>
        </p:txBody>
      </p:sp>
    </p:spTree>
    <p:extLst>
      <p:ext uri="{BB962C8B-B14F-4D97-AF65-F5344CB8AC3E}">
        <p14:creationId xmlns:p14="http://schemas.microsoft.com/office/powerpoint/2010/main" val="2843850967"/>
      </p:ext>
    </p:extLst>
  </p:cSld>
  <p:clrMap bg1="lt1" tx1="dk1" bg2="lt2" tx2="dk2" accent1="accent1" accent2="accent2" accent3="accent3" accent4="accent4" accent5="accent5" accent6="accent6" hlink="hlink" folHlink="folHlink"/>
  <p:sldLayoutIdLst>
    <p:sldLayoutId id="2147483744" r:id="rId1"/>
    <p:sldLayoutId id="2147483745" r:id="rId2"/>
    <p:sldLayoutId id="2147483746" r:id="rId3"/>
    <p:sldLayoutId id="2147483747" r:id="rId4"/>
    <p:sldLayoutId id="2147483748" r:id="rId5"/>
    <p:sldLayoutId id="2147483749" r:id="rId6"/>
    <p:sldLayoutId id="2147483750" r:id="rId7"/>
    <p:sldLayoutId id="2147483751" r:id="rId8"/>
    <p:sldLayoutId id="2147483752" r:id="rId9"/>
    <p:sldLayoutId id="2147483753" r:id="rId10"/>
    <p:sldLayoutId id="2147483754" r:id="rId11"/>
    <p:sldLayoutId id="2147483755"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40.xml"/><Relationship Id="rId1" Type="http://schemas.openxmlformats.org/officeDocument/2006/relationships/themeOverride" Target="../theme/themeOverrid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3.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3.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3.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3.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3.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3.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3.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3.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3.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3.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3.xml"/></Relationships>
</file>

<file path=ppt/slides/_rels/slide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53.xml"/></Relationships>
</file>

<file path=ppt/slides/_rels/slide2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3.xml"/></Relationships>
</file>

<file path=ppt/slides/_rels/slide2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3.xml"/></Relationships>
</file>

<file path=ppt/slides/_rels/slide3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53.xml"/></Relationships>
</file>

<file path=ppt/slides/_rels/slide3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53.xml"/></Relationships>
</file>

<file path=ppt/slides/_rels/slide3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53.xml"/></Relationships>
</file>

<file path=ppt/slides/_rels/slide3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53.xml"/></Relationships>
</file>

<file path=ppt/slides/_rels/slide3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53.xml"/></Relationships>
</file>

<file path=ppt/slides/_rels/slide3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53.xml"/></Relationships>
</file>

<file path=ppt/slides/_rels/slide3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53.xml"/></Relationships>
</file>

<file path=ppt/slides/_rels/slide3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53.xml"/></Relationships>
</file>

<file path=ppt/slides/_rels/slide3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5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42.xml"/></Relationships>
</file>

<file path=ppt/slides/_rels/slide61.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4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6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jpg"/><Relationship Id="rId1" Type="http://schemas.openxmlformats.org/officeDocument/2006/relationships/slideLayout" Target="../slideLayouts/slideLayout22.xml"/><Relationship Id="rId4" Type="http://schemas.openxmlformats.org/officeDocument/2006/relationships/image" Target="../media/image33.png"/></Relationships>
</file>

<file path=ppt/slides/_rels/slide64.xml.rels><?xml version="1.0" encoding="UTF-8" standalone="yes"?>
<Relationships xmlns="http://schemas.openxmlformats.org/package/2006/relationships"><Relationship Id="rId2" Type="http://schemas.openxmlformats.org/officeDocument/2006/relationships/image" Target="../media/image34.jpg"/><Relationship Id="rId1" Type="http://schemas.openxmlformats.org/officeDocument/2006/relationships/slideLayout" Target="../slideLayouts/slideLayout2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67.xml.rels><?xml version="1.0" encoding="UTF-8" standalone="yes"?>
<Relationships xmlns="http://schemas.openxmlformats.org/package/2006/relationships"><Relationship Id="rId2" Type="http://schemas.openxmlformats.org/officeDocument/2006/relationships/hyperlink" Target="http://www.facebook.com/ialwaysthink" TargetMode="External"/><Relationship Id="rId1" Type="http://schemas.openxmlformats.org/officeDocument/2006/relationships/slideLayout" Target="../slideLayouts/slideLayout42.xml"/></Relationships>
</file>

<file path=ppt/slides/_rels/slide68.xml.rels><?xml version="1.0" encoding="UTF-8" standalone="yes"?>
<Relationships xmlns="http://schemas.openxmlformats.org/package/2006/relationships"><Relationship Id="rId2" Type="http://schemas.openxmlformats.org/officeDocument/2006/relationships/hyperlink" Target="http://www.facebook.com/ialwaysthink" TargetMode="External"/><Relationship Id="rId1" Type="http://schemas.openxmlformats.org/officeDocument/2006/relationships/slideLayout" Target="../slideLayouts/slideLayout4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D4B9B1-EFA0-1FE2-2C1C-1223D4DC35BF}"/>
              </a:ext>
            </a:extLst>
          </p:cNvPr>
          <p:cNvSpPr>
            <a:spLocks noGrp="1"/>
          </p:cNvSpPr>
          <p:nvPr>
            <p:ph type="ctrTitle"/>
          </p:nvPr>
        </p:nvSpPr>
        <p:spPr/>
        <p:txBody>
          <a:bodyPr>
            <a:normAutofit fontScale="90000"/>
          </a:bodyPr>
          <a:lstStyle/>
          <a:p>
            <a:r>
              <a:rPr lang="en-IN" sz="8800" b="1" dirty="0"/>
              <a:t>Basic Managerial Skills </a:t>
            </a:r>
          </a:p>
        </p:txBody>
      </p:sp>
      <p:sp>
        <p:nvSpPr>
          <p:cNvPr id="3" name="Subtitle 2">
            <a:extLst>
              <a:ext uri="{FF2B5EF4-FFF2-40B4-BE49-F238E27FC236}">
                <a16:creationId xmlns:a16="http://schemas.microsoft.com/office/drawing/2014/main" id="{F6AF337B-4646-1491-033C-49479F6C90BA}"/>
              </a:ext>
            </a:extLst>
          </p:cNvPr>
          <p:cNvSpPr>
            <a:spLocks noGrp="1"/>
          </p:cNvSpPr>
          <p:nvPr>
            <p:ph type="subTitle" idx="1"/>
          </p:nvPr>
        </p:nvSpPr>
        <p:spPr/>
        <p:txBody>
          <a:bodyPr/>
          <a:lstStyle/>
          <a:p>
            <a:endParaRPr lang="en-IN" dirty="0"/>
          </a:p>
        </p:txBody>
      </p:sp>
    </p:spTree>
    <p:extLst>
      <p:ext uri="{BB962C8B-B14F-4D97-AF65-F5344CB8AC3E}">
        <p14:creationId xmlns:p14="http://schemas.microsoft.com/office/powerpoint/2010/main" val="32005142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5F58AC-7829-63E7-AB9D-3388443C0FE7}"/>
              </a:ext>
            </a:extLst>
          </p:cNvPr>
          <p:cNvSpPr>
            <a:spLocks noGrp="1"/>
          </p:cNvSpPr>
          <p:nvPr>
            <p:ph type="title"/>
          </p:nvPr>
        </p:nvSpPr>
        <p:spPr/>
        <p:txBody>
          <a:bodyPr/>
          <a:lstStyle/>
          <a:p>
            <a:r>
              <a:rPr lang="en-US" b="1" dirty="0"/>
              <a:t>1. Introduction</a:t>
            </a:r>
            <a:endParaRPr lang="en-IN" dirty="0"/>
          </a:p>
        </p:txBody>
      </p:sp>
      <p:sp>
        <p:nvSpPr>
          <p:cNvPr id="3" name="Content Placeholder 2">
            <a:extLst>
              <a:ext uri="{FF2B5EF4-FFF2-40B4-BE49-F238E27FC236}">
                <a16:creationId xmlns:a16="http://schemas.microsoft.com/office/drawing/2014/main" id="{07BAB540-D092-1D93-1248-5ADD100D6567}"/>
              </a:ext>
            </a:extLst>
          </p:cNvPr>
          <p:cNvSpPr>
            <a:spLocks noGrp="1"/>
          </p:cNvSpPr>
          <p:nvPr>
            <p:ph idx="1"/>
          </p:nvPr>
        </p:nvSpPr>
        <p:spPr/>
        <p:txBody>
          <a:bodyPr/>
          <a:lstStyle/>
          <a:p>
            <a:pPr algn="just">
              <a:buNone/>
            </a:pPr>
            <a:r>
              <a:rPr lang="en-US" dirty="0"/>
              <a:t>   </a:t>
            </a:r>
            <a:r>
              <a:rPr lang="en-US" sz="3600" dirty="0"/>
              <a:t>Managerial skills are the abilities that managers use to plan, organize, lead, and control resources effectively to achieve organizational goals. They help managers handle challenges, make decisions, and guide their teams.</a:t>
            </a:r>
          </a:p>
          <a:p>
            <a:endParaRPr lang="en-IN" dirty="0"/>
          </a:p>
        </p:txBody>
      </p:sp>
    </p:spTree>
    <p:extLst>
      <p:ext uri="{BB962C8B-B14F-4D97-AF65-F5344CB8AC3E}">
        <p14:creationId xmlns:p14="http://schemas.microsoft.com/office/powerpoint/2010/main" val="24525453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FF8A01-C8BD-834D-5319-76BCEB46A3F1}"/>
              </a:ext>
            </a:extLst>
          </p:cNvPr>
          <p:cNvSpPr>
            <a:spLocks noGrp="1"/>
          </p:cNvSpPr>
          <p:nvPr>
            <p:ph type="title"/>
          </p:nvPr>
        </p:nvSpPr>
        <p:spPr/>
        <p:txBody>
          <a:bodyPr/>
          <a:lstStyle/>
          <a:p>
            <a:r>
              <a:rPr lang="en-US" dirty="0"/>
              <a:t>2. </a:t>
            </a:r>
            <a:r>
              <a:rPr lang="en-US" b="1" dirty="0"/>
              <a:t>Types of Basic Managerial Skills</a:t>
            </a:r>
            <a:endParaRPr lang="en-IN" dirty="0"/>
          </a:p>
        </p:txBody>
      </p:sp>
      <p:sp>
        <p:nvSpPr>
          <p:cNvPr id="3" name="Content Placeholder 2">
            <a:extLst>
              <a:ext uri="{FF2B5EF4-FFF2-40B4-BE49-F238E27FC236}">
                <a16:creationId xmlns:a16="http://schemas.microsoft.com/office/drawing/2014/main" id="{09C7ABB5-6B1B-FC4E-F31D-E019E5205014}"/>
              </a:ext>
            </a:extLst>
          </p:cNvPr>
          <p:cNvSpPr>
            <a:spLocks noGrp="1"/>
          </p:cNvSpPr>
          <p:nvPr>
            <p:ph idx="1"/>
          </p:nvPr>
        </p:nvSpPr>
        <p:spPr>
          <a:xfrm>
            <a:off x="261257" y="2015732"/>
            <a:ext cx="11930743" cy="4037749"/>
          </a:xfrm>
        </p:spPr>
        <p:txBody>
          <a:bodyPr>
            <a:normAutofit/>
          </a:bodyPr>
          <a:lstStyle/>
          <a:p>
            <a:pPr>
              <a:buNone/>
            </a:pPr>
            <a:r>
              <a:rPr lang="en-US" b="1" dirty="0"/>
              <a:t>2. Types of Basic Managerial Skills</a:t>
            </a:r>
          </a:p>
          <a:p>
            <a:pPr>
              <a:buNone/>
            </a:pPr>
            <a:r>
              <a:rPr lang="en-US" b="1" dirty="0"/>
              <a:t>A. Technical Skills</a:t>
            </a:r>
          </a:p>
          <a:p>
            <a:pPr>
              <a:buFont typeface="Arial" panose="020B0604020202020204" pitchFamily="34" charset="0"/>
              <a:buChar char="•"/>
            </a:pPr>
            <a:r>
              <a:rPr lang="en-US" b="1" dirty="0"/>
              <a:t>Definition:</a:t>
            </a:r>
            <a:r>
              <a:rPr lang="en-US" dirty="0"/>
              <a:t> Ability to use specific knowledge, tools, techniques, and procedures related to a particular job or field.</a:t>
            </a:r>
          </a:p>
          <a:p>
            <a:pPr>
              <a:buFont typeface="Arial" panose="020B0604020202020204" pitchFamily="34" charset="0"/>
              <a:buChar char="•"/>
            </a:pPr>
            <a:r>
              <a:rPr lang="en-US" b="1" dirty="0"/>
              <a:t>Example:</a:t>
            </a:r>
            <a:endParaRPr lang="en-US" dirty="0"/>
          </a:p>
          <a:p>
            <a:pPr marL="742950" lvl="1" indent="-285750">
              <a:buFont typeface="Arial" panose="020B0604020202020204" pitchFamily="34" charset="0"/>
              <a:buChar char="•"/>
            </a:pPr>
            <a:r>
              <a:rPr lang="en-US" dirty="0"/>
              <a:t>A finance manager using Excel for budgeting.</a:t>
            </a:r>
          </a:p>
          <a:p>
            <a:pPr marL="742950" lvl="1" indent="-285750">
              <a:buFont typeface="Arial" panose="020B0604020202020204" pitchFamily="34" charset="0"/>
              <a:buChar char="•"/>
            </a:pPr>
            <a:r>
              <a:rPr lang="en-US" dirty="0"/>
              <a:t>A production manager operating machinery or understanding manufacturing processes.</a:t>
            </a:r>
          </a:p>
          <a:p>
            <a:pPr>
              <a:buFont typeface="Arial" panose="020B0604020202020204" pitchFamily="34" charset="0"/>
              <a:buChar char="•"/>
            </a:pPr>
            <a:r>
              <a:rPr lang="en-US" b="1" dirty="0"/>
              <a:t>Why important:</a:t>
            </a:r>
            <a:r>
              <a:rPr lang="en-US" dirty="0"/>
              <a:t> Ensures tasks are performed efficiently and problems are solved with the right technical knowledge.</a:t>
            </a:r>
          </a:p>
          <a:p>
            <a:endParaRPr lang="en-IN" dirty="0"/>
          </a:p>
        </p:txBody>
      </p:sp>
    </p:spTree>
    <p:extLst>
      <p:ext uri="{BB962C8B-B14F-4D97-AF65-F5344CB8AC3E}">
        <p14:creationId xmlns:p14="http://schemas.microsoft.com/office/powerpoint/2010/main" val="2429367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4644A2-F50A-D2F5-D5DA-0FA587F5EFBF}"/>
              </a:ext>
            </a:extLst>
          </p:cNvPr>
          <p:cNvSpPr>
            <a:spLocks noGrp="1"/>
          </p:cNvSpPr>
          <p:nvPr>
            <p:ph type="title"/>
          </p:nvPr>
        </p:nvSpPr>
        <p:spPr>
          <a:xfrm>
            <a:off x="1137146" y="644392"/>
            <a:ext cx="10319657" cy="1494525"/>
          </a:xfrm>
        </p:spPr>
        <p:txBody>
          <a:bodyPr>
            <a:normAutofit/>
          </a:bodyPr>
          <a:lstStyle/>
          <a:p>
            <a:r>
              <a:rPr lang="en-US" b="1" dirty="0"/>
              <a:t>What do you want to become?</a:t>
            </a:r>
            <a:br>
              <a:rPr lang="en-US" dirty="0"/>
            </a:br>
            <a:endParaRPr lang="en-IN" dirty="0"/>
          </a:p>
        </p:txBody>
      </p:sp>
      <p:sp>
        <p:nvSpPr>
          <p:cNvPr id="3" name="Content Placeholder 2">
            <a:extLst>
              <a:ext uri="{FF2B5EF4-FFF2-40B4-BE49-F238E27FC236}">
                <a16:creationId xmlns:a16="http://schemas.microsoft.com/office/drawing/2014/main" id="{1BFD01D8-B366-EF25-DABD-485F053E0CFD}"/>
              </a:ext>
            </a:extLst>
          </p:cNvPr>
          <p:cNvSpPr>
            <a:spLocks noGrp="1"/>
          </p:cNvSpPr>
          <p:nvPr>
            <p:ph idx="1"/>
          </p:nvPr>
        </p:nvSpPr>
        <p:spPr/>
        <p:txBody>
          <a:bodyPr/>
          <a:lstStyle/>
          <a:p>
            <a:endParaRPr lang="en-IN" dirty="0"/>
          </a:p>
        </p:txBody>
      </p:sp>
      <p:sp>
        <p:nvSpPr>
          <p:cNvPr id="4" name="Title 1">
            <a:extLst>
              <a:ext uri="{FF2B5EF4-FFF2-40B4-BE49-F238E27FC236}">
                <a16:creationId xmlns:a16="http://schemas.microsoft.com/office/drawing/2014/main" id="{B424CC46-4233-B020-0507-66AA6261E57F}"/>
              </a:ext>
            </a:extLst>
          </p:cNvPr>
          <p:cNvSpPr txBox="1">
            <a:spLocks/>
          </p:cNvSpPr>
          <p:nvPr/>
        </p:nvSpPr>
        <p:spPr>
          <a:xfrm>
            <a:off x="1137146" y="2246513"/>
            <a:ext cx="10319657" cy="1494525"/>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a:lstStyle>
          <a:p>
            <a:r>
              <a:rPr lang="en-US" b="1" dirty="0"/>
              <a:t>Activity:</a:t>
            </a:r>
            <a:r>
              <a:rPr lang="en-US" dirty="0"/>
              <a:t> list the technical skills required for your dream job.</a:t>
            </a:r>
            <a:br>
              <a:rPr lang="en-US" dirty="0"/>
            </a:br>
            <a:endParaRPr lang="en-IN" dirty="0"/>
          </a:p>
        </p:txBody>
      </p:sp>
    </p:spTree>
    <p:extLst>
      <p:ext uri="{BB962C8B-B14F-4D97-AF65-F5344CB8AC3E}">
        <p14:creationId xmlns:p14="http://schemas.microsoft.com/office/powerpoint/2010/main" val="3808160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71E1957-22EB-9B65-A52F-50C9BF8A1C0B}"/>
              </a:ext>
            </a:extLst>
          </p:cNvPr>
          <p:cNvSpPr>
            <a:spLocks noGrp="1"/>
          </p:cNvSpPr>
          <p:nvPr>
            <p:ph idx="1"/>
          </p:nvPr>
        </p:nvSpPr>
        <p:spPr>
          <a:xfrm>
            <a:off x="174172" y="0"/>
            <a:ext cx="11544299" cy="6553201"/>
          </a:xfrm>
        </p:spPr>
        <p:txBody>
          <a:bodyPr>
            <a:normAutofit fontScale="92500" lnSpcReduction="10000"/>
          </a:bodyPr>
          <a:lstStyle/>
          <a:p>
            <a:pPr>
              <a:buNone/>
            </a:pPr>
            <a:r>
              <a:rPr lang="en-IN" b="1" dirty="0"/>
              <a:t>Technical Skills for BCA Students (Computer Applications Focus)</a:t>
            </a:r>
          </a:p>
          <a:p>
            <a:pPr>
              <a:buFont typeface="+mj-lt"/>
              <a:buAutoNum type="arabicPeriod"/>
            </a:pPr>
            <a:r>
              <a:rPr lang="en-IN" sz="2600" b="1" dirty="0"/>
              <a:t>Programming Languages</a:t>
            </a:r>
            <a:r>
              <a:rPr lang="en-IN" sz="2600" dirty="0"/>
              <a:t> – C, C++, Java, Python, JavaScript</a:t>
            </a:r>
          </a:p>
          <a:p>
            <a:pPr>
              <a:buFont typeface="+mj-lt"/>
              <a:buAutoNum type="arabicPeriod"/>
            </a:pPr>
            <a:r>
              <a:rPr lang="en-IN" sz="2600" b="1" dirty="0"/>
              <a:t>Web Development</a:t>
            </a:r>
            <a:r>
              <a:rPr lang="en-IN" sz="2600" dirty="0"/>
              <a:t> – HTML, CSS, PHP, React, or Angular</a:t>
            </a:r>
          </a:p>
          <a:p>
            <a:pPr>
              <a:buFont typeface="+mj-lt"/>
              <a:buAutoNum type="arabicPeriod"/>
            </a:pPr>
            <a:r>
              <a:rPr lang="en-IN" sz="2600" b="1" dirty="0"/>
              <a:t>Database Management</a:t>
            </a:r>
            <a:r>
              <a:rPr lang="en-IN" sz="2600" dirty="0"/>
              <a:t> – MySQL, MongoDB, Oracle</a:t>
            </a:r>
          </a:p>
          <a:p>
            <a:pPr>
              <a:buFont typeface="+mj-lt"/>
              <a:buAutoNum type="arabicPeriod"/>
            </a:pPr>
            <a:r>
              <a:rPr lang="en-IN" sz="2600" b="1" dirty="0"/>
              <a:t>Software Development Tools</a:t>
            </a:r>
            <a:r>
              <a:rPr lang="en-IN" sz="2600" dirty="0"/>
              <a:t> – Git/GitHub, Visual Studio Code, Eclipse</a:t>
            </a:r>
          </a:p>
          <a:p>
            <a:pPr>
              <a:buFont typeface="+mj-lt"/>
              <a:buAutoNum type="arabicPeriod"/>
            </a:pPr>
            <a:r>
              <a:rPr lang="en-IN" sz="2600" b="1" dirty="0"/>
              <a:t>Cloud Computing Basics</a:t>
            </a:r>
            <a:r>
              <a:rPr lang="en-IN" sz="2600" dirty="0"/>
              <a:t> – AWS, Azure, Google Cloud fundamentals</a:t>
            </a:r>
          </a:p>
          <a:p>
            <a:pPr>
              <a:buFont typeface="+mj-lt"/>
              <a:buAutoNum type="arabicPeriod"/>
            </a:pPr>
            <a:r>
              <a:rPr lang="en-IN" sz="2600" b="1" dirty="0"/>
              <a:t>Data Structures &amp; Algorithms</a:t>
            </a:r>
            <a:r>
              <a:rPr lang="en-IN" sz="2600" dirty="0"/>
              <a:t> – Understanding and applying efficient solutions</a:t>
            </a:r>
          </a:p>
          <a:p>
            <a:pPr>
              <a:buFont typeface="+mj-lt"/>
              <a:buAutoNum type="arabicPeriod"/>
            </a:pPr>
            <a:r>
              <a:rPr lang="en-IN" sz="2600" b="1" dirty="0"/>
              <a:t>Cybersecurity Basics</a:t>
            </a:r>
            <a:r>
              <a:rPr lang="en-IN" sz="2600" dirty="0"/>
              <a:t> – Network security, encryption, ethical hacking basics</a:t>
            </a:r>
          </a:p>
          <a:p>
            <a:pPr>
              <a:buFont typeface="+mj-lt"/>
              <a:buAutoNum type="arabicPeriod"/>
            </a:pPr>
            <a:r>
              <a:rPr lang="en-IN" sz="2600" b="1" dirty="0"/>
              <a:t>Mobile App Development</a:t>
            </a:r>
            <a:r>
              <a:rPr lang="en-IN" sz="2600" dirty="0"/>
              <a:t> – Android (Java/Kotlin), iOS (Swift) basics</a:t>
            </a:r>
          </a:p>
          <a:p>
            <a:pPr>
              <a:buFont typeface="+mj-lt"/>
              <a:buAutoNum type="arabicPeriod"/>
            </a:pPr>
            <a:r>
              <a:rPr lang="en-IN" sz="2600" b="1" dirty="0"/>
              <a:t>Data Analytics Tools</a:t>
            </a:r>
            <a:r>
              <a:rPr lang="en-IN" sz="2600" dirty="0"/>
              <a:t> – Excel, Power BI, Tableau (for visualization)</a:t>
            </a:r>
          </a:p>
          <a:p>
            <a:pPr>
              <a:buFont typeface="+mj-lt"/>
              <a:buAutoNum type="arabicPeriod"/>
            </a:pPr>
            <a:r>
              <a:rPr lang="en-IN" sz="2600" b="1" dirty="0"/>
              <a:t>Networking Fundamentals</a:t>
            </a:r>
            <a:r>
              <a:rPr lang="en-IN" sz="2600" dirty="0"/>
              <a:t> – TCP/IP, LAN/WAN, routers, and switches</a:t>
            </a:r>
          </a:p>
          <a:p>
            <a:endParaRPr lang="en-IN" dirty="0"/>
          </a:p>
        </p:txBody>
      </p:sp>
    </p:spTree>
    <p:extLst>
      <p:ext uri="{BB962C8B-B14F-4D97-AF65-F5344CB8AC3E}">
        <p14:creationId xmlns:p14="http://schemas.microsoft.com/office/powerpoint/2010/main" val="20975560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AEC0CD-6A69-3297-8760-89CEABEF1F4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9BEE559-6EE8-2A4E-BE47-90BFA47EEDDC}"/>
              </a:ext>
            </a:extLst>
          </p:cNvPr>
          <p:cNvSpPr>
            <a:spLocks noGrp="1"/>
          </p:cNvSpPr>
          <p:nvPr>
            <p:ph idx="1"/>
          </p:nvPr>
        </p:nvSpPr>
        <p:spPr>
          <a:xfrm>
            <a:off x="185057" y="446314"/>
            <a:ext cx="11811000" cy="6172199"/>
          </a:xfrm>
        </p:spPr>
        <p:txBody>
          <a:bodyPr>
            <a:normAutofit fontScale="62500" lnSpcReduction="20000"/>
          </a:bodyPr>
          <a:lstStyle/>
          <a:p>
            <a:pPr>
              <a:buNone/>
            </a:pPr>
            <a:r>
              <a:rPr lang="en-IN" sz="3700" b="1" dirty="0"/>
              <a:t>Technical Skills for BBA Students (Business &amp; Management Focus)</a:t>
            </a:r>
          </a:p>
          <a:p>
            <a:pPr>
              <a:buFont typeface="+mj-lt"/>
              <a:buAutoNum type="arabicPeriod"/>
            </a:pPr>
            <a:r>
              <a:rPr lang="en-IN" sz="3700" b="1" dirty="0"/>
              <a:t>MS Office Suite</a:t>
            </a:r>
            <a:r>
              <a:rPr lang="en-IN" sz="3700" dirty="0"/>
              <a:t> – Excel (formulas, pivot tables, charts), Word, PowerPoint</a:t>
            </a:r>
          </a:p>
          <a:p>
            <a:pPr>
              <a:buFont typeface="+mj-lt"/>
              <a:buAutoNum type="arabicPeriod"/>
            </a:pPr>
            <a:r>
              <a:rPr lang="en-IN" sz="3700" b="1" dirty="0"/>
              <a:t>Business Analytics Tools</a:t>
            </a:r>
            <a:r>
              <a:rPr lang="en-IN" sz="3700" dirty="0"/>
              <a:t> – Power BI, Tableau, Google Analytics basics, Python</a:t>
            </a:r>
          </a:p>
          <a:p>
            <a:pPr>
              <a:buFont typeface="+mj-lt"/>
              <a:buAutoNum type="arabicPeriod"/>
            </a:pPr>
            <a:r>
              <a:rPr lang="en-IN" sz="3700" b="1" dirty="0"/>
              <a:t>Financial Tools</a:t>
            </a:r>
            <a:r>
              <a:rPr lang="en-IN" sz="3700" dirty="0"/>
              <a:t> – Tally ERP, QuickBooks, Zoho Books basics</a:t>
            </a:r>
          </a:p>
          <a:p>
            <a:pPr>
              <a:buFont typeface="+mj-lt"/>
              <a:buAutoNum type="arabicPeriod"/>
            </a:pPr>
            <a:r>
              <a:rPr lang="en-IN" sz="3700" b="1" dirty="0"/>
              <a:t>Digital Marketing Tools</a:t>
            </a:r>
            <a:r>
              <a:rPr lang="en-IN" sz="3700" dirty="0"/>
              <a:t> – SEO, Google Ads, Meta Ads Manager</a:t>
            </a:r>
          </a:p>
          <a:p>
            <a:pPr>
              <a:buFont typeface="+mj-lt"/>
              <a:buAutoNum type="arabicPeriod"/>
            </a:pPr>
            <a:r>
              <a:rPr lang="en-IN" sz="3700" b="1" dirty="0"/>
              <a:t>CRM Software</a:t>
            </a:r>
            <a:r>
              <a:rPr lang="en-IN" sz="3700" dirty="0"/>
              <a:t> – Salesforce, HubSpot basics</a:t>
            </a:r>
          </a:p>
          <a:p>
            <a:pPr>
              <a:buFont typeface="+mj-lt"/>
              <a:buAutoNum type="arabicPeriod"/>
            </a:pPr>
            <a:r>
              <a:rPr lang="en-IN" sz="3700" b="1" dirty="0"/>
              <a:t>Project Management Tools</a:t>
            </a:r>
            <a:r>
              <a:rPr lang="en-IN" sz="3700" dirty="0"/>
              <a:t> – Trello, Asana, MS Project</a:t>
            </a:r>
          </a:p>
          <a:p>
            <a:pPr>
              <a:buFont typeface="+mj-lt"/>
              <a:buAutoNum type="arabicPeriod"/>
            </a:pPr>
            <a:r>
              <a:rPr lang="en-IN" sz="3700" b="1" dirty="0"/>
              <a:t>Data Interpretation</a:t>
            </a:r>
            <a:r>
              <a:rPr lang="en-IN" sz="3700" dirty="0"/>
              <a:t> – Reading and interpreting graphs, charts, and reports</a:t>
            </a:r>
          </a:p>
          <a:p>
            <a:pPr>
              <a:buFont typeface="+mj-lt"/>
              <a:buAutoNum type="arabicPeriod"/>
            </a:pPr>
            <a:r>
              <a:rPr lang="en-IN" sz="3700" b="1" dirty="0"/>
              <a:t>Market Research Tools</a:t>
            </a:r>
            <a:r>
              <a:rPr lang="en-IN" sz="3700" dirty="0"/>
              <a:t> – SurveyMonkey, Google Forms, SPSS basics</a:t>
            </a:r>
          </a:p>
          <a:p>
            <a:pPr>
              <a:buFont typeface="+mj-lt"/>
              <a:buAutoNum type="arabicPeriod"/>
            </a:pPr>
            <a:r>
              <a:rPr lang="en-IN" sz="3700" b="1" dirty="0"/>
              <a:t>Presentation Skills</a:t>
            </a:r>
            <a:r>
              <a:rPr lang="en-IN" sz="3700" dirty="0"/>
              <a:t> – Designing professional slides with Canva or PPT</a:t>
            </a:r>
          </a:p>
          <a:p>
            <a:pPr>
              <a:buFont typeface="+mj-lt"/>
              <a:buAutoNum type="arabicPeriod"/>
            </a:pPr>
            <a:r>
              <a:rPr lang="en-IN" sz="3700" b="1" dirty="0"/>
              <a:t>E-Commerce Platforms</a:t>
            </a:r>
            <a:r>
              <a:rPr lang="en-IN" sz="3700" dirty="0"/>
              <a:t> – Shopify, WooCommerce basic</a:t>
            </a:r>
          </a:p>
          <a:p>
            <a:endParaRPr lang="en-IN" dirty="0"/>
          </a:p>
        </p:txBody>
      </p:sp>
    </p:spTree>
    <p:extLst>
      <p:ext uri="{BB962C8B-B14F-4D97-AF65-F5344CB8AC3E}">
        <p14:creationId xmlns:p14="http://schemas.microsoft.com/office/powerpoint/2010/main" val="1685607373"/>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DE1FEA-E6F4-2490-08DB-1CF35E7BEDE8}"/>
              </a:ext>
            </a:extLst>
          </p:cNvPr>
          <p:cNvSpPr>
            <a:spLocks noGrp="1"/>
          </p:cNvSpPr>
          <p:nvPr>
            <p:ph type="title"/>
          </p:nvPr>
        </p:nvSpPr>
        <p:spPr>
          <a:xfrm>
            <a:off x="1328058" y="867037"/>
            <a:ext cx="10238425" cy="1049235"/>
          </a:xfrm>
        </p:spPr>
        <p:txBody>
          <a:bodyPr/>
          <a:lstStyle/>
          <a:p>
            <a:r>
              <a:rPr lang="en-US" b="1" dirty="0"/>
              <a:t>B. Human (Interpersonal) Skills</a:t>
            </a:r>
            <a:br>
              <a:rPr lang="en-US" b="1" dirty="0"/>
            </a:br>
            <a:endParaRPr lang="en-IN" dirty="0"/>
          </a:p>
        </p:txBody>
      </p:sp>
      <p:sp>
        <p:nvSpPr>
          <p:cNvPr id="3" name="Content Placeholder 2">
            <a:extLst>
              <a:ext uri="{FF2B5EF4-FFF2-40B4-BE49-F238E27FC236}">
                <a16:creationId xmlns:a16="http://schemas.microsoft.com/office/drawing/2014/main" id="{86CDE722-F83F-7555-5C04-2CC7D301CFDA}"/>
              </a:ext>
            </a:extLst>
          </p:cNvPr>
          <p:cNvSpPr>
            <a:spLocks noGrp="1"/>
          </p:cNvSpPr>
          <p:nvPr>
            <p:ph idx="1"/>
          </p:nvPr>
        </p:nvSpPr>
        <p:spPr>
          <a:xfrm>
            <a:off x="696687" y="2015732"/>
            <a:ext cx="11146970" cy="3975231"/>
          </a:xfrm>
        </p:spPr>
        <p:txBody>
          <a:bodyPr>
            <a:normAutofit/>
          </a:bodyPr>
          <a:lstStyle/>
          <a:p>
            <a:pPr>
              <a:buFont typeface="Arial" panose="020B0604020202020204" pitchFamily="34" charset="0"/>
              <a:buChar char="•"/>
            </a:pPr>
            <a:r>
              <a:rPr lang="en-US" sz="2600" b="1" dirty="0"/>
              <a:t>Definition:</a:t>
            </a:r>
            <a:r>
              <a:rPr lang="en-US" sz="2600" dirty="0"/>
              <a:t> Ability to work with, understand, and motivate individuals or groups.</a:t>
            </a:r>
          </a:p>
          <a:p>
            <a:pPr>
              <a:buFont typeface="Arial" panose="020B0604020202020204" pitchFamily="34" charset="0"/>
              <a:buChar char="•"/>
            </a:pPr>
            <a:r>
              <a:rPr lang="en-US" sz="2600" b="1" dirty="0"/>
              <a:t>Example:</a:t>
            </a:r>
            <a:endParaRPr lang="en-US" sz="2600" dirty="0"/>
          </a:p>
          <a:p>
            <a:pPr marL="742950" lvl="1" indent="-285750">
              <a:buFont typeface="Arial" panose="020B0604020202020204" pitchFamily="34" charset="0"/>
              <a:buChar char="•"/>
            </a:pPr>
            <a:r>
              <a:rPr lang="en-US" sz="2200" dirty="0"/>
              <a:t>A sales manager motivating the team to achieve targets.</a:t>
            </a:r>
          </a:p>
          <a:p>
            <a:pPr marL="742950" lvl="1" indent="-285750">
              <a:buFont typeface="Arial" panose="020B0604020202020204" pitchFamily="34" charset="0"/>
              <a:buChar char="•"/>
            </a:pPr>
            <a:r>
              <a:rPr lang="en-US" sz="2200" dirty="0"/>
              <a:t>Handling conflicts between two employees.</a:t>
            </a:r>
          </a:p>
          <a:p>
            <a:pPr>
              <a:buFont typeface="Arial" panose="020B0604020202020204" pitchFamily="34" charset="0"/>
              <a:buChar char="•"/>
            </a:pPr>
            <a:r>
              <a:rPr lang="en-US" sz="2600" b="1" dirty="0"/>
              <a:t>Why important:</a:t>
            </a:r>
            <a:r>
              <a:rPr lang="en-US" sz="2600" dirty="0"/>
              <a:t> Creates a healthy work environment and increases team productivity.</a:t>
            </a:r>
          </a:p>
          <a:p>
            <a:endParaRPr lang="en-IN" dirty="0"/>
          </a:p>
        </p:txBody>
      </p:sp>
    </p:spTree>
    <p:extLst>
      <p:ext uri="{BB962C8B-B14F-4D97-AF65-F5344CB8AC3E}">
        <p14:creationId xmlns:p14="http://schemas.microsoft.com/office/powerpoint/2010/main" val="11743512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D0D50-EC25-8AB5-9AFB-771048154D73}"/>
              </a:ext>
            </a:extLst>
          </p:cNvPr>
          <p:cNvSpPr>
            <a:spLocks noGrp="1"/>
          </p:cNvSpPr>
          <p:nvPr>
            <p:ph type="title"/>
          </p:nvPr>
        </p:nvSpPr>
        <p:spPr/>
        <p:txBody>
          <a:bodyPr>
            <a:normAutofit fontScale="90000"/>
          </a:bodyPr>
          <a:lstStyle/>
          <a:p>
            <a:r>
              <a:rPr lang="en-US" b="1" cap="none" dirty="0">
                <a:solidFill>
                  <a:prstClr val="black"/>
                </a:solidFill>
              </a:rPr>
              <a:t>Activity:</a:t>
            </a:r>
            <a:r>
              <a:rPr lang="en-US" cap="none" dirty="0">
                <a:solidFill>
                  <a:prstClr val="black"/>
                </a:solidFill>
              </a:rPr>
              <a:t> Role-play: One student acts as a manager resolving a disagreement between two employees.</a:t>
            </a:r>
            <a:br>
              <a:rPr lang="en-US" cap="none" dirty="0">
                <a:solidFill>
                  <a:prstClr val="black"/>
                </a:solidFill>
              </a:rPr>
            </a:br>
            <a:endParaRPr lang="en-IN" dirty="0"/>
          </a:p>
        </p:txBody>
      </p:sp>
      <p:sp>
        <p:nvSpPr>
          <p:cNvPr id="3" name="Content Placeholder 2">
            <a:extLst>
              <a:ext uri="{FF2B5EF4-FFF2-40B4-BE49-F238E27FC236}">
                <a16:creationId xmlns:a16="http://schemas.microsoft.com/office/drawing/2014/main" id="{DA99A96F-DA9D-8FB2-4DEB-0517151A9913}"/>
              </a:ext>
            </a:extLst>
          </p:cNvPr>
          <p:cNvSpPr>
            <a:spLocks noGrp="1"/>
          </p:cNvSpPr>
          <p:nvPr>
            <p:ph idx="1"/>
          </p:nvPr>
        </p:nvSpPr>
        <p:spPr/>
        <p:txBody>
          <a:bodyPr/>
          <a:lstStyle/>
          <a:p>
            <a:r>
              <a:rPr lang="en-US" dirty="0"/>
              <a:t>Scenario: The Group Project Showdown</a:t>
            </a:r>
          </a:p>
          <a:p>
            <a:pPr>
              <a:buNone/>
            </a:pPr>
            <a:r>
              <a:rPr lang="en-US" dirty="0"/>
              <a:t>A BBA–BCA collaborative group is working on a business plan for a startup idea.</a:t>
            </a:r>
          </a:p>
          <a:p>
            <a:pPr>
              <a:buFont typeface="Arial" panose="020B0604020202020204" pitchFamily="34" charset="0"/>
              <a:buChar char="•"/>
            </a:pPr>
            <a:r>
              <a:rPr lang="en-US" b="1" dirty="0"/>
              <a:t>BBA students</a:t>
            </a:r>
            <a:r>
              <a:rPr lang="en-US" dirty="0"/>
              <a:t> are handling the </a:t>
            </a:r>
            <a:r>
              <a:rPr lang="en-US" b="1" dirty="0"/>
              <a:t>market research, costing, and business model</a:t>
            </a:r>
            <a:r>
              <a:rPr lang="en-US" dirty="0"/>
              <a:t>.</a:t>
            </a:r>
          </a:p>
          <a:p>
            <a:pPr>
              <a:buFont typeface="Arial" panose="020B0604020202020204" pitchFamily="34" charset="0"/>
              <a:buChar char="•"/>
            </a:pPr>
            <a:r>
              <a:rPr lang="en-US" b="1" dirty="0"/>
              <a:t>BCA students</a:t>
            </a:r>
            <a:r>
              <a:rPr lang="en-US" dirty="0"/>
              <a:t> are handling the </a:t>
            </a:r>
            <a:r>
              <a:rPr lang="en-US" b="1" dirty="0"/>
              <a:t>website prototype and app development</a:t>
            </a:r>
            <a:r>
              <a:rPr lang="en-US" dirty="0"/>
              <a:t>.</a:t>
            </a:r>
          </a:p>
          <a:p>
            <a:endParaRPr lang="en-IN" dirty="0"/>
          </a:p>
        </p:txBody>
      </p:sp>
    </p:spTree>
    <p:extLst>
      <p:ext uri="{BB962C8B-B14F-4D97-AF65-F5344CB8AC3E}">
        <p14:creationId xmlns:p14="http://schemas.microsoft.com/office/powerpoint/2010/main" val="6128118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9DF7C1-C363-B058-61C9-9FC70BB8445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9F4B69C-BB98-FE22-B18E-9FF86ACE72C9}"/>
              </a:ext>
            </a:extLst>
          </p:cNvPr>
          <p:cNvSpPr>
            <a:spLocks noGrp="1"/>
          </p:cNvSpPr>
          <p:nvPr>
            <p:ph idx="1"/>
          </p:nvPr>
        </p:nvSpPr>
        <p:spPr/>
        <p:txBody>
          <a:bodyPr>
            <a:normAutofit lnSpcReduction="10000"/>
          </a:bodyPr>
          <a:lstStyle/>
          <a:p>
            <a:pPr>
              <a:buNone/>
            </a:pPr>
            <a:r>
              <a:rPr lang="en-US" sz="2400" b="1" dirty="0"/>
              <a:t>The Disagreement:</a:t>
            </a:r>
            <a:endParaRPr lang="en-US" sz="2400" dirty="0"/>
          </a:p>
          <a:p>
            <a:pPr>
              <a:buFont typeface="Arial" panose="020B0604020202020204" pitchFamily="34" charset="0"/>
              <a:buChar char="•"/>
            </a:pPr>
            <a:r>
              <a:rPr lang="en-US" sz="2400" b="1" dirty="0"/>
              <a:t>(BBA)</a:t>
            </a:r>
            <a:r>
              <a:rPr lang="en-US" sz="2400" dirty="0"/>
              <a:t> says the BCA team is delaying the website design, making it hard to prepare the final business presentation.</a:t>
            </a:r>
          </a:p>
          <a:p>
            <a:pPr>
              <a:buFont typeface="Arial" panose="020B0604020202020204" pitchFamily="34" charset="0"/>
              <a:buChar char="•"/>
            </a:pPr>
            <a:r>
              <a:rPr lang="en-US" sz="2400" b="1" dirty="0"/>
              <a:t>(BCA)</a:t>
            </a:r>
            <a:r>
              <a:rPr lang="en-US" sz="2400" dirty="0"/>
              <a:t> argues that the BBA team keeps changing the business requirements (e.g., target audience, features), which is causing rework and delays in development.</a:t>
            </a:r>
          </a:p>
          <a:p>
            <a:pPr>
              <a:buFont typeface="Arial" panose="020B0604020202020204" pitchFamily="34" charset="0"/>
              <a:buChar char="•"/>
            </a:pPr>
            <a:r>
              <a:rPr lang="en-US" sz="2400" dirty="0"/>
              <a:t>Both sides are frustrated, and the submission deadline is in 3 days.</a:t>
            </a:r>
          </a:p>
          <a:p>
            <a:pPr marL="0" indent="0">
              <a:buNone/>
            </a:pPr>
            <a:endParaRPr lang="en-IN" dirty="0"/>
          </a:p>
        </p:txBody>
      </p:sp>
    </p:spTree>
    <p:extLst>
      <p:ext uri="{BB962C8B-B14F-4D97-AF65-F5344CB8AC3E}">
        <p14:creationId xmlns:p14="http://schemas.microsoft.com/office/powerpoint/2010/main" val="29637605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2FC97-F5E8-094B-2921-6BFF601229C3}"/>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AD0C5066-4386-F7C4-4067-E0F4A471BA55}"/>
              </a:ext>
            </a:extLst>
          </p:cNvPr>
          <p:cNvSpPr>
            <a:spLocks noGrp="1"/>
          </p:cNvSpPr>
          <p:nvPr>
            <p:ph idx="1"/>
          </p:nvPr>
        </p:nvSpPr>
        <p:spPr/>
        <p:txBody>
          <a:bodyPr>
            <a:normAutofit lnSpcReduction="10000"/>
          </a:bodyPr>
          <a:lstStyle/>
          <a:p>
            <a:pPr>
              <a:buNone/>
            </a:pPr>
            <a:r>
              <a:rPr lang="en-US" b="1" dirty="0"/>
              <a:t>Manager’s Role:</a:t>
            </a:r>
            <a:br>
              <a:rPr lang="en-US" dirty="0"/>
            </a:br>
            <a:r>
              <a:rPr lang="en-US" dirty="0"/>
              <a:t>The student acting as the manager should:</a:t>
            </a:r>
          </a:p>
          <a:p>
            <a:pPr>
              <a:buFont typeface="+mj-lt"/>
              <a:buAutoNum type="arabicPeriod"/>
            </a:pPr>
            <a:r>
              <a:rPr lang="en-US" dirty="0"/>
              <a:t>Hear both perspectives without interrupting.</a:t>
            </a:r>
          </a:p>
          <a:p>
            <a:pPr>
              <a:buFont typeface="+mj-lt"/>
              <a:buAutoNum type="arabicPeriod"/>
            </a:pPr>
            <a:r>
              <a:rPr lang="en-US" dirty="0"/>
              <a:t>Identify that the root cause is </a:t>
            </a:r>
            <a:r>
              <a:rPr lang="en-US" b="1" dirty="0"/>
              <a:t>poor coordination and changing requirements</a:t>
            </a:r>
            <a:r>
              <a:rPr lang="en-US" dirty="0"/>
              <a:t>.</a:t>
            </a:r>
          </a:p>
          <a:p>
            <a:pPr>
              <a:buFont typeface="+mj-lt"/>
              <a:buAutoNum type="arabicPeriod"/>
            </a:pPr>
            <a:r>
              <a:rPr lang="en-US" dirty="0"/>
              <a:t>Suggest solutions such as freezing requirements, setting a mini-deadline for partial delivery, and creating a checklist of fixed points.</a:t>
            </a:r>
          </a:p>
          <a:p>
            <a:pPr>
              <a:buFont typeface="+mj-lt"/>
              <a:buAutoNum type="arabicPeriod"/>
            </a:pPr>
            <a:r>
              <a:rPr lang="en-US" dirty="0"/>
              <a:t>Encourage teamwork instead of blame-shifting.</a:t>
            </a:r>
          </a:p>
          <a:p>
            <a:pPr>
              <a:buFont typeface="+mj-lt"/>
              <a:buAutoNum type="arabicPeriod"/>
            </a:pPr>
            <a:r>
              <a:rPr lang="en-US" dirty="0"/>
              <a:t>Ensure the group stays on track to meet the deadline.</a:t>
            </a:r>
          </a:p>
          <a:p>
            <a:endParaRPr lang="en-IN" dirty="0"/>
          </a:p>
        </p:txBody>
      </p:sp>
    </p:spTree>
    <p:extLst>
      <p:ext uri="{BB962C8B-B14F-4D97-AF65-F5344CB8AC3E}">
        <p14:creationId xmlns:p14="http://schemas.microsoft.com/office/powerpoint/2010/main" val="16892666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700CF9-820A-11E3-7ACB-F9E514735616}"/>
              </a:ext>
            </a:extLst>
          </p:cNvPr>
          <p:cNvSpPr>
            <a:spLocks noGrp="1"/>
          </p:cNvSpPr>
          <p:nvPr>
            <p:ph type="title"/>
          </p:nvPr>
        </p:nvSpPr>
        <p:spPr/>
        <p:txBody>
          <a:bodyPr/>
          <a:lstStyle/>
          <a:p>
            <a:r>
              <a:rPr lang="en-US" b="1" dirty="0"/>
              <a:t>C. Conceptual Skills</a:t>
            </a:r>
            <a:br>
              <a:rPr lang="en-US" b="1" dirty="0"/>
            </a:br>
            <a:endParaRPr lang="en-IN" dirty="0"/>
          </a:p>
        </p:txBody>
      </p:sp>
      <p:sp>
        <p:nvSpPr>
          <p:cNvPr id="3" name="Content Placeholder 2">
            <a:extLst>
              <a:ext uri="{FF2B5EF4-FFF2-40B4-BE49-F238E27FC236}">
                <a16:creationId xmlns:a16="http://schemas.microsoft.com/office/drawing/2014/main" id="{AB465838-0928-489E-A95E-CC0E337970CA}"/>
              </a:ext>
            </a:extLst>
          </p:cNvPr>
          <p:cNvSpPr>
            <a:spLocks noGrp="1"/>
          </p:cNvSpPr>
          <p:nvPr>
            <p:ph idx="1"/>
          </p:nvPr>
        </p:nvSpPr>
        <p:spPr>
          <a:xfrm>
            <a:off x="130629" y="2015732"/>
            <a:ext cx="12061371" cy="4037749"/>
          </a:xfrm>
        </p:spPr>
        <p:txBody>
          <a:bodyPr>
            <a:normAutofit fontScale="92500" lnSpcReduction="10000"/>
          </a:bodyPr>
          <a:lstStyle/>
          <a:p>
            <a:pPr>
              <a:buFont typeface="Arial" panose="020B0604020202020204" pitchFamily="34" charset="0"/>
              <a:buChar char="•"/>
            </a:pPr>
            <a:r>
              <a:rPr lang="en-US" sz="2800" b="1" dirty="0"/>
              <a:t>Definition:</a:t>
            </a:r>
            <a:r>
              <a:rPr lang="en-US" sz="2800" dirty="0"/>
              <a:t> Conceptual skills are the ability to see the bigger picture of an organization.</a:t>
            </a:r>
          </a:p>
          <a:p>
            <a:pPr>
              <a:buFont typeface="Arial" panose="020B0604020202020204" pitchFamily="34" charset="0"/>
              <a:buChar char="•"/>
            </a:pPr>
            <a:r>
              <a:rPr lang="en-US" sz="2800" dirty="0"/>
              <a:t>It means analyzing how different departments (marketing, finance, HR, operations, IT) work together, and how changes in one part affect the others.</a:t>
            </a:r>
          </a:p>
          <a:p>
            <a:pPr>
              <a:buFont typeface="Arial" panose="020B0604020202020204" pitchFamily="34" charset="0"/>
              <a:buChar char="•"/>
            </a:pPr>
            <a:r>
              <a:rPr lang="en-US" sz="2800" dirty="0"/>
              <a:t>Managers with strong conceptual skills can think strategically, forecast future trends, and make decisions that align with the long-term vision of the organization.</a:t>
            </a:r>
          </a:p>
          <a:p>
            <a:pPr>
              <a:buFont typeface="Arial" panose="020B0604020202020204" pitchFamily="34" charset="0"/>
              <a:buChar char="•"/>
            </a:pPr>
            <a:r>
              <a:rPr lang="en-US" sz="2800" b="1" dirty="0"/>
              <a:t>Example:</a:t>
            </a:r>
            <a:endParaRPr lang="en-US" sz="2800" dirty="0"/>
          </a:p>
          <a:p>
            <a:pPr marL="742950" lvl="1" indent="-285750">
              <a:buFont typeface="Arial" panose="020B0604020202020204" pitchFamily="34" charset="0"/>
              <a:buChar char="•"/>
            </a:pPr>
            <a:r>
              <a:rPr lang="en-US" sz="2100" dirty="0"/>
              <a:t>A CEO deciding to diversify into a new market by analyzing trends, competitors, and company resources.</a:t>
            </a:r>
          </a:p>
          <a:p>
            <a:endParaRPr lang="en-IN" dirty="0"/>
          </a:p>
        </p:txBody>
      </p:sp>
    </p:spTree>
    <p:extLst>
      <p:ext uri="{BB962C8B-B14F-4D97-AF65-F5344CB8AC3E}">
        <p14:creationId xmlns:p14="http://schemas.microsoft.com/office/powerpoint/2010/main" val="33713803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C5EE52-82D6-3F0B-CD9C-3C2A23F5D141}"/>
              </a:ext>
            </a:extLst>
          </p:cNvPr>
          <p:cNvSpPr>
            <a:spLocks noGrp="1"/>
          </p:cNvSpPr>
          <p:nvPr>
            <p:ph type="title"/>
          </p:nvPr>
        </p:nvSpPr>
        <p:spPr>
          <a:xfrm>
            <a:off x="1451579" y="804520"/>
            <a:ext cx="9603275" cy="587136"/>
          </a:xfrm>
        </p:spPr>
        <p:txBody>
          <a:bodyPr/>
          <a:lstStyle/>
          <a:p>
            <a:r>
              <a:rPr lang="en-US" b="1" dirty="0"/>
              <a:t>Why Important:</a:t>
            </a:r>
            <a:endParaRPr lang="en-IN" dirty="0"/>
          </a:p>
        </p:txBody>
      </p:sp>
      <p:sp>
        <p:nvSpPr>
          <p:cNvPr id="3" name="Content Placeholder 2">
            <a:extLst>
              <a:ext uri="{FF2B5EF4-FFF2-40B4-BE49-F238E27FC236}">
                <a16:creationId xmlns:a16="http://schemas.microsoft.com/office/drawing/2014/main" id="{00AB5C82-107C-0BF8-368D-6B6FC262BCD2}"/>
              </a:ext>
            </a:extLst>
          </p:cNvPr>
          <p:cNvSpPr>
            <a:spLocks noGrp="1"/>
          </p:cNvSpPr>
          <p:nvPr>
            <p:ph idx="1"/>
          </p:nvPr>
        </p:nvSpPr>
        <p:spPr>
          <a:xfrm>
            <a:off x="348343" y="2015732"/>
            <a:ext cx="11386457" cy="3450613"/>
          </a:xfrm>
        </p:spPr>
        <p:txBody>
          <a:bodyPr>
            <a:normAutofit/>
          </a:bodyPr>
          <a:lstStyle/>
          <a:p>
            <a:pPr>
              <a:buFont typeface="Arial" panose="020B0604020202020204" pitchFamily="34" charset="0"/>
              <a:buChar char="•"/>
            </a:pPr>
            <a:r>
              <a:rPr lang="en-US" sz="2800" dirty="0"/>
              <a:t>Helps managers understand </a:t>
            </a:r>
            <a:r>
              <a:rPr lang="en-US" sz="2800" b="1" dirty="0"/>
              <a:t>cause-and-effect relationships</a:t>
            </a:r>
            <a:r>
              <a:rPr lang="en-US" sz="2800" dirty="0"/>
              <a:t> in business decisions.</a:t>
            </a:r>
          </a:p>
          <a:p>
            <a:pPr>
              <a:buFont typeface="Arial" panose="020B0604020202020204" pitchFamily="34" charset="0"/>
              <a:buChar char="•"/>
            </a:pPr>
            <a:r>
              <a:rPr lang="en-US" sz="2800" dirty="0"/>
              <a:t>Ensures that choices are not made in isolation but are aligned with the </a:t>
            </a:r>
            <a:r>
              <a:rPr lang="en-US" sz="2800" b="1" dirty="0"/>
              <a:t>overall goals</a:t>
            </a:r>
            <a:r>
              <a:rPr lang="en-US" sz="2800" dirty="0"/>
              <a:t> of the organization.</a:t>
            </a:r>
          </a:p>
          <a:p>
            <a:pPr>
              <a:buFont typeface="Arial" panose="020B0604020202020204" pitchFamily="34" charset="0"/>
              <a:buChar char="•"/>
            </a:pPr>
            <a:r>
              <a:rPr lang="en-US" sz="2800" dirty="0"/>
              <a:t>Particularly crucial for </a:t>
            </a:r>
            <a:r>
              <a:rPr lang="en-US" sz="2800" b="1" dirty="0"/>
              <a:t>top-level managers</a:t>
            </a:r>
            <a:r>
              <a:rPr lang="en-US" sz="2800" dirty="0"/>
              <a:t> (CEOs, Directors), though middle managers also need it to coordinate departments.</a:t>
            </a:r>
          </a:p>
          <a:p>
            <a:endParaRPr lang="en-IN" dirty="0"/>
          </a:p>
        </p:txBody>
      </p:sp>
    </p:spTree>
    <p:extLst>
      <p:ext uri="{BB962C8B-B14F-4D97-AF65-F5344CB8AC3E}">
        <p14:creationId xmlns:p14="http://schemas.microsoft.com/office/powerpoint/2010/main" val="40421527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E3D776-0C9A-6096-726D-9A0514717A28}"/>
              </a:ext>
            </a:extLst>
          </p:cNvPr>
          <p:cNvSpPr>
            <a:spLocks noGrp="1"/>
          </p:cNvSpPr>
          <p:nvPr>
            <p:ph type="title"/>
          </p:nvPr>
        </p:nvSpPr>
        <p:spPr/>
        <p:txBody>
          <a:bodyPr/>
          <a:lstStyle/>
          <a:p>
            <a:r>
              <a:rPr lang="en-US" b="1" dirty="0"/>
              <a:t>D. Communication Skills</a:t>
            </a:r>
            <a:br>
              <a:rPr lang="en-US" b="1" dirty="0"/>
            </a:br>
            <a:endParaRPr lang="en-IN" dirty="0"/>
          </a:p>
        </p:txBody>
      </p:sp>
      <p:sp>
        <p:nvSpPr>
          <p:cNvPr id="3" name="Content Placeholder 2">
            <a:extLst>
              <a:ext uri="{FF2B5EF4-FFF2-40B4-BE49-F238E27FC236}">
                <a16:creationId xmlns:a16="http://schemas.microsoft.com/office/drawing/2014/main" id="{F29BFA18-6821-0246-1787-88776C23FD18}"/>
              </a:ext>
            </a:extLst>
          </p:cNvPr>
          <p:cNvSpPr>
            <a:spLocks noGrp="1"/>
          </p:cNvSpPr>
          <p:nvPr>
            <p:ph idx="1"/>
          </p:nvPr>
        </p:nvSpPr>
        <p:spPr>
          <a:xfrm>
            <a:off x="535925" y="2091933"/>
            <a:ext cx="11405703" cy="3961548"/>
          </a:xfrm>
        </p:spPr>
        <p:txBody>
          <a:bodyPr>
            <a:normAutofit fontScale="92500" lnSpcReduction="10000"/>
          </a:bodyPr>
          <a:lstStyle/>
          <a:p>
            <a:pPr>
              <a:buFont typeface="Arial" panose="020B0604020202020204" pitchFamily="34" charset="0"/>
              <a:buChar char="•"/>
            </a:pPr>
            <a:r>
              <a:rPr lang="en-US" sz="2800" b="1" dirty="0"/>
              <a:t>Definition:</a:t>
            </a:r>
            <a:r>
              <a:rPr lang="en-US" sz="2800" dirty="0"/>
              <a:t> Communication skills are the ability to convey information clearly, accurately, and effectively, both verbally and non-verbally. It includes not just speaking and writing, but also active listening, body language, and ensuring the message is understood as intended.</a:t>
            </a:r>
          </a:p>
          <a:p>
            <a:pPr>
              <a:buFont typeface="Arial" panose="020B0604020202020204" pitchFamily="34" charset="0"/>
              <a:buChar char="•"/>
            </a:pPr>
            <a:r>
              <a:rPr lang="en-US" sz="2800" b="1" dirty="0"/>
              <a:t>Example:</a:t>
            </a:r>
            <a:endParaRPr lang="en-US" sz="2800" dirty="0"/>
          </a:p>
          <a:p>
            <a:pPr marL="742950" lvl="1" indent="-285750">
              <a:buFont typeface="Arial" panose="020B0604020202020204" pitchFamily="34" charset="0"/>
              <a:buChar char="•"/>
            </a:pPr>
            <a:r>
              <a:rPr lang="en-US" sz="2400" dirty="0"/>
              <a:t>A project manager giving clear instructions to team members.</a:t>
            </a:r>
          </a:p>
          <a:p>
            <a:pPr marL="742950" lvl="1" indent="-285750">
              <a:buFont typeface="Arial" panose="020B0604020202020204" pitchFamily="34" charset="0"/>
              <a:buChar char="•"/>
            </a:pPr>
            <a:r>
              <a:rPr lang="en-US" sz="2400" dirty="0"/>
              <a:t>A marketing manager preparing a persuasive presentation for clients.</a:t>
            </a:r>
          </a:p>
          <a:p>
            <a:pPr>
              <a:buFont typeface="Arial" panose="020B0604020202020204" pitchFamily="34" charset="0"/>
              <a:buChar char="•"/>
            </a:pPr>
            <a:r>
              <a:rPr lang="en-US" sz="2800" b="1" dirty="0"/>
              <a:t>Why important:</a:t>
            </a:r>
            <a:r>
              <a:rPr lang="en-US" sz="2800" dirty="0"/>
              <a:t> Avoids misunderstandings and ensures smooth workflow.</a:t>
            </a:r>
          </a:p>
        </p:txBody>
      </p:sp>
    </p:spTree>
    <p:extLst>
      <p:ext uri="{BB962C8B-B14F-4D97-AF65-F5344CB8AC3E}">
        <p14:creationId xmlns:p14="http://schemas.microsoft.com/office/powerpoint/2010/main" val="21746561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B717F-EA08-06A9-6FFB-B1035FF81875}"/>
              </a:ext>
            </a:extLst>
          </p:cNvPr>
          <p:cNvSpPr>
            <a:spLocks noGrp="1"/>
          </p:cNvSpPr>
          <p:nvPr>
            <p:ph type="title"/>
          </p:nvPr>
        </p:nvSpPr>
        <p:spPr>
          <a:xfrm>
            <a:off x="707571" y="804519"/>
            <a:ext cx="10347283" cy="1049235"/>
          </a:xfrm>
        </p:spPr>
        <p:txBody>
          <a:bodyPr>
            <a:normAutofit/>
          </a:bodyPr>
          <a:lstStyle/>
          <a:p>
            <a:r>
              <a:rPr lang="en-US" b="1" dirty="0"/>
              <a:t>Types of Communication in Management:</a:t>
            </a:r>
            <a:endParaRPr lang="en-IN" dirty="0"/>
          </a:p>
        </p:txBody>
      </p:sp>
      <p:sp>
        <p:nvSpPr>
          <p:cNvPr id="3" name="Content Placeholder 2">
            <a:extLst>
              <a:ext uri="{FF2B5EF4-FFF2-40B4-BE49-F238E27FC236}">
                <a16:creationId xmlns:a16="http://schemas.microsoft.com/office/drawing/2014/main" id="{2F7B6616-30F2-A006-2F2A-2AD1E9519DD6}"/>
              </a:ext>
            </a:extLst>
          </p:cNvPr>
          <p:cNvSpPr>
            <a:spLocks noGrp="1"/>
          </p:cNvSpPr>
          <p:nvPr>
            <p:ph idx="1"/>
          </p:nvPr>
        </p:nvSpPr>
        <p:spPr>
          <a:xfrm>
            <a:off x="566057" y="2015732"/>
            <a:ext cx="11232805" cy="3450613"/>
          </a:xfrm>
        </p:spPr>
        <p:txBody>
          <a:bodyPr>
            <a:normAutofit/>
          </a:bodyPr>
          <a:lstStyle/>
          <a:p>
            <a:pPr>
              <a:buFont typeface="+mj-lt"/>
              <a:buAutoNum type="arabicPeriod"/>
            </a:pPr>
            <a:r>
              <a:rPr lang="en-US" sz="2800" b="1" dirty="0"/>
              <a:t>Verbal Communication</a:t>
            </a:r>
            <a:r>
              <a:rPr lang="en-US" sz="2800" dirty="0"/>
              <a:t> – Meetings, presentations, phone calls.</a:t>
            </a:r>
          </a:p>
          <a:p>
            <a:pPr>
              <a:buFont typeface="+mj-lt"/>
              <a:buAutoNum type="arabicPeriod"/>
            </a:pPr>
            <a:r>
              <a:rPr lang="en-US" sz="2800" b="1" dirty="0"/>
              <a:t>Written Communication</a:t>
            </a:r>
            <a:r>
              <a:rPr lang="en-US" sz="2800" dirty="0"/>
              <a:t> – Emails, reports, proposals.</a:t>
            </a:r>
          </a:p>
          <a:p>
            <a:pPr>
              <a:buFont typeface="+mj-lt"/>
              <a:buAutoNum type="arabicPeriod"/>
            </a:pPr>
            <a:r>
              <a:rPr lang="en-US" sz="2800" b="1" dirty="0"/>
              <a:t>Non-verbal Communication</a:t>
            </a:r>
            <a:r>
              <a:rPr lang="en-US" sz="2800" dirty="0"/>
              <a:t> – Gestures, tone of voice, eye contact, body language.</a:t>
            </a:r>
          </a:p>
          <a:p>
            <a:pPr>
              <a:buFont typeface="+mj-lt"/>
              <a:buAutoNum type="arabicPeriod"/>
            </a:pPr>
            <a:r>
              <a:rPr lang="en-US" sz="2800" b="1" dirty="0"/>
              <a:t>Listening Skills</a:t>
            </a:r>
            <a:r>
              <a:rPr lang="en-US" sz="2800" dirty="0"/>
              <a:t> – Understanding others’ perspectives before responding.</a:t>
            </a:r>
          </a:p>
          <a:p>
            <a:endParaRPr lang="en-IN" dirty="0"/>
          </a:p>
        </p:txBody>
      </p:sp>
    </p:spTree>
    <p:extLst>
      <p:ext uri="{BB962C8B-B14F-4D97-AF65-F5344CB8AC3E}">
        <p14:creationId xmlns:p14="http://schemas.microsoft.com/office/powerpoint/2010/main" val="28267304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4F228-F6AB-BF4A-B4A0-064C3A52752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5BDA456-7A88-9800-2C0A-A2D9627AF98A}"/>
              </a:ext>
            </a:extLst>
          </p:cNvPr>
          <p:cNvSpPr>
            <a:spLocks noGrp="1"/>
          </p:cNvSpPr>
          <p:nvPr>
            <p:ph idx="1"/>
          </p:nvPr>
        </p:nvSpPr>
        <p:spPr/>
        <p:txBody>
          <a:bodyPr>
            <a:normAutofit/>
          </a:bodyPr>
          <a:lstStyle/>
          <a:p>
            <a:pPr marL="0" indent="0">
              <a:buNone/>
            </a:pPr>
            <a:r>
              <a:rPr lang="en-US" sz="2800" dirty="0"/>
              <a:t>7% - Spoken words</a:t>
            </a:r>
          </a:p>
          <a:p>
            <a:pPr marL="0" indent="0">
              <a:buNone/>
            </a:pPr>
            <a:r>
              <a:rPr lang="en-US" sz="2800" dirty="0"/>
              <a:t>38% -  Tone of Voice</a:t>
            </a:r>
          </a:p>
          <a:p>
            <a:pPr marL="0" indent="0">
              <a:buNone/>
            </a:pPr>
            <a:r>
              <a:rPr lang="en-US" sz="2800" dirty="0"/>
              <a:t>55% - Body Language</a:t>
            </a:r>
            <a:endParaRPr lang="en-IN" sz="2800" dirty="0"/>
          </a:p>
        </p:txBody>
      </p:sp>
    </p:spTree>
    <p:extLst>
      <p:ext uri="{BB962C8B-B14F-4D97-AF65-F5344CB8AC3E}">
        <p14:creationId xmlns:p14="http://schemas.microsoft.com/office/powerpoint/2010/main" val="284314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IE" dirty="0">
                <a:latin typeface="Arial Rounded MT Bold" panose="020F0704030504030204" pitchFamily="34" charset="0"/>
              </a:rPr>
              <a:t>Watch the Body Language</a:t>
            </a:r>
          </a:p>
        </p:txBody>
      </p:sp>
      <p:sp>
        <p:nvSpPr>
          <p:cNvPr id="7171" name="Rectangle 3"/>
          <p:cNvSpPr>
            <a:spLocks noGrp="1" noChangeArrowheads="1"/>
          </p:cNvSpPr>
          <p:nvPr>
            <p:ph type="body" idx="1"/>
          </p:nvPr>
        </p:nvSpPr>
        <p:spPr/>
        <p:txBody>
          <a:bodyPr/>
          <a:lstStyle/>
          <a:p>
            <a:r>
              <a:rPr lang="en-IE" dirty="0">
                <a:latin typeface="Arial Rounded MT Bold" panose="020F0704030504030204" pitchFamily="34" charset="0"/>
              </a:rPr>
              <a:t>First impressions very powerful</a:t>
            </a:r>
          </a:p>
          <a:p>
            <a:r>
              <a:rPr lang="en-IE" dirty="0">
                <a:latin typeface="Arial Rounded MT Bold" panose="020F0704030504030204" pitchFamily="34" charset="0"/>
              </a:rPr>
              <a:t>Allow time to relax</a:t>
            </a:r>
          </a:p>
          <a:p>
            <a:r>
              <a:rPr lang="en-IE" dirty="0">
                <a:latin typeface="Arial Rounded MT Bold" panose="020F0704030504030204" pitchFamily="34" charset="0"/>
              </a:rPr>
              <a:t>Dress appropriately </a:t>
            </a:r>
          </a:p>
          <a:p>
            <a:r>
              <a:rPr lang="en-IE" dirty="0">
                <a:latin typeface="Arial Rounded MT Bold" panose="020F0704030504030204" pitchFamily="34" charset="0"/>
              </a:rPr>
              <a:t>Entrance, introductions &amp; handshake</a:t>
            </a:r>
          </a:p>
          <a:p>
            <a:r>
              <a:rPr lang="en-IE" dirty="0">
                <a:latin typeface="Arial Rounded MT Bold" panose="020F0704030504030204" pitchFamily="34" charset="0"/>
              </a:rPr>
              <a:t>Smile and make eye contact</a:t>
            </a:r>
          </a:p>
          <a:p>
            <a:r>
              <a:rPr lang="en-IE" dirty="0">
                <a:latin typeface="Arial Rounded MT Bold" panose="020F0704030504030204" pitchFamily="34" charset="0"/>
              </a:rPr>
              <a:t>Be aware of own movements</a:t>
            </a:r>
          </a:p>
          <a:p>
            <a:r>
              <a:rPr lang="en-IE" dirty="0">
                <a:latin typeface="Arial Rounded MT Bold" panose="020F0704030504030204" pitchFamily="34" charset="0"/>
              </a:rPr>
              <a:t>Watch body language of interviewer</a:t>
            </a:r>
          </a:p>
          <a:p>
            <a:endParaRPr lang="en-IE" dirty="0">
              <a:latin typeface="Arial Rounded MT Bold" panose="020F0704030504030204" pitchFamily="34" charset="0"/>
            </a:endParaRPr>
          </a:p>
        </p:txBody>
      </p:sp>
    </p:spTree>
    <p:extLst>
      <p:ext uri="{BB962C8B-B14F-4D97-AF65-F5344CB8AC3E}">
        <p14:creationId xmlns:p14="http://schemas.microsoft.com/office/powerpoint/2010/main" val="36899584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C348C-937B-1479-57AE-6C83EA5C8F3D}"/>
              </a:ext>
            </a:extLst>
          </p:cNvPr>
          <p:cNvSpPr>
            <a:spLocks noGrp="1"/>
          </p:cNvSpPr>
          <p:nvPr>
            <p:ph type="title"/>
          </p:nvPr>
        </p:nvSpPr>
        <p:spPr/>
        <p:txBody>
          <a:bodyPr/>
          <a:lstStyle/>
          <a:p>
            <a:r>
              <a:rPr lang="en-US" b="1" dirty="0"/>
              <a:t>Public Speaking Body Postures</a:t>
            </a:r>
            <a:endParaRPr lang="en-IN" b="1" dirty="0"/>
          </a:p>
        </p:txBody>
      </p:sp>
      <p:pic>
        <p:nvPicPr>
          <p:cNvPr id="4" name="Content Placeholder 3">
            <a:extLst>
              <a:ext uri="{FF2B5EF4-FFF2-40B4-BE49-F238E27FC236}">
                <a16:creationId xmlns:a16="http://schemas.microsoft.com/office/drawing/2014/main" id="{D500DE38-C856-B7BE-0F69-DF42EEF12657}"/>
              </a:ext>
            </a:extLst>
          </p:cNvPr>
          <p:cNvPicPr>
            <a:picLocks noGrp="1" noChangeAspect="1"/>
          </p:cNvPicPr>
          <p:nvPr>
            <p:ph idx="1"/>
          </p:nvPr>
        </p:nvPicPr>
        <p:blipFill>
          <a:blip r:embed="rId2"/>
          <a:stretch>
            <a:fillRect/>
          </a:stretch>
        </p:blipFill>
        <p:spPr>
          <a:xfrm>
            <a:off x="3092223" y="1901259"/>
            <a:ext cx="6919989" cy="4591616"/>
          </a:xfrm>
          <a:prstGeom prst="rect">
            <a:avLst/>
          </a:prstGeom>
        </p:spPr>
      </p:pic>
    </p:spTree>
    <p:extLst>
      <p:ext uri="{BB962C8B-B14F-4D97-AF65-F5344CB8AC3E}">
        <p14:creationId xmlns:p14="http://schemas.microsoft.com/office/powerpoint/2010/main" val="25516919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6DC611-DC6F-95FC-B21B-8776D762CAB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D4BB465-EF01-BC76-4CDA-DF86564AFF50}"/>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4602E1C6-54B2-AC59-7F95-5559734F7354}"/>
              </a:ext>
            </a:extLst>
          </p:cNvPr>
          <p:cNvPicPr>
            <a:picLocks noChangeAspect="1"/>
          </p:cNvPicPr>
          <p:nvPr/>
        </p:nvPicPr>
        <p:blipFill>
          <a:blip r:embed="rId2"/>
          <a:stretch>
            <a:fillRect/>
          </a:stretch>
        </p:blipFill>
        <p:spPr>
          <a:xfrm>
            <a:off x="631371" y="365125"/>
            <a:ext cx="10929257" cy="6119075"/>
          </a:xfrm>
          <a:prstGeom prst="rect">
            <a:avLst/>
          </a:prstGeom>
        </p:spPr>
      </p:pic>
    </p:spTree>
    <p:extLst>
      <p:ext uri="{BB962C8B-B14F-4D97-AF65-F5344CB8AC3E}">
        <p14:creationId xmlns:p14="http://schemas.microsoft.com/office/powerpoint/2010/main" val="16655820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33CBAE-2E9B-3CAF-17AA-370142C4098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C9BFB00-65BE-4C57-F550-35112E9F5944}"/>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D98FAF28-0194-F6E3-A0D7-45EAA9BCEC1D}"/>
              </a:ext>
            </a:extLst>
          </p:cNvPr>
          <p:cNvPicPr>
            <a:picLocks noChangeAspect="1"/>
          </p:cNvPicPr>
          <p:nvPr/>
        </p:nvPicPr>
        <p:blipFill>
          <a:blip r:embed="rId2"/>
          <a:stretch>
            <a:fillRect/>
          </a:stretch>
        </p:blipFill>
        <p:spPr>
          <a:xfrm>
            <a:off x="3461472" y="357642"/>
            <a:ext cx="5090061" cy="6358844"/>
          </a:xfrm>
          <a:prstGeom prst="rect">
            <a:avLst/>
          </a:prstGeom>
        </p:spPr>
      </p:pic>
    </p:spTree>
    <p:extLst>
      <p:ext uri="{BB962C8B-B14F-4D97-AF65-F5344CB8AC3E}">
        <p14:creationId xmlns:p14="http://schemas.microsoft.com/office/powerpoint/2010/main" val="30752129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C1302-B8F5-2FD3-C7CD-9C03F9F4837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773D4D6-5ED4-C8BA-528F-AF664D2094D4}"/>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6727A729-A665-9587-E110-6AA74D21C5A4}"/>
              </a:ext>
            </a:extLst>
          </p:cNvPr>
          <p:cNvPicPr>
            <a:picLocks noChangeAspect="1"/>
          </p:cNvPicPr>
          <p:nvPr/>
        </p:nvPicPr>
        <p:blipFill>
          <a:blip r:embed="rId2"/>
          <a:stretch>
            <a:fillRect/>
          </a:stretch>
        </p:blipFill>
        <p:spPr>
          <a:xfrm>
            <a:off x="2667000" y="685800"/>
            <a:ext cx="6858000" cy="5486400"/>
          </a:xfrm>
          <a:prstGeom prst="rect">
            <a:avLst/>
          </a:prstGeom>
        </p:spPr>
      </p:pic>
    </p:spTree>
    <p:extLst>
      <p:ext uri="{BB962C8B-B14F-4D97-AF65-F5344CB8AC3E}">
        <p14:creationId xmlns:p14="http://schemas.microsoft.com/office/powerpoint/2010/main" val="31039514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6EE67F-81DD-5334-5F5A-8EF3804AD81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ED63115-08FC-1784-D752-1A33B07050D2}"/>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EBBC58A4-A9D5-6F99-4B5D-D75FD0BCCDDB}"/>
              </a:ext>
            </a:extLst>
          </p:cNvPr>
          <p:cNvPicPr>
            <a:picLocks noChangeAspect="1"/>
          </p:cNvPicPr>
          <p:nvPr/>
        </p:nvPicPr>
        <p:blipFill>
          <a:blip r:embed="rId2"/>
          <a:stretch>
            <a:fillRect/>
          </a:stretch>
        </p:blipFill>
        <p:spPr>
          <a:xfrm>
            <a:off x="131984" y="566055"/>
            <a:ext cx="11221816" cy="5610908"/>
          </a:xfrm>
          <a:prstGeom prst="rect">
            <a:avLst/>
          </a:prstGeom>
        </p:spPr>
      </p:pic>
    </p:spTree>
    <p:extLst>
      <p:ext uri="{BB962C8B-B14F-4D97-AF65-F5344CB8AC3E}">
        <p14:creationId xmlns:p14="http://schemas.microsoft.com/office/powerpoint/2010/main" val="30987717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81F2EE-9280-EFE9-86CA-F1054810A8E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0E2987F-1D2A-4382-28E2-5835351B62A0}"/>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6B6BE96F-EE9B-D4C0-DACC-286AD9EE2E2E}"/>
              </a:ext>
            </a:extLst>
          </p:cNvPr>
          <p:cNvPicPr>
            <a:picLocks noChangeAspect="1"/>
          </p:cNvPicPr>
          <p:nvPr/>
        </p:nvPicPr>
        <p:blipFill>
          <a:blip r:embed="rId2"/>
          <a:stretch>
            <a:fillRect/>
          </a:stretch>
        </p:blipFill>
        <p:spPr>
          <a:xfrm>
            <a:off x="1807028" y="1138237"/>
            <a:ext cx="8039100" cy="6029325"/>
          </a:xfrm>
          <a:prstGeom prst="rect">
            <a:avLst/>
          </a:prstGeom>
        </p:spPr>
      </p:pic>
    </p:spTree>
    <p:extLst>
      <p:ext uri="{BB962C8B-B14F-4D97-AF65-F5344CB8AC3E}">
        <p14:creationId xmlns:p14="http://schemas.microsoft.com/office/powerpoint/2010/main" val="4053857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3CF49D-724E-826B-9EF9-6561958F368D}"/>
              </a:ext>
            </a:extLst>
          </p:cNvPr>
          <p:cNvSpPr>
            <a:spLocks noGrp="1"/>
          </p:cNvSpPr>
          <p:nvPr>
            <p:ph type="title"/>
          </p:nvPr>
        </p:nvSpPr>
        <p:spPr>
          <a:xfrm>
            <a:off x="838200" y="0"/>
            <a:ext cx="10515600" cy="1325563"/>
          </a:xfrm>
        </p:spPr>
        <p:txBody>
          <a:bodyPr>
            <a:normAutofit/>
          </a:bodyPr>
          <a:lstStyle/>
          <a:p>
            <a:r>
              <a:rPr lang="en-US" b="1" dirty="0"/>
              <a:t>Avoid negative, or closed, body language when talking to others.</a:t>
            </a:r>
            <a:endParaRPr lang="en-IN" b="1" dirty="0"/>
          </a:p>
        </p:txBody>
      </p:sp>
      <p:sp>
        <p:nvSpPr>
          <p:cNvPr id="3" name="Content Placeholder 2">
            <a:extLst>
              <a:ext uri="{FF2B5EF4-FFF2-40B4-BE49-F238E27FC236}">
                <a16:creationId xmlns:a16="http://schemas.microsoft.com/office/drawing/2014/main" id="{C8A9126D-21F9-02C7-880B-886CDB647DC5}"/>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52359CD2-9BB7-0E51-CA20-A6FC16D7FB02}"/>
              </a:ext>
            </a:extLst>
          </p:cNvPr>
          <p:cNvPicPr>
            <a:picLocks noChangeAspect="1"/>
          </p:cNvPicPr>
          <p:nvPr/>
        </p:nvPicPr>
        <p:blipFill>
          <a:blip r:embed="rId2"/>
          <a:stretch>
            <a:fillRect/>
          </a:stretch>
        </p:blipFill>
        <p:spPr>
          <a:xfrm>
            <a:off x="2422071" y="1469572"/>
            <a:ext cx="7792356" cy="5617027"/>
          </a:xfrm>
          <a:prstGeom prst="rect">
            <a:avLst/>
          </a:prstGeom>
        </p:spPr>
      </p:pic>
    </p:spTree>
    <p:extLst>
      <p:ext uri="{BB962C8B-B14F-4D97-AF65-F5344CB8AC3E}">
        <p14:creationId xmlns:p14="http://schemas.microsoft.com/office/powerpoint/2010/main" val="29960579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480F8-B29C-A59D-B858-062C9F7197F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AF4919C-5CF1-A0E4-9DB3-04ED6CCC722B}"/>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1C305800-3E55-CD56-460E-5DFE23FF8BAE}"/>
              </a:ext>
            </a:extLst>
          </p:cNvPr>
          <p:cNvPicPr>
            <a:picLocks noChangeAspect="1"/>
          </p:cNvPicPr>
          <p:nvPr/>
        </p:nvPicPr>
        <p:blipFill>
          <a:blip r:embed="rId2"/>
          <a:stretch>
            <a:fillRect/>
          </a:stretch>
        </p:blipFill>
        <p:spPr>
          <a:xfrm>
            <a:off x="1649185" y="-20411"/>
            <a:ext cx="9171215" cy="6878411"/>
          </a:xfrm>
          <a:prstGeom prst="rect">
            <a:avLst/>
          </a:prstGeom>
        </p:spPr>
      </p:pic>
      <p:sp>
        <p:nvSpPr>
          <p:cNvPr id="5" name="TextBox 4">
            <a:extLst>
              <a:ext uri="{FF2B5EF4-FFF2-40B4-BE49-F238E27FC236}">
                <a16:creationId xmlns:a16="http://schemas.microsoft.com/office/drawing/2014/main" id="{9F10DC08-E4D1-FBAE-F6B8-CD0ADC848467}"/>
              </a:ext>
            </a:extLst>
          </p:cNvPr>
          <p:cNvSpPr txBox="1"/>
          <p:nvPr/>
        </p:nvSpPr>
        <p:spPr>
          <a:xfrm>
            <a:off x="9633856" y="6448311"/>
            <a:ext cx="1186543" cy="477157"/>
          </a:xfrm>
          <a:prstGeom prst="rect">
            <a:avLst/>
          </a:prstGeom>
          <a:solidFill>
            <a:schemeClr val="bg1">
              <a:lumMod val="75000"/>
            </a:schemeClr>
          </a:solidFill>
        </p:spPr>
        <p:txBody>
          <a:bodyPr wrap="square" rtlCol="0">
            <a:spAutoFit/>
          </a:bodyPr>
          <a:lstStyle/>
          <a:p>
            <a:endParaRPr lang="en-IN" dirty="0"/>
          </a:p>
        </p:txBody>
      </p:sp>
    </p:spTree>
    <p:extLst>
      <p:ext uri="{BB962C8B-B14F-4D97-AF65-F5344CB8AC3E}">
        <p14:creationId xmlns:p14="http://schemas.microsoft.com/office/powerpoint/2010/main" val="30308925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3E8133-3DC4-CB41-9EE7-487A2E9C41B6}"/>
              </a:ext>
            </a:extLst>
          </p:cNvPr>
          <p:cNvSpPr>
            <a:spLocks noGrp="1"/>
          </p:cNvSpPr>
          <p:nvPr>
            <p:ph type="title"/>
          </p:nvPr>
        </p:nvSpPr>
        <p:spPr/>
        <p:txBody>
          <a:bodyPr/>
          <a:lstStyle/>
          <a:p>
            <a:r>
              <a:rPr lang="en-US" b="1" i="0" dirty="0">
                <a:solidFill>
                  <a:srgbClr val="545454"/>
                </a:solidFill>
                <a:effectLst/>
                <a:latin typeface="Helvetica" panose="020B0604020202020204" pitchFamily="34" charset="0"/>
              </a:rPr>
              <a:t>Use your body language to convey emotions while you speak.</a:t>
            </a:r>
            <a:endParaRPr lang="en-IN" dirty="0"/>
          </a:p>
        </p:txBody>
      </p:sp>
      <p:sp>
        <p:nvSpPr>
          <p:cNvPr id="3" name="Content Placeholder 2">
            <a:extLst>
              <a:ext uri="{FF2B5EF4-FFF2-40B4-BE49-F238E27FC236}">
                <a16:creationId xmlns:a16="http://schemas.microsoft.com/office/drawing/2014/main" id="{5ED8FE7C-2C93-7662-DDD0-904999355580}"/>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D43EF5C9-6664-846B-E0FB-21A4914BE3B5}"/>
              </a:ext>
            </a:extLst>
          </p:cNvPr>
          <p:cNvPicPr>
            <a:picLocks noChangeAspect="1"/>
          </p:cNvPicPr>
          <p:nvPr/>
        </p:nvPicPr>
        <p:blipFill>
          <a:blip r:embed="rId2"/>
          <a:stretch>
            <a:fillRect/>
          </a:stretch>
        </p:blipFill>
        <p:spPr>
          <a:xfrm>
            <a:off x="2378528" y="2102304"/>
            <a:ext cx="6934200" cy="5200650"/>
          </a:xfrm>
          <a:prstGeom prst="rect">
            <a:avLst/>
          </a:prstGeom>
        </p:spPr>
      </p:pic>
    </p:spTree>
    <p:extLst>
      <p:ext uri="{BB962C8B-B14F-4D97-AF65-F5344CB8AC3E}">
        <p14:creationId xmlns:p14="http://schemas.microsoft.com/office/powerpoint/2010/main" val="13712209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71B3A-BBCF-07C6-DE7C-71F1EB0202FE}"/>
              </a:ext>
            </a:extLst>
          </p:cNvPr>
          <p:cNvSpPr>
            <a:spLocks noGrp="1"/>
          </p:cNvSpPr>
          <p:nvPr>
            <p:ph type="title"/>
          </p:nvPr>
        </p:nvSpPr>
        <p:spPr/>
        <p:txBody>
          <a:bodyPr/>
          <a:lstStyle/>
          <a:p>
            <a:r>
              <a:rPr lang="en-US" b="1" i="0" dirty="0">
                <a:solidFill>
                  <a:srgbClr val="545454"/>
                </a:solidFill>
                <a:effectLst/>
                <a:latin typeface="Helvetica" panose="020B0604020202020204" pitchFamily="34" charset="0"/>
              </a:rPr>
              <a:t>Use hand gestures when speaking to draw others in</a:t>
            </a:r>
            <a:endParaRPr lang="en-IN" dirty="0"/>
          </a:p>
        </p:txBody>
      </p:sp>
      <p:pic>
        <p:nvPicPr>
          <p:cNvPr id="4" name="Content Placeholder 3">
            <a:extLst>
              <a:ext uri="{FF2B5EF4-FFF2-40B4-BE49-F238E27FC236}">
                <a16:creationId xmlns:a16="http://schemas.microsoft.com/office/drawing/2014/main" id="{79705208-00E4-F715-1311-FE1B1986C59B}"/>
              </a:ext>
            </a:extLst>
          </p:cNvPr>
          <p:cNvPicPr>
            <a:picLocks noGrp="1" noChangeAspect="1"/>
          </p:cNvPicPr>
          <p:nvPr>
            <p:ph idx="1"/>
          </p:nvPr>
        </p:nvPicPr>
        <p:blipFill>
          <a:blip r:embed="rId2"/>
          <a:stretch>
            <a:fillRect/>
          </a:stretch>
        </p:blipFill>
        <p:spPr>
          <a:xfrm>
            <a:off x="3195107" y="1825624"/>
            <a:ext cx="7101719" cy="5326289"/>
          </a:xfrm>
          <a:prstGeom prst="rect">
            <a:avLst/>
          </a:prstGeom>
        </p:spPr>
      </p:pic>
    </p:spTree>
    <p:extLst>
      <p:ext uri="{BB962C8B-B14F-4D97-AF65-F5344CB8AC3E}">
        <p14:creationId xmlns:p14="http://schemas.microsoft.com/office/powerpoint/2010/main" val="1526676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59A6A-81D4-5ADD-9637-18FC56B23B42}"/>
              </a:ext>
            </a:extLst>
          </p:cNvPr>
          <p:cNvSpPr>
            <a:spLocks noGrp="1"/>
          </p:cNvSpPr>
          <p:nvPr>
            <p:ph type="title"/>
          </p:nvPr>
        </p:nvSpPr>
        <p:spPr/>
        <p:txBody>
          <a:bodyPr>
            <a:normAutofit/>
          </a:bodyPr>
          <a:lstStyle/>
          <a:p>
            <a:r>
              <a:rPr lang="en-US" b="1" dirty="0"/>
              <a:t>Move throughout the room to capture attention</a:t>
            </a:r>
            <a:endParaRPr lang="en-IN" b="1" dirty="0"/>
          </a:p>
        </p:txBody>
      </p:sp>
      <p:sp>
        <p:nvSpPr>
          <p:cNvPr id="3" name="Content Placeholder 2">
            <a:extLst>
              <a:ext uri="{FF2B5EF4-FFF2-40B4-BE49-F238E27FC236}">
                <a16:creationId xmlns:a16="http://schemas.microsoft.com/office/drawing/2014/main" id="{8CF26520-92A9-165C-9675-48527764D4A0}"/>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04BD6C1E-FC80-B03F-7984-AE2F42723D8E}"/>
              </a:ext>
            </a:extLst>
          </p:cNvPr>
          <p:cNvPicPr>
            <a:picLocks noChangeAspect="1"/>
          </p:cNvPicPr>
          <p:nvPr/>
        </p:nvPicPr>
        <p:blipFill>
          <a:blip r:embed="rId2"/>
          <a:stretch>
            <a:fillRect/>
          </a:stretch>
        </p:blipFill>
        <p:spPr>
          <a:xfrm>
            <a:off x="2792186" y="1825625"/>
            <a:ext cx="6934200" cy="5200650"/>
          </a:xfrm>
          <a:prstGeom prst="rect">
            <a:avLst/>
          </a:prstGeom>
        </p:spPr>
      </p:pic>
    </p:spTree>
    <p:extLst>
      <p:ext uri="{BB962C8B-B14F-4D97-AF65-F5344CB8AC3E}">
        <p14:creationId xmlns:p14="http://schemas.microsoft.com/office/powerpoint/2010/main" val="35210885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7D9A2-53EC-A386-8E60-91F60FDCA0DD}"/>
              </a:ext>
            </a:extLst>
          </p:cNvPr>
          <p:cNvSpPr>
            <a:spLocks noGrp="1"/>
          </p:cNvSpPr>
          <p:nvPr>
            <p:ph type="title"/>
          </p:nvPr>
        </p:nvSpPr>
        <p:spPr/>
        <p:txBody>
          <a:bodyPr/>
          <a:lstStyle/>
          <a:p>
            <a:r>
              <a:rPr lang="en-US" b="1" dirty="0"/>
              <a:t>Use gestures like a thumbs up to convey a specific meaning. </a:t>
            </a:r>
            <a:endParaRPr lang="en-IN" b="1" dirty="0"/>
          </a:p>
        </p:txBody>
      </p:sp>
      <p:pic>
        <p:nvPicPr>
          <p:cNvPr id="4" name="Content Placeholder 3">
            <a:extLst>
              <a:ext uri="{FF2B5EF4-FFF2-40B4-BE49-F238E27FC236}">
                <a16:creationId xmlns:a16="http://schemas.microsoft.com/office/drawing/2014/main" id="{91CFCCC3-6C43-482A-0085-4752FEC36874}"/>
              </a:ext>
            </a:extLst>
          </p:cNvPr>
          <p:cNvPicPr>
            <a:picLocks noGrp="1" noChangeAspect="1"/>
          </p:cNvPicPr>
          <p:nvPr>
            <p:ph idx="1"/>
          </p:nvPr>
        </p:nvPicPr>
        <p:blipFill>
          <a:blip r:embed="rId2"/>
          <a:stretch>
            <a:fillRect/>
          </a:stretch>
        </p:blipFill>
        <p:spPr>
          <a:xfrm>
            <a:off x="2311250" y="1690688"/>
            <a:ext cx="7229928" cy="5422446"/>
          </a:xfrm>
          <a:prstGeom prst="rect">
            <a:avLst/>
          </a:prstGeom>
        </p:spPr>
      </p:pic>
    </p:spTree>
    <p:extLst>
      <p:ext uri="{BB962C8B-B14F-4D97-AF65-F5344CB8AC3E}">
        <p14:creationId xmlns:p14="http://schemas.microsoft.com/office/powerpoint/2010/main" val="2461385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79DBC0-A552-024F-FB4A-5BA44C0E2BA0}"/>
              </a:ext>
            </a:extLst>
          </p:cNvPr>
          <p:cNvSpPr>
            <a:spLocks noGrp="1"/>
          </p:cNvSpPr>
          <p:nvPr>
            <p:ph type="title"/>
          </p:nvPr>
        </p:nvSpPr>
        <p:spPr/>
        <p:txBody>
          <a:bodyPr>
            <a:normAutofit/>
          </a:bodyPr>
          <a:lstStyle/>
          <a:p>
            <a:r>
              <a:rPr lang="en-US" b="1" dirty="0"/>
              <a:t>Maintain good posture to exude confidence</a:t>
            </a:r>
            <a:endParaRPr lang="en-IN" b="1" dirty="0"/>
          </a:p>
        </p:txBody>
      </p:sp>
      <p:sp>
        <p:nvSpPr>
          <p:cNvPr id="3" name="Content Placeholder 2">
            <a:extLst>
              <a:ext uri="{FF2B5EF4-FFF2-40B4-BE49-F238E27FC236}">
                <a16:creationId xmlns:a16="http://schemas.microsoft.com/office/drawing/2014/main" id="{7607085F-C46B-A475-CD51-B56C4FCD61A4}"/>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15B202C1-6061-63C3-B51E-DE3B9576A37E}"/>
              </a:ext>
            </a:extLst>
          </p:cNvPr>
          <p:cNvPicPr>
            <a:picLocks noChangeAspect="1"/>
          </p:cNvPicPr>
          <p:nvPr/>
        </p:nvPicPr>
        <p:blipFill>
          <a:blip r:embed="rId2"/>
          <a:stretch>
            <a:fillRect/>
          </a:stretch>
        </p:blipFill>
        <p:spPr>
          <a:xfrm>
            <a:off x="2623457" y="1690688"/>
            <a:ext cx="7200900" cy="5400675"/>
          </a:xfrm>
          <a:prstGeom prst="rect">
            <a:avLst/>
          </a:prstGeom>
        </p:spPr>
      </p:pic>
    </p:spTree>
    <p:extLst>
      <p:ext uri="{BB962C8B-B14F-4D97-AF65-F5344CB8AC3E}">
        <p14:creationId xmlns:p14="http://schemas.microsoft.com/office/powerpoint/2010/main" val="3836041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5FF90-E212-4165-4DEA-4EDC3267CD74}"/>
              </a:ext>
            </a:extLst>
          </p:cNvPr>
          <p:cNvSpPr>
            <a:spLocks noGrp="1"/>
          </p:cNvSpPr>
          <p:nvPr>
            <p:ph type="title"/>
          </p:nvPr>
        </p:nvSpPr>
        <p:spPr/>
        <p:txBody>
          <a:bodyPr>
            <a:normAutofit/>
          </a:bodyPr>
          <a:lstStyle/>
          <a:p>
            <a:r>
              <a:rPr lang="en-IN" sz="5400" b="1" dirty="0"/>
              <a:t>Mirror another person</a:t>
            </a:r>
          </a:p>
        </p:txBody>
      </p:sp>
      <p:pic>
        <p:nvPicPr>
          <p:cNvPr id="4" name="Content Placeholder 3">
            <a:extLst>
              <a:ext uri="{FF2B5EF4-FFF2-40B4-BE49-F238E27FC236}">
                <a16:creationId xmlns:a16="http://schemas.microsoft.com/office/drawing/2014/main" id="{C71E0358-D652-D098-6EEB-C4BCBBD57F7C}"/>
              </a:ext>
            </a:extLst>
          </p:cNvPr>
          <p:cNvPicPr>
            <a:picLocks noGrp="1" noChangeAspect="1"/>
          </p:cNvPicPr>
          <p:nvPr>
            <p:ph idx="1"/>
          </p:nvPr>
        </p:nvPicPr>
        <p:blipFill>
          <a:blip r:embed="rId2"/>
          <a:stretch>
            <a:fillRect/>
          </a:stretch>
        </p:blipFill>
        <p:spPr>
          <a:xfrm>
            <a:off x="2348744" y="1803853"/>
            <a:ext cx="6985605" cy="5239204"/>
          </a:xfrm>
          <a:prstGeom prst="rect">
            <a:avLst/>
          </a:prstGeom>
        </p:spPr>
      </p:pic>
    </p:spTree>
    <p:extLst>
      <p:ext uri="{BB962C8B-B14F-4D97-AF65-F5344CB8AC3E}">
        <p14:creationId xmlns:p14="http://schemas.microsoft.com/office/powerpoint/2010/main" val="41878416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9AE47A-0AB4-33D9-25C5-4905A5970EFA}"/>
              </a:ext>
            </a:extLst>
          </p:cNvPr>
          <p:cNvSpPr>
            <a:spLocks noGrp="1"/>
          </p:cNvSpPr>
          <p:nvPr>
            <p:ph type="title"/>
          </p:nvPr>
        </p:nvSpPr>
        <p:spPr/>
        <p:txBody>
          <a:bodyPr>
            <a:normAutofit/>
          </a:bodyPr>
          <a:lstStyle/>
          <a:p>
            <a:r>
              <a:rPr lang="en-US" b="1" dirty="0"/>
              <a:t>Avoid gestures that show nervousness or insecurity</a:t>
            </a:r>
            <a:endParaRPr lang="en-IN" b="1" dirty="0"/>
          </a:p>
        </p:txBody>
      </p:sp>
      <p:sp>
        <p:nvSpPr>
          <p:cNvPr id="3" name="Content Placeholder 2">
            <a:extLst>
              <a:ext uri="{FF2B5EF4-FFF2-40B4-BE49-F238E27FC236}">
                <a16:creationId xmlns:a16="http://schemas.microsoft.com/office/drawing/2014/main" id="{EB9A063E-5A77-02FB-25CE-4B8CFAEC5AFF}"/>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60DE529A-B5E5-F57D-7835-8A733D4D1C98}"/>
              </a:ext>
            </a:extLst>
          </p:cNvPr>
          <p:cNvPicPr>
            <a:picLocks noChangeAspect="1"/>
          </p:cNvPicPr>
          <p:nvPr/>
        </p:nvPicPr>
        <p:blipFill>
          <a:blip r:embed="rId2"/>
          <a:stretch>
            <a:fillRect/>
          </a:stretch>
        </p:blipFill>
        <p:spPr>
          <a:xfrm>
            <a:off x="2705100" y="1836511"/>
            <a:ext cx="6934200" cy="5200650"/>
          </a:xfrm>
          <a:prstGeom prst="rect">
            <a:avLst/>
          </a:prstGeom>
        </p:spPr>
      </p:pic>
    </p:spTree>
    <p:extLst>
      <p:ext uri="{BB962C8B-B14F-4D97-AF65-F5344CB8AC3E}">
        <p14:creationId xmlns:p14="http://schemas.microsoft.com/office/powerpoint/2010/main" val="7433125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181350-7B85-D602-9376-2B7A22239A5D}"/>
              </a:ext>
            </a:extLst>
          </p:cNvPr>
          <p:cNvSpPr>
            <a:spLocks noGrp="1"/>
          </p:cNvSpPr>
          <p:nvPr>
            <p:ph type="title"/>
          </p:nvPr>
        </p:nvSpPr>
        <p:spPr/>
        <p:txBody>
          <a:bodyPr/>
          <a:lstStyle/>
          <a:p>
            <a:br>
              <a:rPr lang="en-US" dirty="0"/>
            </a:br>
            <a:r>
              <a:rPr lang="en-US" b="1" dirty="0"/>
              <a:t>Look at the person you’re talking to</a:t>
            </a:r>
            <a:endParaRPr lang="en-IN" b="1" dirty="0"/>
          </a:p>
        </p:txBody>
      </p:sp>
      <p:pic>
        <p:nvPicPr>
          <p:cNvPr id="4" name="Content Placeholder 3">
            <a:extLst>
              <a:ext uri="{FF2B5EF4-FFF2-40B4-BE49-F238E27FC236}">
                <a16:creationId xmlns:a16="http://schemas.microsoft.com/office/drawing/2014/main" id="{02C2903D-96C6-247F-FB45-3966304E0492}"/>
              </a:ext>
            </a:extLst>
          </p:cNvPr>
          <p:cNvPicPr>
            <a:picLocks noGrp="1" noChangeAspect="1"/>
          </p:cNvPicPr>
          <p:nvPr>
            <p:ph idx="1"/>
          </p:nvPr>
        </p:nvPicPr>
        <p:blipFill>
          <a:blip r:embed="rId2"/>
          <a:stretch>
            <a:fillRect/>
          </a:stretch>
        </p:blipFill>
        <p:spPr>
          <a:xfrm>
            <a:off x="2934456" y="1872343"/>
            <a:ext cx="6900636" cy="5175477"/>
          </a:xfrm>
          <a:prstGeom prst="rect">
            <a:avLst/>
          </a:prstGeom>
        </p:spPr>
      </p:pic>
    </p:spTree>
    <p:extLst>
      <p:ext uri="{BB962C8B-B14F-4D97-AF65-F5344CB8AC3E}">
        <p14:creationId xmlns:p14="http://schemas.microsoft.com/office/powerpoint/2010/main" val="11264805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12B5DB-6F1D-DB78-EC1F-B76FA8723F0A}"/>
              </a:ext>
            </a:extLst>
          </p:cNvPr>
          <p:cNvSpPr>
            <a:spLocks noGrp="1"/>
          </p:cNvSpPr>
          <p:nvPr>
            <p:ph type="title"/>
          </p:nvPr>
        </p:nvSpPr>
        <p:spPr/>
        <p:txBody>
          <a:bodyPr/>
          <a:lstStyle/>
          <a:p>
            <a:r>
              <a:rPr lang="en-US" b="1" dirty="0"/>
              <a:t>Use eye contact to show respect or attraction</a:t>
            </a:r>
            <a:endParaRPr lang="en-IN" b="1" dirty="0"/>
          </a:p>
        </p:txBody>
      </p:sp>
      <p:sp>
        <p:nvSpPr>
          <p:cNvPr id="3" name="Content Placeholder 2">
            <a:extLst>
              <a:ext uri="{FF2B5EF4-FFF2-40B4-BE49-F238E27FC236}">
                <a16:creationId xmlns:a16="http://schemas.microsoft.com/office/drawing/2014/main" id="{1A4A5AF4-1DF1-56EC-A85D-3D9CAF19EBF2}"/>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3BD1316B-67A9-CB45-7F70-DE04AA8321D3}"/>
              </a:ext>
            </a:extLst>
          </p:cNvPr>
          <p:cNvPicPr>
            <a:picLocks noChangeAspect="1"/>
          </p:cNvPicPr>
          <p:nvPr/>
        </p:nvPicPr>
        <p:blipFill>
          <a:blip r:embed="rId2"/>
          <a:stretch>
            <a:fillRect/>
          </a:stretch>
        </p:blipFill>
        <p:spPr>
          <a:xfrm>
            <a:off x="2579913" y="1468209"/>
            <a:ext cx="7462157" cy="5596618"/>
          </a:xfrm>
          <a:prstGeom prst="rect">
            <a:avLst/>
          </a:prstGeom>
        </p:spPr>
      </p:pic>
    </p:spTree>
    <p:extLst>
      <p:ext uri="{BB962C8B-B14F-4D97-AF65-F5344CB8AC3E}">
        <p14:creationId xmlns:p14="http://schemas.microsoft.com/office/powerpoint/2010/main" val="314499624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6924D5-606E-80B6-7D31-550E4700ED38}"/>
              </a:ext>
            </a:extLst>
          </p:cNvPr>
          <p:cNvSpPr>
            <a:spLocks noGrp="1"/>
          </p:cNvSpPr>
          <p:nvPr>
            <p:ph type="title"/>
          </p:nvPr>
        </p:nvSpPr>
        <p:spPr/>
        <p:txBody>
          <a:bodyPr>
            <a:normAutofit/>
          </a:bodyPr>
          <a:lstStyle/>
          <a:p>
            <a:r>
              <a:rPr lang="en-US" b="1" dirty="0"/>
              <a:t>Avoid defensive body language, like scowling or not making eye contact.</a:t>
            </a:r>
            <a:endParaRPr lang="en-IN" b="1" dirty="0"/>
          </a:p>
        </p:txBody>
      </p:sp>
      <p:pic>
        <p:nvPicPr>
          <p:cNvPr id="4" name="Content Placeholder 3">
            <a:extLst>
              <a:ext uri="{FF2B5EF4-FFF2-40B4-BE49-F238E27FC236}">
                <a16:creationId xmlns:a16="http://schemas.microsoft.com/office/drawing/2014/main" id="{037F15B4-2277-F359-A933-45E97B55D395}"/>
              </a:ext>
            </a:extLst>
          </p:cNvPr>
          <p:cNvPicPr>
            <a:picLocks noGrp="1" noChangeAspect="1"/>
          </p:cNvPicPr>
          <p:nvPr>
            <p:ph idx="1"/>
          </p:nvPr>
        </p:nvPicPr>
        <p:blipFill>
          <a:blip r:embed="rId2"/>
          <a:stretch>
            <a:fillRect/>
          </a:stretch>
        </p:blipFill>
        <p:spPr>
          <a:xfrm>
            <a:off x="2571298" y="1480458"/>
            <a:ext cx="7481509" cy="5611132"/>
          </a:xfrm>
          <a:prstGeom prst="rect">
            <a:avLst/>
          </a:prstGeom>
        </p:spPr>
      </p:pic>
    </p:spTree>
    <p:extLst>
      <p:ext uri="{BB962C8B-B14F-4D97-AF65-F5344CB8AC3E}">
        <p14:creationId xmlns:p14="http://schemas.microsoft.com/office/powerpoint/2010/main" val="6710484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662E1A-515E-34F0-9911-3F861C8FCCA2}"/>
              </a:ext>
            </a:extLst>
          </p:cNvPr>
          <p:cNvSpPr>
            <a:spLocks noGrp="1"/>
          </p:cNvSpPr>
          <p:nvPr>
            <p:ph type="title"/>
          </p:nvPr>
        </p:nvSpPr>
        <p:spPr/>
        <p:txBody>
          <a:bodyPr/>
          <a:lstStyle/>
          <a:p>
            <a:r>
              <a:rPr lang="en-US" b="1" dirty="0"/>
              <a:t>Stay engaged with your body language while listening to others talk.</a:t>
            </a:r>
            <a:endParaRPr lang="en-IN" b="1" dirty="0"/>
          </a:p>
        </p:txBody>
      </p:sp>
      <p:pic>
        <p:nvPicPr>
          <p:cNvPr id="4" name="Content Placeholder 3">
            <a:extLst>
              <a:ext uri="{FF2B5EF4-FFF2-40B4-BE49-F238E27FC236}">
                <a16:creationId xmlns:a16="http://schemas.microsoft.com/office/drawing/2014/main" id="{2401F353-15C6-E02C-3C31-57580CA7FD52}"/>
              </a:ext>
            </a:extLst>
          </p:cNvPr>
          <p:cNvPicPr>
            <a:picLocks noGrp="1" noChangeAspect="1"/>
          </p:cNvPicPr>
          <p:nvPr>
            <p:ph idx="1"/>
          </p:nvPr>
        </p:nvPicPr>
        <p:blipFill>
          <a:blip r:embed="rId2"/>
          <a:stretch>
            <a:fillRect/>
          </a:stretch>
        </p:blipFill>
        <p:spPr>
          <a:xfrm>
            <a:off x="2767541" y="1600201"/>
            <a:ext cx="7307036" cy="5480277"/>
          </a:xfrm>
          <a:prstGeom prst="rect">
            <a:avLst/>
          </a:prstGeom>
        </p:spPr>
      </p:pic>
    </p:spTree>
    <p:extLst>
      <p:ext uri="{BB962C8B-B14F-4D97-AF65-F5344CB8AC3E}">
        <p14:creationId xmlns:p14="http://schemas.microsoft.com/office/powerpoint/2010/main" val="15089909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BE3E16-90E8-7D50-3F9E-1B4FEDB4CB60}"/>
              </a:ext>
            </a:extLst>
          </p:cNvPr>
          <p:cNvSpPr>
            <a:spLocks noGrp="1"/>
          </p:cNvSpPr>
          <p:nvPr>
            <p:ph type="title"/>
          </p:nvPr>
        </p:nvSpPr>
        <p:spPr/>
        <p:txBody>
          <a:bodyPr/>
          <a:lstStyle/>
          <a:p>
            <a:r>
              <a:rPr lang="en-US" b="1" i="0" dirty="0">
                <a:solidFill>
                  <a:srgbClr val="545454"/>
                </a:solidFill>
                <a:effectLst/>
                <a:latin typeface="Helvetica" panose="020B0604020202020204" pitchFamily="34" charset="0"/>
              </a:rPr>
              <a:t>Look for nonverbal cues that show what someone is feeling.</a:t>
            </a:r>
            <a:endParaRPr lang="en-IN" dirty="0"/>
          </a:p>
        </p:txBody>
      </p:sp>
      <p:pic>
        <p:nvPicPr>
          <p:cNvPr id="4" name="Content Placeholder 3">
            <a:extLst>
              <a:ext uri="{FF2B5EF4-FFF2-40B4-BE49-F238E27FC236}">
                <a16:creationId xmlns:a16="http://schemas.microsoft.com/office/drawing/2014/main" id="{1CBBC4DE-B764-9889-5015-BAB6120C419D}"/>
              </a:ext>
            </a:extLst>
          </p:cNvPr>
          <p:cNvPicPr>
            <a:picLocks noGrp="1" noChangeAspect="1"/>
          </p:cNvPicPr>
          <p:nvPr>
            <p:ph idx="1"/>
          </p:nvPr>
        </p:nvPicPr>
        <p:blipFill>
          <a:blip r:embed="rId2"/>
          <a:stretch>
            <a:fillRect/>
          </a:stretch>
        </p:blipFill>
        <p:spPr>
          <a:xfrm>
            <a:off x="2471057" y="1836509"/>
            <a:ext cx="7004806" cy="5253605"/>
          </a:xfrm>
          <a:prstGeom prst="rect">
            <a:avLst/>
          </a:prstGeom>
        </p:spPr>
      </p:pic>
    </p:spTree>
    <p:extLst>
      <p:ext uri="{BB962C8B-B14F-4D97-AF65-F5344CB8AC3E}">
        <p14:creationId xmlns:p14="http://schemas.microsoft.com/office/powerpoint/2010/main" val="252244612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96B095-9A88-94E4-F1AE-9D77E8B6F077}"/>
              </a:ext>
            </a:extLst>
          </p:cNvPr>
          <p:cNvSpPr>
            <a:spLocks noGrp="1"/>
          </p:cNvSpPr>
          <p:nvPr>
            <p:ph type="title"/>
          </p:nvPr>
        </p:nvSpPr>
        <p:spPr/>
        <p:txBody>
          <a:bodyPr/>
          <a:lstStyle/>
          <a:p>
            <a:r>
              <a:rPr lang="en-US" b="1" i="0" dirty="0">
                <a:solidFill>
                  <a:srgbClr val="545454"/>
                </a:solidFill>
                <a:effectLst/>
                <a:latin typeface="Helvetica" panose="020B0604020202020204" pitchFamily="34" charset="0"/>
              </a:rPr>
              <a:t>Watch for nonverbal cues that mean someone is lying</a:t>
            </a:r>
            <a:endParaRPr lang="en-IN" dirty="0"/>
          </a:p>
        </p:txBody>
      </p:sp>
      <p:pic>
        <p:nvPicPr>
          <p:cNvPr id="4" name="Content Placeholder 3">
            <a:extLst>
              <a:ext uri="{FF2B5EF4-FFF2-40B4-BE49-F238E27FC236}">
                <a16:creationId xmlns:a16="http://schemas.microsoft.com/office/drawing/2014/main" id="{C232BF50-A36A-4D85-279F-9BD5ACAE429B}"/>
              </a:ext>
            </a:extLst>
          </p:cNvPr>
          <p:cNvPicPr>
            <a:picLocks noGrp="1" noChangeAspect="1"/>
          </p:cNvPicPr>
          <p:nvPr>
            <p:ph idx="1"/>
          </p:nvPr>
        </p:nvPicPr>
        <p:blipFill>
          <a:blip r:embed="rId2"/>
          <a:stretch>
            <a:fillRect/>
          </a:stretch>
        </p:blipFill>
        <p:spPr>
          <a:xfrm>
            <a:off x="2040316" y="1825625"/>
            <a:ext cx="6956576" cy="5217432"/>
          </a:xfrm>
          <a:prstGeom prst="rect">
            <a:avLst/>
          </a:prstGeom>
        </p:spPr>
      </p:pic>
    </p:spTree>
    <p:extLst>
      <p:ext uri="{BB962C8B-B14F-4D97-AF65-F5344CB8AC3E}">
        <p14:creationId xmlns:p14="http://schemas.microsoft.com/office/powerpoint/2010/main" val="153469718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0808B-1851-9927-D530-6C93FB73E3C2}"/>
              </a:ext>
            </a:extLst>
          </p:cNvPr>
          <p:cNvSpPr>
            <a:spLocks noGrp="1"/>
          </p:cNvSpPr>
          <p:nvPr>
            <p:ph type="title"/>
          </p:nvPr>
        </p:nvSpPr>
        <p:spPr>
          <a:xfrm>
            <a:off x="838200" y="18255"/>
            <a:ext cx="10515600" cy="1325563"/>
          </a:xfrm>
        </p:spPr>
        <p:txBody>
          <a:bodyPr>
            <a:normAutofit fontScale="90000"/>
          </a:bodyPr>
          <a:lstStyle/>
          <a:p>
            <a:br>
              <a:rPr lang="en-US" b="1" i="0" dirty="0">
                <a:solidFill>
                  <a:srgbClr val="545454"/>
                </a:solidFill>
                <a:effectLst/>
                <a:latin typeface="Helvetica" panose="020B0604020202020204" pitchFamily="34" charset="0"/>
              </a:rPr>
            </a:br>
            <a:r>
              <a:rPr lang="en-US" b="1" i="0" dirty="0">
                <a:solidFill>
                  <a:srgbClr val="545454"/>
                </a:solidFill>
                <a:effectLst/>
                <a:latin typeface="Helvetica" panose="020B0604020202020204" pitchFamily="34" charset="0"/>
              </a:rPr>
              <a:t>Gauge someone’s interest by looking for nods or smiles</a:t>
            </a:r>
            <a:endParaRPr lang="en-IN" dirty="0"/>
          </a:p>
        </p:txBody>
      </p:sp>
      <p:sp>
        <p:nvSpPr>
          <p:cNvPr id="3" name="Content Placeholder 2">
            <a:extLst>
              <a:ext uri="{FF2B5EF4-FFF2-40B4-BE49-F238E27FC236}">
                <a16:creationId xmlns:a16="http://schemas.microsoft.com/office/drawing/2014/main" id="{D323F654-8DA1-000C-E119-AFD614003F4D}"/>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11F3EFB5-4221-D374-2746-26DB2E9767DE}"/>
              </a:ext>
            </a:extLst>
          </p:cNvPr>
          <p:cNvPicPr>
            <a:picLocks noChangeAspect="1"/>
          </p:cNvPicPr>
          <p:nvPr/>
        </p:nvPicPr>
        <p:blipFill>
          <a:blip r:embed="rId2"/>
          <a:stretch>
            <a:fillRect/>
          </a:stretch>
        </p:blipFill>
        <p:spPr>
          <a:xfrm>
            <a:off x="2725057" y="1690688"/>
            <a:ext cx="7414985" cy="5561239"/>
          </a:xfrm>
          <a:prstGeom prst="rect">
            <a:avLst/>
          </a:prstGeom>
        </p:spPr>
      </p:pic>
    </p:spTree>
    <p:extLst>
      <p:ext uri="{BB962C8B-B14F-4D97-AF65-F5344CB8AC3E}">
        <p14:creationId xmlns:p14="http://schemas.microsoft.com/office/powerpoint/2010/main" val="172518951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2E560-B271-7CAD-8A6B-9F3117C8C974}"/>
              </a:ext>
            </a:extLst>
          </p:cNvPr>
          <p:cNvSpPr>
            <a:spLocks noGrp="1"/>
          </p:cNvSpPr>
          <p:nvPr>
            <p:ph type="title"/>
          </p:nvPr>
        </p:nvSpPr>
        <p:spPr>
          <a:xfrm>
            <a:off x="1451579" y="1011348"/>
            <a:ext cx="9902221" cy="915423"/>
          </a:xfrm>
        </p:spPr>
        <p:txBody>
          <a:bodyPr/>
          <a:lstStyle/>
          <a:p>
            <a:r>
              <a:rPr lang="en-US" b="1" dirty="0"/>
              <a:t>E. Decision-Making Skills</a:t>
            </a:r>
            <a:endParaRPr lang="en-IN" dirty="0"/>
          </a:p>
        </p:txBody>
      </p:sp>
      <p:sp>
        <p:nvSpPr>
          <p:cNvPr id="3" name="Content Placeholder 2">
            <a:extLst>
              <a:ext uri="{FF2B5EF4-FFF2-40B4-BE49-F238E27FC236}">
                <a16:creationId xmlns:a16="http://schemas.microsoft.com/office/drawing/2014/main" id="{D13139BD-E9D5-2ED7-EB0E-4E990D847EF6}"/>
              </a:ext>
            </a:extLst>
          </p:cNvPr>
          <p:cNvSpPr>
            <a:spLocks noGrp="1"/>
          </p:cNvSpPr>
          <p:nvPr>
            <p:ph idx="1"/>
          </p:nvPr>
        </p:nvSpPr>
        <p:spPr>
          <a:xfrm>
            <a:off x="566057" y="2015732"/>
            <a:ext cx="11473543" cy="3450613"/>
          </a:xfrm>
        </p:spPr>
        <p:txBody>
          <a:bodyPr>
            <a:normAutofit fontScale="92500" lnSpcReduction="10000"/>
          </a:bodyPr>
          <a:lstStyle/>
          <a:p>
            <a:pPr algn="just">
              <a:buFont typeface="Arial" panose="020B0604020202020204" pitchFamily="34" charset="0"/>
              <a:buChar char="•"/>
            </a:pPr>
            <a:r>
              <a:rPr lang="en-US" sz="2800" b="1" dirty="0"/>
              <a:t>Definition:</a:t>
            </a:r>
            <a:r>
              <a:rPr lang="en-US" sz="2800" dirty="0"/>
              <a:t> Decision-making skills are the ability to identify problems, evaluate alternatives, and choose the best possible solution from available options. In corporate world, good decision-making ensures that resources (time, money, people) are used effectively to achieve organizational goals.</a:t>
            </a:r>
          </a:p>
          <a:p>
            <a:pPr>
              <a:buFont typeface="Arial" panose="020B0604020202020204" pitchFamily="34" charset="0"/>
              <a:buChar char="•"/>
            </a:pPr>
            <a:r>
              <a:rPr lang="en-US" sz="2800" b="1" dirty="0"/>
              <a:t>Example:</a:t>
            </a:r>
            <a:endParaRPr lang="en-US" sz="2800" dirty="0"/>
          </a:p>
          <a:p>
            <a:pPr marL="742950" lvl="1" indent="-285750">
              <a:buFont typeface="Arial" panose="020B0604020202020204" pitchFamily="34" charset="0"/>
              <a:buChar char="•"/>
            </a:pPr>
            <a:r>
              <a:rPr lang="en-US" sz="2400" dirty="0"/>
              <a:t>Choosing between two suppliers based on price, quality, and reliability.</a:t>
            </a:r>
          </a:p>
          <a:p>
            <a:pPr>
              <a:buFont typeface="Arial" panose="020B0604020202020204" pitchFamily="34" charset="0"/>
              <a:buChar char="•"/>
            </a:pPr>
            <a:r>
              <a:rPr lang="en-US" sz="2800" b="1" dirty="0"/>
              <a:t>Why important:</a:t>
            </a:r>
            <a:r>
              <a:rPr lang="en-US" sz="2800" dirty="0"/>
              <a:t> Impacts efficiency, cost, and organizational success.</a:t>
            </a:r>
          </a:p>
          <a:p>
            <a:endParaRPr lang="en-IN" dirty="0"/>
          </a:p>
        </p:txBody>
      </p:sp>
    </p:spTree>
    <p:extLst>
      <p:ext uri="{BB962C8B-B14F-4D97-AF65-F5344CB8AC3E}">
        <p14:creationId xmlns:p14="http://schemas.microsoft.com/office/powerpoint/2010/main" val="50200833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67A3C2-6F73-C5F9-A453-B96A441D0BB6}"/>
              </a:ext>
            </a:extLst>
          </p:cNvPr>
          <p:cNvSpPr>
            <a:spLocks noGrp="1"/>
          </p:cNvSpPr>
          <p:nvPr>
            <p:ph type="title"/>
          </p:nvPr>
        </p:nvSpPr>
        <p:spPr/>
        <p:txBody>
          <a:bodyPr/>
          <a:lstStyle/>
          <a:p>
            <a:r>
              <a:rPr lang="en-US" b="1" dirty="0"/>
              <a:t>Steps in Decision-Making Process:</a:t>
            </a:r>
            <a:endParaRPr lang="en-IN" dirty="0"/>
          </a:p>
        </p:txBody>
      </p:sp>
      <p:sp>
        <p:nvSpPr>
          <p:cNvPr id="3" name="Content Placeholder 2">
            <a:extLst>
              <a:ext uri="{FF2B5EF4-FFF2-40B4-BE49-F238E27FC236}">
                <a16:creationId xmlns:a16="http://schemas.microsoft.com/office/drawing/2014/main" id="{84D0288B-480A-0CAA-21C7-F00C7065BC10}"/>
              </a:ext>
            </a:extLst>
          </p:cNvPr>
          <p:cNvSpPr>
            <a:spLocks noGrp="1"/>
          </p:cNvSpPr>
          <p:nvPr>
            <p:ph idx="1"/>
          </p:nvPr>
        </p:nvSpPr>
        <p:spPr>
          <a:xfrm>
            <a:off x="631373" y="1886127"/>
            <a:ext cx="11908970" cy="4167354"/>
          </a:xfrm>
        </p:spPr>
        <p:txBody>
          <a:bodyPr>
            <a:normAutofit fontScale="92500" lnSpcReduction="10000"/>
          </a:bodyPr>
          <a:lstStyle/>
          <a:p>
            <a:pPr>
              <a:buFont typeface="+mj-lt"/>
              <a:buAutoNum type="arabicPeriod"/>
            </a:pPr>
            <a:r>
              <a:rPr lang="en-US" sz="2600" b="1" dirty="0"/>
              <a:t>Identify the Problem</a:t>
            </a:r>
            <a:r>
              <a:rPr lang="en-US" sz="2600" dirty="0"/>
              <a:t> – Understand what needs to be solved.</a:t>
            </a:r>
          </a:p>
          <a:p>
            <a:pPr>
              <a:buFont typeface="+mj-lt"/>
              <a:buAutoNum type="arabicPeriod"/>
            </a:pPr>
            <a:r>
              <a:rPr lang="en-US" sz="2600" b="1" dirty="0"/>
              <a:t>Gather Information</a:t>
            </a:r>
            <a:r>
              <a:rPr lang="en-US" sz="2600" dirty="0"/>
              <a:t> – Collect relevant data, facts, and feedback.</a:t>
            </a:r>
          </a:p>
          <a:p>
            <a:pPr>
              <a:buFont typeface="+mj-lt"/>
              <a:buAutoNum type="arabicPeriod"/>
            </a:pPr>
            <a:r>
              <a:rPr lang="en-US" sz="2600" b="1" dirty="0"/>
              <a:t>Generate Alternatives</a:t>
            </a:r>
            <a:r>
              <a:rPr lang="en-US" sz="2600" dirty="0"/>
              <a:t> – List possible courses of action.</a:t>
            </a:r>
          </a:p>
          <a:p>
            <a:pPr>
              <a:buFont typeface="+mj-lt"/>
              <a:buAutoNum type="arabicPeriod"/>
            </a:pPr>
            <a:r>
              <a:rPr lang="en-US" sz="2600" b="1" dirty="0"/>
              <a:t>Evaluate Alternatives</a:t>
            </a:r>
            <a:r>
              <a:rPr lang="en-US" sz="2600" dirty="0"/>
              <a:t> – Analyze pros and cons, risks, and feasibility.</a:t>
            </a:r>
          </a:p>
          <a:p>
            <a:pPr>
              <a:buFont typeface="+mj-lt"/>
              <a:buAutoNum type="arabicPeriod"/>
            </a:pPr>
            <a:r>
              <a:rPr lang="en-US" sz="2600" b="1" dirty="0"/>
              <a:t>Choose the Best Option</a:t>
            </a:r>
            <a:r>
              <a:rPr lang="en-US" sz="2600" dirty="0"/>
              <a:t> – Select the most effective solution.</a:t>
            </a:r>
          </a:p>
          <a:p>
            <a:pPr>
              <a:buFont typeface="+mj-lt"/>
              <a:buAutoNum type="arabicPeriod"/>
            </a:pPr>
            <a:r>
              <a:rPr lang="en-US" sz="2600" b="1" dirty="0"/>
              <a:t>Implement the Decision</a:t>
            </a:r>
            <a:r>
              <a:rPr lang="en-US" sz="2600" dirty="0"/>
              <a:t> – Put the choice into action.</a:t>
            </a:r>
          </a:p>
          <a:p>
            <a:pPr>
              <a:buFont typeface="+mj-lt"/>
              <a:buAutoNum type="arabicPeriod"/>
            </a:pPr>
            <a:r>
              <a:rPr lang="en-US" sz="2600" b="1" dirty="0"/>
              <a:t>Review the Results</a:t>
            </a:r>
            <a:r>
              <a:rPr lang="en-US" sz="2600" dirty="0"/>
              <a:t> – Check if the decision solved the problem; make improvements if needed.</a:t>
            </a:r>
          </a:p>
          <a:p>
            <a:endParaRPr lang="en-IN" dirty="0"/>
          </a:p>
        </p:txBody>
      </p:sp>
    </p:spTree>
    <p:extLst>
      <p:ext uri="{BB962C8B-B14F-4D97-AF65-F5344CB8AC3E}">
        <p14:creationId xmlns:p14="http://schemas.microsoft.com/office/powerpoint/2010/main" val="133480576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88FBA-0D32-7B30-ED7D-3D43F330B5E7}"/>
              </a:ext>
            </a:extLst>
          </p:cNvPr>
          <p:cNvSpPr>
            <a:spLocks noGrp="1"/>
          </p:cNvSpPr>
          <p:nvPr>
            <p:ph type="title"/>
          </p:nvPr>
        </p:nvSpPr>
        <p:spPr/>
        <p:txBody>
          <a:bodyPr/>
          <a:lstStyle/>
          <a:p>
            <a:r>
              <a:rPr lang="en-US" b="1" dirty="0"/>
              <a:t>Example in Business Context:</a:t>
            </a:r>
            <a:endParaRPr lang="en-IN" dirty="0"/>
          </a:p>
        </p:txBody>
      </p:sp>
      <p:sp>
        <p:nvSpPr>
          <p:cNvPr id="3" name="Content Placeholder 2">
            <a:extLst>
              <a:ext uri="{FF2B5EF4-FFF2-40B4-BE49-F238E27FC236}">
                <a16:creationId xmlns:a16="http://schemas.microsoft.com/office/drawing/2014/main" id="{4ECED56B-7BD9-4E41-9021-98FFFB4EFFFD}"/>
              </a:ext>
            </a:extLst>
          </p:cNvPr>
          <p:cNvSpPr>
            <a:spLocks noGrp="1"/>
          </p:cNvSpPr>
          <p:nvPr>
            <p:ph idx="1"/>
          </p:nvPr>
        </p:nvSpPr>
        <p:spPr>
          <a:xfrm>
            <a:off x="566057" y="2015732"/>
            <a:ext cx="11506200" cy="4037749"/>
          </a:xfrm>
        </p:spPr>
        <p:txBody>
          <a:bodyPr>
            <a:normAutofit lnSpcReduction="10000"/>
          </a:bodyPr>
          <a:lstStyle/>
          <a:p>
            <a:pPr>
              <a:buFont typeface="Arial" panose="020B0604020202020204" pitchFamily="34" charset="0"/>
              <a:buChar char="•"/>
            </a:pPr>
            <a:r>
              <a:rPr lang="en-US" sz="2600" dirty="0"/>
              <a:t>A retail store manager notices falling sales.</a:t>
            </a:r>
          </a:p>
          <a:p>
            <a:pPr marL="742950" lvl="1" indent="-285750">
              <a:buFont typeface="Arial" panose="020B0604020202020204" pitchFamily="34" charset="0"/>
              <a:buChar char="•"/>
            </a:pPr>
            <a:r>
              <a:rPr lang="en-US" sz="2200" b="1" dirty="0"/>
              <a:t>Problem:</a:t>
            </a:r>
            <a:r>
              <a:rPr lang="en-US" sz="2200" dirty="0"/>
              <a:t> Why are sales dropping?</a:t>
            </a:r>
          </a:p>
          <a:p>
            <a:pPr marL="742950" lvl="1" indent="-285750">
              <a:buFont typeface="Arial" panose="020B0604020202020204" pitchFamily="34" charset="0"/>
              <a:buChar char="•"/>
            </a:pPr>
            <a:r>
              <a:rPr lang="en-US" sz="2200" b="1" dirty="0"/>
              <a:t>Alternatives:</a:t>
            </a:r>
            <a:r>
              <a:rPr lang="en-US" sz="2200" dirty="0"/>
              <a:t> (a) Give discounts, (b) Improve store design, (c) Launch social media promotions.</a:t>
            </a:r>
          </a:p>
          <a:p>
            <a:pPr marL="742950" lvl="1" indent="-285750">
              <a:buFont typeface="Arial" panose="020B0604020202020204" pitchFamily="34" charset="0"/>
              <a:buChar char="•"/>
            </a:pPr>
            <a:r>
              <a:rPr lang="en-US" sz="2200" b="1" dirty="0"/>
              <a:t>Evaluation:</a:t>
            </a:r>
            <a:r>
              <a:rPr lang="en-US" sz="2200" dirty="0"/>
              <a:t> Discounts bring quick sales but reduce profit; redesign is costly; social media is low-cost and reaches more youth.</a:t>
            </a:r>
          </a:p>
          <a:p>
            <a:pPr marL="742950" lvl="1" indent="-285750">
              <a:buFont typeface="Arial" panose="020B0604020202020204" pitchFamily="34" charset="0"/>
              <a:buChar char="•"/>
            </a:pPr>
            <a:r>
              <a:rPr lang="en-US" sz="2200" b="1" dirty="0"/>
              <a:t>Decision:</a:t>
            </a:r>
            <a:r>
              <a:rPr lang="en-US" sz="2200" dirty="0"/>
              <a:t> Launch a social media campaign.</a:t>
            </a:r>
          </a:p>
          <a:p>
            <a:pPr marL="742950" lvl="1" indent="-285750">
              <a:buFont typeface="Arial" panose="020B0604020202020204" pitchFamily="34" charset="0"/>
              <a:buChar char="•"/>
            </a:pPr>
            <a:r>
              <a:rPr lang="en-US" sz="2200" b="1" dirty="0"/>
              <a:t>Implementation:</a:t>
            </a:r>
            <a:r>
              <a:rPr lang="en-US" sz="2200" dirty="0"/>
              <a:t> Create Instagram ads and collaborate with influencers.</a:t>
            </a:r>
          </a:p>
          <a:p>
            <a:pPr marL="742950" lvl="1" indent="-285750">
              <a:buFont typeface="Arial" panose="020B0604020202020204" pitchFamily="34" charset="0"/>
              <a:buChar char="•"/>
            </a:pPr>
            <a:r>
              <a:rPr lang="en-US" sz="2200" b="1" dirty="0"/>
              <a:t>Review:</a:t>
            </a:r>
            <a:r>
              <a:rPr lang="en-US" sz="2200" dirty="0"/>
              <a:t> Monitor if sales improve over the next month.</a:t>
            </a:r>
          </a:p>
          <a:p>
            <a:endParaRPr lang="en-IN" dirty="0"/>
          </a:p>
        </p:txBody>
      </p:sp>
    </p:spTree>
    <p:extLst>
      <p:ext uri="{BB962C8B-B14F-4D97-AF65-F5344CB8AC3E}">
        <p14:creationId xmlns:p14="http://schemas.microsoft.com/office/powerpoint/2010/main" val="153214188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CF1CC-5D98-7EFD-0A9A-3DB85E6E744F}"/>
              </a:ext>
            </a:extLst>
          </p:cNvPr>
          <p:cNvSpPr>
            <a:spLocks noGrp="1"/>
          </p:cNvSpPr>
          <p:nvPr>
            <p:ph type="title"/>
          </p:nvPr>
        </p:nvSpPr>
        <p:spPr/>
        <p:txBody>
          <a:bodyPr/>
          <a:lstStyle/>
          <a:p>
            <a:r>
              <a:rPr lang="en-US" b="1" dirty="0"/>
              <a:t>Why Important:</a:t>
            </a:r>
            <a:endParaRPr lang="en-IN" dirty="0"/>
          </a:p>
        </p:txBody>
      </p:sp>
      <p:sp>
        <p:nvSpPr>
          <p:cNvPr id="3" name="Content Placeholder 2">
            <a:extLst>
              <a:ext uri="{FF2B5EF4-FFF2-40B4-BE49-F238E27FC236}">
                <a16:creationId xmlns:a16="http://schemas.microsoft.com/office/drawing/2014/main" id="{808DF493-5E31-272D-A0D1-603D25928662}"/>
              </a:ext>
            </a:extLst>
          </p:cNvPr>
          <p:cNvSpPr>
            <a:spLocks noGrp="1"/>
          </p:cNvSpPr>
          <p:nvPr>
            <p:ph idx="1"/>
          </p:nvPr>
        </p:nvSpPr>
        <p:spPr>
          <a:xfrm>
            <a:off x="751113" y="2004846"/>
            <a:ext cx="10423483" cy="3450613"/>
          </a:xfrm>
        </p:spPr>
        <p:txBody>
          <a:bodyPr/>
          <a:lstStyle/>
          <a:p>
            <a:pPr>
              <a:buFont typeface="Arial" panose="020B0604020202020204" pitchFamily="34" charset="0"/>
              <a:buChar char="•"/>
            </a:pPr>
            <a:r>
              <a:rPr lang="en-US" sz="2800" dirty="0"/>
              <a:t>Managers make decisions daily (e.g., hiring staff, allocating budget, launching products).</a:t>
            </a:r>
          </a:p>
          <a:p>
            <a:pPr>
              <a:buFont typeface="Arial" panose="020B0604020202020204" pitchFamily="34" charset="0"/>
              <a:buChar char="•"/>
            </a:pPr>
            <a:r>
              <a:rPr lang="en-US" sz="2800" dirty="0"/>
              <a:t>Poor decisions can lead to financial losses, low employee morale, or missed opportunities.</a:t>
            </a:r>
          </a:p>
          <a:p>
            <a:pPr>
              <a:buFont typeface="Arial" panose="020B0604020202020204" pitchFamily="34" charset="0"/>
              <a:buChar char="•"/>
            </a:pPr>
            <a:r>
              <a:rPr lang="en-US" sz="2800" dirty="0"/>
              <a:t>Good decision-making helps organizations stay competitive and achieve long-term success.</a:t>
            </a:r>
          </a:p>
          <a:p>
            <a:pPr marL="0" indent="0">
              <a:buNone/>
            </a:pPr>
            <a:endParaRPr lang="en-IN" dirty="0"/>
          </a:p>
        </p:txBody>
      </p:sp>
    </p:spTree>
    <p:extLst>
      <p:ext uri="{BB962C8B-B14F-4D97-AF65-F5344CB8AC3E}">
        <p14:creationId xmlns:p14="http://schemas.microsoft.com/office/powerpoint/2010/main" val="295251895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7C1145A-D058-C16A-8439-5F50141A4B5D}"/>
              </a:ext>
            </a:extLst>
          </p:cNvPr>
          <p:cNvSpPr>
            <a:spLocks noGrp="1"/>
          </p:cNvSpPr>
          <p:nvPr>
            <p:ph idx="1"/>
          </p:nvPr>
        </p:nvSpPr>
        <p:spPr>
          <a:xfrm>
            <a:off x="0" y="-21613"/>
            <a:ext cx="11720135" cy="3450613"/>
          </a:xfrm>
        </p:spPr>
        <p:txBody>
          <a:bodyPr/>
          <a:lstStyle/>
          <a:p>
            <a:pPr>
              <a:buNone/>
            </a:pPr>
            <a:r>
              <a:rPr lang="en-US" sz="2400" b="1" dirty="0"/>
              <a:t>Case: The Bookstore in Trouble</a:t>
            </a:r>
            <a:br>
              <a:rPr lang="en-US" sz="2400" dirty="0"/>
            </a:br>
            <a:r>
              <a:rPr lang="en-US" sz="2400" dirty="0"/>
              <a:t>“Readers’ Point,” a small independent bookstore, has seen sales decline because most students are buying e-books or shopping online. The owner wants to revive the business but which of the following can be a better option for him?</a:t>
            </a:r>
            <a:endParaRPr lang="en-IN" dirty="0"/>
          </a:p>
        </p:txBody>
      </p:sp>
      <p:sp>
        <p:nvSpPr>
          <p:cNvPr id="5" name="TextBox 4">
            <a:extLst>
              <a:ext uri="{FF2B5EF4-FFF2-40B4-BE49-F238E27FC236}">
                <a16:creationId xmlns:a16="http://schemas.microsoft.com/office/drawing/2014/main" id="{CF1CF486-A301-57D1-95CC-EBB6CC4FDFB8}"/>
              </a:ext>
            </a:extLst>
          </p:cNvPr>
          <p:cNvSpPr txBox="1"/>
          <p:nvPr/>
        </p:nvSpPr>
        <p:spPr>
          <a:xfrm>
            <a:off x="568779" y="2356866"/>
            <a:ext cx="7791450" cy="1815882"/>
          </a:xfrm>
          <a:prstGeom prst="rect">
            <a:avLst/>
          </a:prstGeom>
          <a:noFill/>
        </p:spPr>
        <p:txBody>
          <a:bodyPr wrap="square">
            <a:spAutoFit/>
          </a:bodyPr>
          <a:lstStyle/>
          <a:p>
            <a:pPr marL="514350" indent="-514350">
              <a:buAutoNum type="arabicPeriod"/>
            </a:pPr>
            <a:r>
              <a:rPr lang="en-IN" sz="2800" b="1" dirty="0"/>
              <a:t>Launch an Online Store</a:t>
            </a:r>
          </a:p>
          <a:p>
            <a:pPr marL="514350" indent="-514350">
              <a:buAutoNum type="arabicPeriod"/>
            </a:pPr>
            <a:r>
              <a:rPr lang="en-IN" sz="2800" b="1" dirty="0"/>
              <a:t>Transform into a Café-Bookstore</a:t>
            </a:r>
          </a:p>
          <a:p>
            <a:pPr marL="514350" indent="-514350">
              <a:buAutoNum type="arabicPeriod"/>
            </a:pPr>
            <a:r>
              <a:rPr lang="en-IN" sz="2800" b="1" dirty="0"/>
              <a:t>Organize Events &amp; Membership Programs</a:t>
            </a:r>
          </a:p>
          <a:p>
            <a:pPr marL="514350" indent="-514350">
              <a:buAutoNum type="arabicPeriod"/>
            </a:pPr>
            <a:r>
              <a:rPr lang="en-US" sz="2800" b="1" dirty="0"/>
              <a:t>Partner with Colleges and Institutions</a:t>
            </a:r>
            <a:endParaRPr lang="en-IN" sz="2800" b="1" dirty="0"/>
          </a:p>
        </p:txBody>
      </p:sp>
    </p:spTree>
    <p:extLst>
      <p:ext uri="{BB962C8B-B14F-4D97-AF65-F5344CB8AC3E}">
        <p14:creationId xmlns:p14="http://schemas.microsoft.com/office/powerpoint/2010/main" val="23382627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CA6479-8415-C6E3-E66B-A812A9EC277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91C29A4-987B-8519-8A32-79D2B75EE9B1}"/>
              </a:ext>
            </a:extLst>
          </p:cNvPr>
          <p:cNvSpPr>
            <a:spLocks noGrp="1"/>
          </p:cNvSpPr>
          <p:nvPr>
            <p:ph idx="1"/>
          </p:nvPr>
        </p:nvSpPr>
        <p:spPr>
          <a:xfrm>
            <a:off x="235932" y="76360"/>
            <a:ext cx="11720135" cy="1621812"/>
          </a:xfrm>
        </p:spPr>
        <p:txBody>
          <a:bodyPr/>
          <a:lstStyle/>
          <a:p>
            <a:pPr>
              <a:buNone/>
            </a:pPr>
            <a:r>
              <a:rPr lang="en-US" sz="2000" b="1" dirty="0"/>
              <a:t>Case: Tech Startup Struggling with Low App Downloads</a:t>
            </a:r>
            <a:br>
              <a:rPr lang="en-US" sz="2000" dirty="0"/>
            </a:br>
            <a:r>
              <a:rPr lang="en-US" sz="2000" dirty="0"/>
              <a:t>A BCA–BBA student team has developed a mobile app called </a:t>
            </a:r>
            <a:r>
              <a:rPr lang="en-US" sz="2000" b="1" dirty="0"/>
              <a:t>“</a:t>
            </a:r>
            <a:r>
              <a:rPr lang="en-US" sz="2000" b="1" dirty="0" err="1"/>
              <a:t>StudyBuddy</a:t>
            </a:r>
            <a:r>
              <a:rPr lang="en-US" sz="2000" b="1" dirty="0"/>
              <a:t>”</a:t>
            </a:r>
            <a:r>
              <a:rPr lang="en-US" sz="2000" dirty="0"/>
              <a:t> that helps college students organize timetables, track assignments, and share study resources. However, after 3 months, downloads are far below expectations. The team must decide how to increase adoption.</a:t>
            </a:r>
          </a:p>
          <a:p>
            <a:endParaRPr lang="en-IN" dirty="0"/>
          </a:p>
        </p:txBody>
      </p:sp>
      <p:sp>
        <p:nvSpPr>
          <p:cNvPr id="5" name="TextBox 4">
            <a:extLst>
              <a:ext uri="{FF2B5EF4-FFF2-40B4-BE49-F238E27FC236}">
                <a16:creationId xmlns:a16="http://schemas.microsoft.com/office/drawing/2014/main" id="{8D98A4D0-7D3A-482B-4511-E5C8502055EF}"/>
              </a:ext>
            </a:extLst>
          </p:cNvPr>
          <p:cNvSpPr txBox="1"/>
          <p:nvPr/>
        </p:nvSpPr>
        <p:spPr>
          <a:xfrm>
            <a:off x="536121" y="2397948"/>
            <a:ext cx="9043307" cy="2062103"/>
          </a:xfrm>
          <a:prstGeom prst="rect">
            <a:avLst/>
          </a:prstGeom>
          <a:noFill/>
        </p:spPr>
        <p:txBody>
          <a:bodyPr wrap="square">
            <a:spAutoFit/>
          </a:bodyPr>
          <a:lstStyle/>
          <a:p>
            <a:pPr marL="514350" indent="-514350">
              <a:buAutoNum type="arabicPeriod"/>
            </a:pPr>
            <a:r>
              <a:rPr lang="en-IN" sz="3200" b="1" dirty="0"/>
              <a:t>Run a Social Media Campaign</a:t>
            </a:r>
          </a:p>
          <a:p>
            <a:pPr marL="514350" indent="-514350">
              <a:buAutoNum type="arabicPeriod"/>
            </a:pPr>
            <a:r>
              <a:rPr lang="en-IN" sz="3200" b="1" dirty="0"/>
              <a:t>Offer Referral Rewards</a:t>
            </a:r>
          </a:p>
          <a:p>
            <a:pPr marL="514350" indent="-514350">
              <a:buAutoNum type="arabicPeriod"/>
            </a:pPr>
            <a:r>
              <a:rPr lang="en-IN" sz="3200" b="1" dirty="0"/>
              <a:t>Collaborate with Colleges</a:t>
            </a:r>
          </a:p>
          <a:p>
            <a:pPr marL="514350" indent="-514350">
              <a:buAutoNum type="arabicPeriod"/>
            </a:pPr>
            <a:r>
              <a:rPr lang="en-IN" sz="3200" b="1" dirty="0"/>
              <a:t>Add New Engaging Features</a:t>
            </a:r>
          </a:p>
        </p:txBody>
      </p:sp>
    </p:spTree>
    <p:extLst>
      <p:ext uri="{BB962C8B-B14F-4D97-AF65-F5344CB8AC3E}">
        <p14:creationId xmlns:p14="http://schemas.microsoft.com/office/powerpoint/2010/main" val="116703023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6FF2EF-D04B-EC0C-BA4F-57D3D6F361AB}"/>
              </a:ext>
            </a:extLst>
          </p:cNvPr>
          <p:cNvSpPr>
            <a:spLocks noGrp="1"/>
          </p:cNvSpPr>
          <p:nvPr>
            <p:ph type="title"/>
          </p:nvPr>
        </p:nvSpPr>
        <p:spPr/>
        <p:txBody>
          <a:bodyPr/>
          <a:lstStyle/>
          <a:p>
            <a:r>
              <a:rPr lang="en-US" dirty="0"/>
              <a:t>Product Launch – </a:t>
            </a:r>
            <a:r>
              <a:rPr lang="en-US" b="1" dirty="0">
                <a:solidFill>
                  <a:srgbClr val="FF0000"/>
                </a:solidFill>
              </a:rPr>
              <a:t>Task 1 for 5 MARKS</a:t>
            </a:r>
            <a:endParaRPr lang="en-IN" b="1" dirty="0">
              <a:solidFill>
                <a:srgbClr val="FF0000"/>
              </a:solidFill>
            </a:endParaRPr>
          </a:p>
        </p:txBody>
      </p:sp>
      <p:sp>
        <p:nvSpPr>
          <p:cNvPr id="3" name="Content Placeholder 2">
            <a:extLst>
              <a:ext uri="{FF2B5EF4-FFF2-40B4-BE49-F238E27FC236}">
                <a16:creationId xmlns:a16="http://schemas.microsoft.com/office/drawing/2014/main" id="{B36AFF07-EDA9-C96C-443A-C1230C3C4968}"/>
              </a:ext>
            </a:extLst>
          </p:cNvPr>
          <p:cNvSpPr>
            <a:spLocks noGrp="1"/>
          </p:cNvSpPr>
          <p:nvPr>
            <p:ph idx="1"/>
          </p:nvPr>
        </p:nvSpPr>
        <p:spPr/>
        <p:txBody>
          <a:bodyPr>
            <a:normAutofit fontScale="92500" lnSpcReduction="20000"/>
          </a:bodyPr>
          <a:lstStyle/>
          <a:p>
            <a:r>
              <a:rPr lang="en-US" b="1" dirty="0"/>
              <a:t>Company Name</a:t>
            </a:r>
            <a:endParaRPr lang="en-IN" b="1" dirty="0"/>
          </a:p>
          <a:p>
            <a:r>
              <a:rPr lang="en-IN" b="1" dirty="0"/>
              <a:t>Product Name with Tagline</a:t>
            </a:r>
          </a:p>
          <a:p>
            <a:r>
              <a:rPr lang="en-IN" b="1" dirty="0"/>
              <a:t>Features</a:t>
            </a:r>
          </a:p>
          <a:p>
            <a:r>
              <a:rPr lang="en-IN" b="1" dirty="0"/>
              <a:t>Price/Cost/Revenue</a:t>
            </a:r>
          </a:p>
          <a:p>
            <a:r>
              <a:rPr lang="en-IN" b="1" dirty="0"/>
              <a:t>Source of Investment</a:t>
            </a:r>
          </a:p>
          <a:p>
            <a:r>
              <a:rPr lang="en-IN" b="1" dirty="0"/>
              <a:t>Strategy of Marketing</a:t>
            </a:r>
          </a:p>
          <a:p>
            <a:r>
              <a:rPr lang="en-IN" b="1" dirty="0"/>
              <a:t>Subproducts(if any)</a:t>
            </a:r>
          </a:p>
          <a:p>
            <a:r>
              <a:rPr lang="en-IN" b="1" dirty="0"/>
              <a:t>Brand Ambassador</a:t>
            </a:r>
          </a:p>
          <a:p>
            <a:r>
              <a:rPr lang="en-IN" b="1" dirty="0"/>
              <a:t>Future Plan of Action</a:t>
            </a:r>
          </a:p>
          <a:p>
            <a:endParaRPr lang="en-US" dirty="0"/>
          </a:p>
        </p:txBody>
      </p:sp>
    </p:spTree>
    <p:extLst>
      <p:ext uri="{BB962C8B-B14F-4D97-AF65-F5344CB8AC3E}">
        <p14:creationId xmlns:p14="http://schemas.microsoft.com/office/powerpoint/2010/main" val="157943131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F9F5CE-F5E3-E7AB-2098-FF297B5CC59A}"/>
              </a:ext>
            </a:extLst>
          </p:cNvPr>
          <p:cNvSpPr>
            <a:spLocks noGrp="1"/>
          </p:cNvSpPr>
          <p:nvPr>
            <p:ph type="title"/>
          </p:nvPr>
        </p:nvSpPr>
        <p:spPr>
          <a:xfrm>
            <a:off x="493637" y="827314"/>
            <a:ext cx="9603275" cy="1049235"/>
          </a:xfrm>
        </p:spPr>
        <p:txBody>
          <a:bodyPr/>
          <a:lstStyle/>
          <a:p>
            <a:r>
              <a:rPr lang="en-US" b="1" dirty="0"/>
              <a:t>F.  Time Management Skills</a:t>
            </a:r>
            <a:br>
              <a:rPr lang="en-US" b="1" dirty="0"/>
            </a:br>
            <a:endParaRPr lang="en-IN" dirty="0"/>
          </a:p>
        </p:txBody>
      </p:sp>
      <p:sp>
        <p:nvSpPr>
          <p:cNvPr id="3" name="Content Placeholder 2">
            <a:extLst>
              <a:ext uri="{FF2B5EF4-FFF2-40B4-BE49-F238E27FC236}">
                <a16:creationId xmlns:a16="http://schemas.microsoft.com/office/drawing/2014/main" id="{132DC11B-2024-BFA9-A2E3-05201A406884}"/>
              </a:ext>
            </a:extLst>
          </p:cNvPr>
          <p:cNvSpPr>
            <a:spLocks noGrp="1"/>
          </p:cNvSpPr>
          <p:nvPr>
            <p:ph idx="1"/>
          </p:nvPr>
        </p:nvSpPr>
        <p:spPr>
          <a:xfrm>
            <a:off x="141515" y="2015732"/>
            <a:ext cx="11713028" cy="4014954"/>
          </a:xfrm>
        </p:spPr>
        <p:txBody>
          <a:bodyPr/>
          <a:lstStyle/>
          <a:p>
            <a:pPr>
              <a:buFont typeface="Arial" panose="020B0604020202020204" pitchFamily="34" charset="0"/>
              <a:buChar char="•"/>
            </a:pPr>
            <a:r>
              <a:rPr lang="en-US" b="1" dirty="0"/>
              <a:t>Definition:</a:t>
            </a:r>
            <a:r>
              <a:rPr lang="en-US" dirty="0"/>
              <a:t> Time management skills are the ability to plan, prioritize, and allocate time effectively to complete tasks within deadlines.</a:t>
            </a:r>
          </a:p>
          <a:p>
            <a:pPr>
              <a:buFont typeface="Arial" panose="020B0604020202020204" pitchFamily="34" charset="0"/>
              <a:buChar char="•"/>
            </a:pPr>
            <a:r>
              <a:rPr lang="en-US" dirty="0"/>
              <a:t>It means working smarter, not harder — ensuring important tasks get done without unnecessary stress.</a:t>
            </a:r>
          </a:p>
          <a:p>
            <a:pPr>
              <a:buFont typeface="Arial" panose="020B0604020202020204" pitchFamily="34" charset="0"/>
              <a:buChar char="•"/>
            </a:pPr>
            <a:r>
              <a:rPr lang="en-US" b="1" dirty="0"/>
              <a:t>Example:</a:t>
            </a:r>
            <a:endParaRPr lang="en-US" dirty="0"/>
          </a:p>
          <a:p>
            <a:pPr marL="742950" lvl="1" indent="-285750">
              <a:buFont typeface="Arial" panose="020B0604020202020204" pitchFamily="34" charset="0"/>
              <a:buChar char="•"/>
            </a:pPr>
            <a:r>
              <a:rPr lang="en-US" dirty="0"/>
              <a:t>A manager planning the week to ensure deadlines are met.</a:t>
            </a:r>
          </a:p>
          <a:p>
            <a:pPr>
              <a:buFont typeface="Arial" panose="020B0604020202020204" pitchFamily="34" charset="0"/>
              <a:buChar char="•"/>
            </a:pPr>
            <a:r>
              <a:rPr lang="en-US" b="1" dirty="0"/>
              <a:t>Why important:</a:t>
            </a:r>
            <a:r>
              <a:rPr lang="en-US" dirty="0"/>
              <a:t> Reduces stress and increases productivity.</a:t>
            </a:r>
          </a:p>
          <a:p>
            <a:endParaRPr lang="en-IN" dirty="0"/>
          </a:p>
        </p:txBody>
      </p:sp>
    </p:spTree>
    <p:extLst>
      <p:ext uri="{BB962C8B-B14F-4D97-AF65-F5344CB8AC3E}">
        <p14:creationId xmlns:p14="http://schemas.microsoft.com/office/powerpoint/2010/main" val="8095529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B8614-FFBF-152F-1BEF-B884FCFD52FA}"/>
              </a:ext>
            </a:extLst>
          </p:cNvPr>
          <p:cNvSpPr>
            <a:spLocks noGrp="1"/>
          </p:cNvSpPr>
          <p:nvPr>
            <p:ph type="title"/>
          </p:nvPr>
        </p:nvSpPr>
        <p:spPr>
          <a:xfrm>
            <a:off x="1451579" y="1098087"/>
            <a:ext cx="9603275" cy="587136"/>
          </a:xfrm>
        </p:spPr>
        <p:txBody>
          <a:bodyPr/>
          <a:lstStyle/>
          <a:p>
            <a:r>
              <a:rPr lang="en-US" b="1" dirty="0"/>
              <a:t>Key Aspects of Time Management:</a:t>
            </a:r>
            <a:endParaRPr lang="en-IN" dirty="0"/>
          </a:p>
        </p:txBody>
      </p:sp>
      <p:sp>
        <p:nvSpPr>
          <p:cNvPr id="3" name="Content Placeholder 2">
            <a:extLst>
              <a:ext uri="{FF2B5EF4-FFF2-40B4-BE49-F238E27FC236}">
                <a16:creationId xmlns:a16="http://schemas.microsoft.com/office/drawing/2014/main" id="{09965A1C-0593-B92F-2B47-4C157063DD98}"/>
              </a:ext>
            </a:extLst>
          </p:cNvPr>
          <p:cNvSpPr>
            <a:spLocks noGrp="1"/>
          </p:cNvSpPr>
          <p:nvPr>
            <p:ph idx="1"/>
          </p:nvPr>
        </p:nvSpPr>
        <p:spPr>
          <a:xfrm>
            <a:off x="609600" y="2015732"/>
            <a:ext cx="11506199" cy="3744181"/>
          </a:xfrm>
        </p:spPr>
        <p:txBody>
          <a:bodyPr>
            <a:normAutofit/>
          </a:bodyPr>
          <a:lstStyle/>
          <a:p>
            <a:pPr>
              <a:buFont typeface="+mj-lt"/>
              <a:buAutoNum type="arabicPeriod"/>
            </a:pPr>
            <a:r>
              <a:rPr lang="en-US" sz="2400" b="1" dirty="0"/>
              <a:t>Prioritization</a:t>
            </a:r>
            <a:r>
              <a:rPr lang="en-US" sz="2400" dirty="0"/>
              <a:t> – Identifying which tasks are urgent/important and which can wait.</a:t>
            </a:r>
          </a:p>
          <a:p>
            <a:pPr>
              <a:buFont typeface="+mj-lt"/>
              <a:buAutoNum type="arabicPeriod"/>
            </a:pPr>
            <a:r>
              <a:rPr lang="en-US" sz="2400" b="1" dirty="0"/>
              <a:t>Planning</a:t>
            </a:r>
            <a:r>
              <a:rPr lang="en-US" sz="2400" dirty="0"/>
              <a:t> – Breaking down large projects into smaller steps with timelines.</a:t>
            </a:r>
          </a:p>
          <a:p>
            <a:pPr>
              <a:buFont typeface="+mj-lt"/>
              <a:buAutoNum type="arabicPeriod"/>
            </a:pPr>
            <a:r>
              <a:rPr lang="en-US" sz="2400" b="1" dirty="0"/>
              <a:t>Delegation</a:t>
            </a:r>
            <a:r>
              <a:rPr lang="en-US" sz="2400" dirty="0"/>
              <a:t> – Assigning tasks to the right people instead of trying to do everything alone.</a:t>
            </a:r>
          </a:p>
          <a:p>
            <a:pPr>
              <a:buFont typeface="+mj-lt"/>
              <a:buAutoNum type="arabicPeriod"/>
            </a:pPr>
            <a:r>
              <a:rPr lang="en-US" sz="2400" b="1" dirty="0"/>
              <a:t>Avoiding Procrastination</a:t>
            </a:r>
            <a:r>
              <a:rPr lang="en-US" sz="2400" dirty="0"/>
              <a:t> – Getting started early to avoid last-minute pressure.</a:t>
            </a:r>
          </a:p>
          <a:p>
            <a:pPr>
              <a:buFont typeface="+mj-lt"/>
              <a:buAutoNum type="arabicPeriod"/>
            </a:pPr>
            <a:r>
              <a:rPr lang="en-US" sz="2400" b="1" dirty="0"/>
              <a:t>Work-Life Balance</a:t>
            </a:r>
            <a:r>
              <a:rPr lang="en-US" sz="2400" dirty="0"/>
              <a:t> – Ensuring efficiency without burnout.</a:t>
            </a:r>
          </a:p>
          <a:p>
            <a:endParaRPr lang="en-IN" sz="2400" dirty="0"/>
          </a:p>
        </p:txBody>
      </p:sp>
    </p:spTree>
    <p:extLst>
      <p:ext uri="{BB962C8B-B14F-4D97-AF65-F5344CB8AC3E}">
        <p14:creationId xmlns:p14="http://schemas.microsoft.com/office/powerpoint/2010/main" val="140805183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E66B8-37FE-C1EF-5C88-AD73EF42234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AFDD71E-87E6-CD1C-1A4F-99497FE098E8}"/>
              </a:ext>
            </a:extLst>
          </p:cNvPr>
          <p:cNvSpPr>
            <a:spLocks noGrp="1"/>
          </p:cNvSpPr>
          <p:nvPr>
            <p:ph idx="1"/>
          </p:nvPr>
        </p:nvSpPr>
        <p:spPr>
          <a:xfrm>
            <a:off x="1294362" y="1252936"/>
            <a:ext cx="10048552" cy="4429407"/>
          </a:xfrm>
        </p:spPr>
        <p:txBody>
          <a:bodyPr>
            <a:normAutofit fontScale="92500"/>
          </a:bodyPr>
          <a:lstStyle/>
          <a:p>
            <a:pPr>
              <a:buNone/>
            </a:pPr>
            <a:r>
              <a:rPr lang="en-US" sz="3500" b="1" dirty="0"/>
              <a:t>Example in Business Context:</a:t>
            </a:r>
            <a:endParaRPr lang="en-US" sz="3500" dirty="0"/>
          </a:p>
          <a:p>
            <a:pPr>
              <a:buFont typeface="Arial" panose="020B0604020202020204" pitchFamily="34" charset="0"/>
              <a:buChar char="•"/>
            </a:pPr>
            <a:r>
              <a:rPr lang="en-US" sz="3500" dirty="0"/>
              <a:t>A project manager has to submit a client report in 5 days.</a:t>
            </a:r>
          </a:p>
          <a:p>
            <a:pPr marL="742950" lvl="1" indent="-285750">
              <a:buFont typeface="Arial" panose="020B0604020202020204" pitchFamily="34" charset="0"/>
              <a:buChar char="•"/>
            </a:pPr>
            <a:r>
              <a:rPr lang="en-US" sz="3000" dirty="0"/>
              <a:t>Instead of doing everything on the last day, they:</a:t>
            </a:r>
          </a:p>
          <a:p>
            <a:pPr marL="1143000" lvl="2" indent="-228600">
              <a:buFont typeface="Arial" panose="020B0604020202020204" pitchFamily="34" charset="0"/>
              <a:buChar char="•"/>
            </a:pPr>
            <a:r>
              <a:rPr lang="en-US" sz="2600" b="1" dirty="0"/>
              <a:t>Day 1–2:</a:t>
            </a:r>
            <a:r>
              <a:rPr lang="en-US" sz="2600" dirty="0"/>
              <a:t> Gather data from the research team.</a:t>
            </a:r>
          </a:p>
          <a:p>
            <a:pPr marL="1143000" lvl="2" indent="-228600">
              <a:buFont typeface="Arial" panose="020B0604020202020204" pitchFamily="34" charset="0"/>
              <a:buChar char="•"/>
            </a:pPr>
            <a:r>
              <a:rPr lang="en-US" sz="2600" b="1" dirty="0"/>
              <a:t>Day 3:</a:t>
            </a:r>
            <a:r>
              <a:rPr lang="en-US" sz="2600" dirty="0"/>
              <a:t> Analyze and draft findings.</a:t>
            </a:r>
          </a:p>
          <a:p>
            <a:pPr marL="1143000" lvl="2" indent="-228600">
              <a:buFont typeface="Arial" panose="020B0604020202020204" pitchFamily="34" charset="0"/>
              <a:buChar char="•"/>
            </a:pPr>
            <a:r>
              <a:rPr lang="en-US" sz="2600" b="1" dirty="0"/>
              <a:t>Day 4:</a:t>
            </a:r>
            <a:r>
              <a:rPr lang="en-US" sz="2600" dirty="0"/>
              <a:t> Prepare presentation slides.</a:t>
            </a:r>
          </a:p>
          <a:p>
            <a:pPr marL="1143000" lvl="2" indent="-228600">
              <a:buFont typeface="Arial" panose="020B0604020202020204" pitchFamily="34" charset="0"/>
              <a:buChar char="•"/>
            </a:pPr>
            <a:r>
              <a:rPr lang="en-US" sz="2600" b="1" dirty="0"/>
              <a:t>Day 5:</a:t>
            </a:r>
            <a:r>
              <a:rPr lang="en-US" sz="2600" dirty="0"/>
              <a:t> Review and finalize.</a:t>
            </a:r>
          </a:p>
          <a:p>
            <a:endParaRPr lang="en-IN" dirty="0"/>
          </a:p>
        </p:txBody>
      </p:sp>
    </p:spTree>
    <p:extLst>
      <p:ext uri="{BB962C8B-B14F-4D97-AF65-F5344CB8AC3E}">
        <p14:creationId xmlns:p14="http://schemas.microsoft.com/office/powerpoint/2010/main" val="350501634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500E7E-63C0-0AC3-5527-902E24426BA1}"/>
              </a:ext>
            </a:extLst>
          </p:cNvPr>
          <p:cNvSpPr>
            <a:spLocks noGrp="1"/>
          </p:cNvSpPr>
          <p:nvPr>
            <p:ph type="title"/>
          </p:nvPr>
        </p:nvSpPr>
        <p:spPr>
          <a:xfrm>
            <a:off x="1294362" y="1098087"/>
            <a:ext cx="9603275" cy="587136"/>
          </a:xfrm>
        </p:spPr>
        <p:txBody>
          <a:bodyPr/>
          <a:lstStyle/>
          <a:p>
            <a:r>
              <a:rPr lang="en-US" b="1" dirty="0"/>
              <a:t>categorize each task into:</a:t>
            </a:r>
            <a:endParaRPr lang="en-IN" dirty="0"/>
          </a:p>
        </p:txBody>
      </p:sp>
      <p:sp>
        <p:nvSpPr>
          <p:cNvPr id="3" name="Content Placeholder 2">
            <a:extLst>
              <a:ext uri="{FF2B5EF4-FFF2-40B4-BE49-F238E27FC236}">
                <a16:creationId xmlns:a16="http://schemas.microsoft.com/office/drawing/2014/main" id="{C565D271-BC04-4DDA-1E73-C1FB946B4DA5}"/>
              </a:ext>
            </a:extLst>
          </p:cNvPr>
          <p:cNvSpPr>
            <a:spLocks noGrp="1"/>
          </p:cNvSpPr>
          <p:nvPr>
            <p:ph idx="1"/>
          </p:nvPr>
        </p:nvSpPr>
        <p:spPr>
          <a:xfrm>
            <a:off x="899960" y="2081046"/>
            <a:ext cx="10392078" cy="3450613"/>
          </a:xfrm>
        </p:spPr>
        <p:txBody>
          <a:bodyPr/>
          <a:lstStyle/>
          <a:p>
            <a:pPr>
              <a:buFont typeface="Arial" panose="020B0604020202020204" pitchFamily="34" charset="0"/>
              <a:buChar char="•"/>
            </a:pPr>
            <a:r>
              <a:rPr lang="en-US" sz="3200" b="1" dirty="0"/>
              <a:t>Urgent &amp; Important</a:t>
            </a:r>
            <a:r>
              <a:rPr lang="en-US" sz="3200" dirty="0"/>
              <a:t> (must do today)</a:t>
            </a:r>
          </a:p>
          <a:p>
            <a:pPr>
              <a:buFont typeface="Arial" panose="020B0604020202020204" pitchFamily="34" charset="0"/>
              <a:buChar char="•"/>
            </a:pPr>
            <a:r>
              <a:rPr lang="en-US" sz="3200" b="1" dirty="0"/>
              <a:t>Important but Not Urgent</a:t>
            </a:r>
            <a:r>
              <a:rPr lang="en-US" sz="3200" dirty="0"/>
              <a:t> (schedule later)</a:t>
            </a:r>
          </a:p>
          <a:p>
            <a:pPr>
              <a:buFont typeface="Arial" panose="020B0604020202020204" pitchFamily="34" charset="0"/>
              <a:buChar char="•"/>
            </a:pPr>
            <a:r>
              <a:rPr lang="en-US" sz="3200" b="1" dirty="0"/>
              <a:t>Urgent but Not Important</a:t>
            </a:r>
            <a:r>
              <a:rPr lang="en-US" sz="3200" dirty="0"/>
              <a:t> (delegate if possible)</a:t>
            </a:r>
          </a:p>
          <a:p>
            <a:pPr>
              <a:buFont typeface="Arial" panose="020B0604020202020204" pitchFamily="34" charset="0"/>
              <a:buChar char="•"/>
            </a:pPr>
            <a:r>
              <a:rPr lang="en-US" sz="3200" b="1" dirty="0"/>
              <a:t>Neither Urgent nor Important</a:t>
            </a:r>
            <a:r>
              <a:rPr lang="en-US" sz="3200" dirty="0"/>
              <a:t> (avoid/waste of time)</a:t>
            </a:r>
          </a:p>
          <a:p>
            <a:endParaRPr lang="en-IN" dirty="0"/>
          </a:p>
        </p:txBody>
      </p:sp>
    </p:spTree>
    <p:extLst>
      <p:ext uri="{BB962C8B-B14F-4D97-AF65-F5344CB8AC3E}">
        <p14:creationId xmlns:p14="http://schemas.microsoft.com/office/powerpoint/2010/main" val="221254723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54B921-C5B4-5787-F9BA-C18D785D204E}"/>
              </a:ext>
            </a:extLst>
          </p:cNvPr>
          <p:cNvSpPr>
            <a:spLocks noGrp="1"/>
          </p:cNvSpPr>
          <p:nvPr>
            <p:ph type="title"/>
          </p:nvPr>
        </p:nvSpPr>
        <p:spPr/>
        <p:txBody>
          <a:bodyPr/>
          <a:lstStyle/>
          <a:p>
            <a:r>
              <a:rPr lang="en-IN" b="1" dirty="0"/>
              <a:t>g. Team Building</a:t>
            </a:r>
          </a:p>
        </p:txBody>
      </p:sp>
      <p:sp>
        <p:nvSpPr>
          <p:cNvPr id="3" name="Content Placeholder 2">
            <a:extLst>
              <a:ext uri="{FF2B5EF4-FFF2-40B4-BE49-F238E27FC236}">
                <a16:creationId xmlns:a16="http://schemas.microsoft.com/office/drawing/2014/main" id="{8042E765-484B-090A-F10C-6EB0E023A074}"/>
              </a:ext>
            </a:extLst>
          </p:cNvPr>
          <p:cNvSpPr>
            <a:spLocks noGrp="1"/>
          </p:cNvSpPr>
          <p:nvPr>
            <p:ph idx="1"/>
          </p:nvPr>
        </p:nvSpPr>
        <p:spPr/>
        <p:txBody>
          <a:bodyPr>
            <a:normAutofit/>
          </a:bodyPr>
          <a:lstStyle/>
          <a:p>
            <a:pPr marL="0" indent="0" algn="just">
              <a:buNone/>
            </a:pPr>
            <a:r>
              <a:rPr lang="en-US" sz="2800" b="1" dirty="0"/>
              <a:t>Team building is the skill of creating, developing, and maintaining a group of individuals who work together effectively to achieve common goals. It involves trust-building, conflict resolution, motivation, and coordination among team members.</a:t>
            </a:r>
            <a:endParaRPr lang="en-IN" sz="2800" b="1" dirty="0"/>
          </a:p>
        </p:txBody>
      </p:sp>
    </p:spTree>
    <p:extLst>
      <p:ext uri="{BB962C8B-B14F-4D97-AF65-F5344CB8AC3E}">
        <p14:creationId xmlns:p14="http://schemas.microsoft.com/office/powerpoint/2010/main" val="122617382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78A5F2-26B1-8E10-D4E9-708EF3AB2157}"/>
              </a:ext>
            </a:extLst>
          </p:cNvPr>
          <p:cNvSpPr>
            <a:spLocks noGrp="1"/>
          </p:cNvSpPr>
          <p:nvPr>
            <p:ph type="title"/>
          </p:nvPr>
        </p:nvSpPr>
        <p:spPr/>
        <p:txBody>
          <a:bodyPr/>
          <a:lstStyle/>
          <a:p>
            <a:r>
              <a:rPr lang="en-US" b="1" dirty="0"/>
              <a:t>Key Elements of Team Building:</a:t>
            </a:r>
            <a:endParaRPr lang="en-IN" dirty="0"/>
          </a:p>
        </p:txBody>
      </p:sp>
      <p:sp>
        <p:nvSpPr>
          <p:cNvPr id="3" name="Content Placeholder 2">
            <a:extLst>
              <a:ext uri="{FF2B5EF4-FFF2-40B4-BE49-F238E27FC236}">
                <a16:creationId xmlns:a16="http://schemas.microsoft.com/office/drawing/2014/main" id="{6B48CFA0-BA8C-08ED-598E-3FC7A808FA31}"/>
              </a:ext>
            </a:extLst>
          </p:cNvPr>
          <p:cNvSpPr>
            <a:spLocks noGrp="1"/>
          </p:cNvSpPr>
          <p:nvPr>
            <p:ph idx="1"/>
          </p:nvPr>
        </p:nvSpPr>
        <p:spPr/>
        <p:txBody>
          <a:bodyPr>
            <a:normAutofit fontScale="92500" lnSpcReduction="20000"/>
          </a:bodyPr>
          <a:lstStyle/>
          <a:p>
            <a:pPr>
              <a:buFont typeface="+mj-lt"/>
              <a:buAutoNum type="arabicPeriod"/>
            </a:pPr>
            <a:r>
              <a:rPr lang="en-US" sz="2600" b="1" dirty="0"/>
              <a:t>Trust &amp; Respect</a:t>
            </a:r>
            <a:r>
              <a:rPr lang="en-US" sz="2600" dirty="0"/>
              <a:t> – Building confidence among team members.</a:t>
            </a:r>
          </a:p>
          <a:p>
            <a:pPr>
              <a:buFont typeface="+mj-lt"/>
              <a:buAutoNum type="arabicPeriod"/>
            </a:pPr>
            <a:r>
              <a:rPr lang="en-US" sz="2600" b="1" dirty="0"/>
              <a:t>Clear Roles &amp; Responsibilities</a:t>
            </a:r>
            <a:r>
              <a:rPr lang="en-US" sz="2600" dirty="0"/>
              <a:t> – Everyone knows their part in the team.</a:t>
            </a:r>
          </a:p>
          <a:p>
            <a:pPr>
              <a:buFont typeface="+mj-lt"/>
              <a:buAutoNum type="arabicPeriod"/>
            </a:pPr>
            <a:r>
              <a:rPr lang="en-US" sz="2600" b="1" dirty="0"/>
              <a:t>Collaboration</a:t>
            </a:r>
            <a:r>
              <a:rPr lang="en-US" sz="2600" dirty="0"/>
              <a:t> – Encouraging sharing of ideas and joint problem-solving.</a:t>
            </a:r>
          </a:p>
          <a:p>
            <a:pPr>
              <a:buFont typeface="+mj-lt"/>
              <a:buAutoNum type="arabicPeriod"/>
            </a:pPr>
            <a:r>
              <a:rPr lang="en-US" sz="2600" b="1" dirty="0"/>
              <a:t>Conflict Resolution</a:t>
            </a:r>
            <a:r>
              <a:rPr lang="en-US" sz="2600" dirty="0"/>
              <a:t> – Handling disagreements constructively.</a:t>
            </a:r>
          </a:p>
          <a:p>
            <a:pPr>
              <a:buFont typeface="+mj-lt"/>
              <a:buAutoNum type="arabicPeriod"/>
            </a:pPr>
            <a:r>
              <a:rPr lang="en-US" sz="2600" b="1" dirty="0"/>
              <a:t>Motivation &amp; Support</a:t>
            </a:r>
            <a:r>
              <a:rPr lang="en-US" sz="2600" dirty="0"/>
              <a:t> – Keeping the team energized and positive.</a:t>
            </a:r>
          </a:p>
          <a:p>
            <a:pPr>
              <a:buFont typeface="+mj-lt"/>
              <a:buAutoNum type="arabicPeriod"/>
            </a:pPr>
            <a:r>
              <a:rPr lang="en-US" sz="2600" b="1" dirty="0"/>
              <a:t>Communication</a:t>
            </a:r>
            <a:r>
              <a:rPr lang="en-US" sz="2600" dirty="0"/>
              <a:t> – Ensuring open and transparent interaction.</a:t>
            </a:r>
          </a:p>
          <a:p>
            <a:endParaRPr lang="en-IN" dirty="0"/>
          </a:p>
        </p:txBody>
      </p:sp>
    </p:spTree>
    <p:extLst>
      <p:ext uri="{BB962C8B-B14F-4D97-AF65-F5344CB8AC3E}">
        <p14:creationId xmlns:p14="http://schemas.microsoft.com/office/powerpoint/2010/main" val="361164591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5969F2-0EA3-E15F-AAD0-284265827C39}"/>
              </a:ext>
            </a:extLst>
          </p:cNvPr>
          <p:cNvSpPr>
            <a:spLocks noGrp="1"/>
          </p:cNvSpPr>
          <p:nvPr>
            <p:ph type="title"/>
          </p:nvPr>
        </p:nvSpPr>
        <p:spPr/>
        <p:txBody>
          <a:bodyPr/>
          <a:lstStyle/>
          <a:p>
            <a:r>
              <a:rPr lang="en-US" b="1" dirty="0"/>
              <a:t>Why Important for Managers:</a:t>
            </a:r>
            <a:endParaRPr lang="en-IN" dirty="0"/>
          </a:p>
        </p:txBody>
      </p:sp>
      <p:sp>
        <p:nvSpPr>
          <p:cNvPr id="3" name="Content Placeholder 2">
            <a:extLst>
              <a:ext uri="{FF2B5EF4-FFF2-40B4-BE49-F238E27FC236}">
                <a16:creationId xmlns:a16="http://schemas.microsoft.com/office/drawing/2014/main" id="{D6BFFFF2-DE70-A2D3-FD4F-3C7185D7DED8}"/>
              </a:ext>
            </a:extLst>
          </p:cNvPr>
          <p:cNvSpPr>
            <a:spLocks noGrp="1"/>
          </p:cNvSpPr>
          <p:nvPr>
            <p:ph idx="1"/>
          </p:nvPr>
        </p:nvSpPr>
        <p:spPr/>
        <p:txBody>
          <a:bodyPr>
            <a:normAutofit/>
          </a:bodyPr>
          <a:lstStyle/>
          <a:p>
            <a:pPr algn="just">
              <a:buFont typeface="Arial" panose="020B0604020202020204" pitchFamily="34" charset="0"/>
              <a:buChar char="•"/>
            </a:pPr>
            <a:r>
              <a:rPr lang="en-US" sz="2800" dirty="0"/>
              <a:t>Managers rarely work alone; they depend on teams.</a:t>
            </a:r>
          </a:p>
          <a:p>
            <a:pPr algn="just">
              <a:buFont typeface="Arial" panose="020B0604020202020204" pitchFamily="34" charset="0"/>
              <a:buChar char="•"/>
            </a:pPr>
            <a:r>
              <a:rPr lang="en-US" sz="2800" dirty="0"/>
              <a:t>Strong teams improve </a:t>
            </a:r>
            <a:r>
              <a:rPr lang="en-US" sz="2800" b="1" dirty="0"/>
              <a:t>productivity, creativity, and job satisfaction</a:t>
            </a:r>
            <a:r>
              <a:rPr lang="en-US" sz="2800" dirty="0"/>
              <a:t>.</a:t>
            </a:r>
          </a:p>
          <a:p>
            <a:pPr algn="just">
              <a:buFont typeface="Arial" panose="020B0604020202020204" pitchFamily="34" charset="0"/>
              <a:buChar char="•"/>
            </a:pPr>
            <a:r>
              <a:rPr lang="en-US" sz="2800" dirty="0"/>
              <a:t>Team building creates a positive work culture and reduces employee turnover.</a:t>
            </a:r>
          </a:p>
          <a:p>
            <a:pPr algn="just"/>
            <a:endParaRPr lang="en-IN" sz="2800" dirty="0"/>
          </a:p>
        </p:txBody>
      </p:sp>
    </p:spTree>
    <p:extLst>
      <p:ext uri="{BB962C8B-B14F-4D97-AF65-F5344CB8AC3E}">
        <p14:creationId xmlns:p14="http://schemas.microsoft.com/office/powerpoint/2010/main" val="15109603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96AB9B-2B19-2837-5961-97B4D8723C03}"/>
              </a:ext>
            </a:extLst>
          </p:cNvPr>
          <p:cNvSpPr>
            <a:spLocks noGrp="1"/>
          </p:cNvSpPr>
          <p:nvPr>
            <p:ph type="title"/>
          </p:nvPr>
        </p:nvSpPr>
        <p:spPr>
          <a:xfrm>
            <a:off x="762001" y="620485"/>
            <a:ext cx="9603275" cy="1049235"/>
          </a:xfrm>
        </p:spPr>
        <p:txBody>
          <a:bodyPr>
            <a:normAutofit/>
          </a:bodyPr>
          <a:lstStyle/>
          <a:p>
            <a:pPr marL="342900" marR="0" lvl="0" indent="-342900" defTabSz="914400" rtl="0" eaLnBrk="1" fontAlgn="auto" latinLnBrk="0" hangingPunct="1">
              <a:lnSpc>
                <a:spcPct val="100000"/>
              </a:lnSpc>
              <a:spcBef>
                <a:spcPct val="20000"/>
              </a:spcBef>
              <a:spcAft>
                <a:spcPts val="0"/>
              </a:spcAft>
              <a:tabLst/>
              <a:defRPr/>
            </a:pPr>
            <a:r>
              <a:rPr kumimoji="0" lang="en-US" sz="6000" b="1" i="0" u="none" strike="noStrike" kern="1200" cap="none" spc="0" normalizeH="0" baseline="0" noProof="0" dirty="0">
                <a:ln>
                  <a:noFill/>
                </a:ln>
                <a:solidFill>
                  <a:srgbClr val="C00000"/>
                </a:solidFill>
                <a:effectLst/>
                <a:uLnTx/>
                <a:uFillTx/>
                <a:latin typeface="Calibri"/>
                <a:ea typeface="+mn-ea"/>
                <a:cs typeface="+mn-cs"/>
              </a:rPr>
              <a:t>Self-Management Skills</a:t>
            </a:r>
            <a:endParaRPr lang="en-IN" sz="8800" dirty="0">
              <a:solidFill>
                <a:srgbClr val="C00000"/>
              </a:solidFill>
            </a:endParaRPr>
          </a:p>
        </p:txBody>
      </p:sp>
      <p:sp>
        <p:nvSpPr>
          <p:cNvPr id="3" name="Content Placeholder 2">
            <a:extLst>
              <a:ext uri="{FF2B5EF4-FFF2-40B4-BE49-F238E27FC236}">
                <a16:creationId xmlns:a16="http://schemas.microsoft.com/office/drawing/2014/main" id="{25E9F9D0-B449-8777-0871-C5F4D8ADBDBF}"/>
              </a:ext>
            </a:extLst>
          </p:cNvPr>
          <p:cNvSpPr>
            <a:spLocks noGrp="1"/>
          </p:cNvSpPr>
          <p:nvPr>
            <p:ph idx="1"/>
          </p:nvPr>
        </p:nvSpPr>
        <p:spPr>
          <a:xfrm>
            <a:off x="397329" y="1894116"/>
            <a:ext cx="11397342" cy="5287962"/>
          </a:xfrm>
        </p:spPr>
        <p:txBody>
          <a:bodyPr>
            <a:normAutofit/>
          </a:bodyPr>
          <a:lstStyle/>
          <a:p>
            <a:pPr>
              <a:buNone/>
            </a:pPr>
            <a:r>
              <a:rPr lang="en-US" b="1" dirty="0"/>
              <a:t>1. Introduction</a:t>
            </a:r>
          </a:p>
          <a:p>
            <a:pPr>
              <a:buFont typeface="Arial" panose="020B0604020202020204" pitchFamily="34" charset="0"/>
              <a:buChar char="•"/>
            </a:pPr>
            <a:r>
              <a:rPr lang="en-US" dirty="0"/>
              <a:t>Self-management skills are the ability to </a:t>
            </a:r>
            <a:r>
              <a:rPr lang="en-US" b="1" dirty="0"/>
              <a:t>control one’s emotions, behavior, and time</a:t>
            </a:r>
            <a:r>
              <a:rPr lang="en-US" dirty="0"/>
              <a:t> to achieve personal and professional goals.</a:t>
            </a:r>
          </a:p>
          <a:p>
            <a:r>
              <a:rPr lang="en-US" dirty="0"/>
              <a:t>Self-management skills are about how well a person can </a:t>
            </a:r>
            <a:r>
              <a:rPr lang="en-US" b="1" dirty="0"/>
              <a:t>control emotions, manage time, set goals, and adapt</a:t>
            </a:r>
            <a:r>
              <a:rPr lang="en-US" dirty="0"/>
              <a:t> in different situations.</a:t>
            </a:r>
          </a:p>
          <a:p>
            <a:pPr>
              <a:buFont typeface="Arial" panose="020B0604020202020204" pitchFamily="34" charset="0"/>
              <a:buChar char="•"/>
            </a:pPr>
            <a:r>
              <a:rPr lang="en-US" dirty="0"/>
              <a:t>These skills help individuals stay focused, resilient, and effective in challenging situations.</a:t>
            </a:r>
          </a:p>
          <a:p>
            <a:pPr>
              <a:buNone/>
            </a:pPr>
            <a:r>
              <a:rPr lang="en-US" dirty="0"/>
              <a:t>Two important aspects:</a:t>
            </a:r>
          </a:p>
          <a:p>
            <a:pPr>
              <a:buFont typeface="+mj-lt"/>
              <a:buAutoNum type="arabicPeriod"/>
            </a:pPr>
            <a:r>
              <a:rPr lang="en-US" b="1" dirty="0"/>
              <a:t>Emotional Quotient (EQ)</a:t>
            </a:r>
            <a:endParaRPr lang="en-US" dirty="0"/>
          </a:p>
          <a:p>
            <a:pPr>
              <a:buFont typeface="+mj-lt"/>
              <a:buAutoNum type="arabicPeriod"/>
            </a:pPr>
            <a:r>
              <a:rPr lang="en-US" b="1" dirty="0"/>
              <a:t>Developing Self-Awareness using the JOHARI Window</a:t>
            </a:r>
            <a:endParaRPr lang="en-US" dirty="0"/>
          </a:p>
          <a:p>
            <a:endParaRPr lang="en-IN" dirty="0"/>
          </a:p>
        </p:txBody>
      </p:sp>
    </p:spTree>
    <p:extLst>
      <p:ext uri="{BB962C8B-B14F-4D97-AF65-F5344CB8AC3E}">
        <p14:creationId xmlns:p14="http://schemas.microsoft.com/office/powerpoint/2010/main" val="3506572410"/>
      </p:ext>
    </p:extLst>
  </p:cSld>
  <p:clrMapOvr>
    <a:overrideClrMapping bg1="lt1" tx1="dk1" bg2="lt2" tx2="dk2" accent1="accent1" accent2="accent2" accent3="accent3" accent4="accent4" accent5="accent5" accent6="accent6" hlink="hlink" folHlink="folHlink"/>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599E1E-222E-78C5-EF2E-E1C21C10F63E}"/>
              </a:ext>
            </a:extLst>
          </p:cNvPr>
          <p:cNvSpPr>
            <a:spLocks noGrp="1"/>
          </p:cNvSpPr>
          <p:nvPr>
            <p:ph type="title"/>
          </p:nvPr>
        </p:nvSpPr>
        <p:spPr>
          <a:xfrm>
            <a:off x="1137146" y="966497"/>
            <a:ext cx="9603275" cy="1049235"/>
          </a:xfrm>
        </p:spPr>
        <p:txBody>
          <a:bodyPr/>
          <a:lstStyle/>
          <a:p>
            <a:r>
              <a:rPr lang="en-US" b="1" dirty="0"/>
              <a:t>2. Emotional Quotient (EQ)</a:t>
            </a:r>
            <a:endParaRPr lang="en-IN" dirty="0"/>
          </a:p>
        </p:txBody>
      </p:sp>
      <p:sp>
        <p:nvSpPr>
          <p:cNvPr id="3" name="Content Placeholder 2">
            <a:extLst>
              <a:ext uri="{FF2B5EF4-FFF2-40B4-BE49-F238E27FC236}">
                <a16:creationId xmlns:a16="http://schemas.microsoft.com/office/drawing/2014/main" id="{6C68DD56-40AF-D95D-E805-E31EC1E2D230}"/>
              </a:ext>
            </a:extLst>
          </p:cNvPr>
          <p:cNvSpPr>
            <a:spLocks noGrp="1"/>
          </p:cNvSpPr>
          <p:nvPr>
            <p:ph idx="1"/>
          </p:nvPr>
        </p:nvSpPr>
        <p:spPr>
          <a:xfrm>
            <a:off x="168728" y="2015732"/>
            <a:ext cx="11854543" cy="3450613"/>
          </a:xfrm>
        </p:spPr>
        <p:txBody>
          <a:bodyPr/>
          <a:lstStyle/>
          <a:p>
            <a:pPr algn="just">
              <a:buNone/>
            </a:pPr>
            <a:r>
              <a:rPr lang="en-US" sz="2800" b="1" dirty="0"/>
              <a:t>Definition:</a:t>
            </a:r>
          </a:p>
          <a:p>
            <a:pPr algn="just">
              <a:buNone/>
            </a:pPr>
            <a:r>
              <a:rPr lang="en-US" sz="2800" dirty="0"/>
              <a:t>EQ (Emotional Intelligence) is the ability to </a:t>
            </a:r>
            <a:r>
              <a:rPr lang="en-US" sz="2800" b="1" dirty="0"/>
              <a:t>understand and manage your emotions, and also to recognize and influence the emotions of others</a:t>
            </a:r>
            <a:r>
              <a:rPr lang="en-US" sz="2800" dirty="0"/>
              <a:t>.</a:t>
            </a:r>
          </a:p>
          <a:p>
            <a:pPr algn="just"/>
            <a:endParaRPr lang="en-IN" dirty="0"/>
          </a:p>
        </p:txBody>
      </p:sp>
    </p:spTree>
    <p:extLst>
      <p:ext uri="{BB962C8B-B14F-4D97-AF65-F5344CB8AC3E}">
        <p14:creationId xmlns:p14="http://schemas.microsoft.com/office/powerpoint/2010/main" val="360038971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D4E15B-029E-FE2A-4607-8889F42318D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B4EE4D8-72AA-4021-4E42-7422F8EA48B5}"/>
              </a:ext>
            </a:extLst>
          </p:cNvPr>
          <p:cNvSpPr>
            <a:spLocks noGrp="1"/>
          </p:cNvSpPr>
          <p:nvPr>
            <p:ph idx="1"/>
          </p:nvPr>
        </p:nvSpPr>
        <p:spPr>
          <a:xfrm>
            <a:off x="391259" y="1082616"/>
            <a:ext cx="11723914" cy="4692767"/>
          </a:xfrm>
        </p:spPr>
        <p:txBody>
          <a:bodyPr>
            <a:normAutofit lnSpcReduction="10000"/>
          </a:bodyPr>
          <a:lstStyle/>
          <a:p>
            <a:pPr>
              <a:buNone/>
            </a:pPr>
            <a:r>
              <a:rPr lang="en-US" sz="3600" b="1" dirty="0"/>
              <a:t>Key Components of EQ with Examples:</a:t>
            </a:r>
          </a:p>
          <a:p>
            <a:pPr>
              <a:buFont typeface="+mj-lt"/>
              <a:buAutoNum type="arabicPeriod"/>
            </a:pPr>
            <a:r>
              <a:rPr lang="en-US" sz="2800" b="1" dirty="0"/>
              <a:t>Self-Awareness</a:t>
            </a:r>
            <a:endParaRPr lang="en-US" sz="2800" dirty="0"/>
          </a:p>
          <a:p>
            <a:pPr marL="742950" lvl="1" indent="-285750">
              <a:buFont typeface="+mj-lt"/>
              <a:buAutoNum type="arabicPeriod"/>
            </a:pPr>
            <a:r>
              <a:rPr lang="en-US" sz="2400" dirty="0"/>
              <a:t>Understanding your own emotions, strengths, and weaknesses.</a:t>
            </a:r>
          </a:p>
          <a:p>
            <a:pPr marL="742950" lvl="1" indent="-285750">
              <a:buFont typeface="+mj-lt"/>
              <a:buAutoNum type="arabicPeriod"/>
            </a:pPr>
            <a:r>
              <a:rPr lang="en-US" sz="2400" i="1" dirty="0"/>
              <a:t>Example:</a:t>
            </a:r>
            <a:r>
              <a:rPr lang="en-US" sz="2400" dirty="0"/>
              <a:t> A student realizes they feel nervous before presentations and prepares extra by practicing in front of friends.</a:t>
            </a:r>
          </a:p>
          <a:p>
            <a:pPr>
              <a:buFont typeface="+mj-lt"/>
              <a:buAutoNum type="arabicPeriod"/>
            </a:pPr>
            <a:r>
              <a:rPr lang="en-US" sz="2800" b="1" dirty="0"/>
              <a:t>Self-Regulation</a:t>
            </a:r>
            <a:endParaRPr lang="en-US" sz="2800" dirty="0"/>
          </a:p>
          <a:p>
            <a:pPr marL="742950" lvl="1" indent="-285750">
              <a:buFont typeface="+mj-lt"/>
              <a:buAutoNum type="arabicPeriod"/>
            </a:pPr>
            <a:r>
              <a:rPr lang="en-US" sz="2400" dirty="0"/>
              <a:t>Controlling emotional reactions, staying calm, and thinking before acting.</a:t>
            </a:r>
          </a:p>
          <a:p>
            <a:pPr marL="742950" lvl="1" indent="-285750">
              <a:buFont typeface="+mj-lt"/>
              <a:buAutoNum type="arabicPeriod"/>
            </a:pPr>
            <a:r>
              <a:rPr lang="en-US" sz="2400" i="1" dirty="0"/>
              <a:t>Example:</a:t>
            </a:r>
            <a:r>
              <a:rPr lang="en-US" sz="2400" dirty="0"/>
              <a:t> In group work, instead of arguing angrily when a teammate misses a deadline, a student suggests a new schedule calmly.</a:t>
            </a:r>
          </a:p>
          <a:p>
            <a:pPr marL="0" indent="0">
              <a:buNone/>
            </a:pPr>
            <a:endParaRPr lang="en-IN" dirty="0"/>
          </a:p>
        </p:txBody>
      </p:sp>
    </p:spTree>
    <p:extLst>
      <p:ext uri="{BB962C8B-B14F-4D97-AF65-F5344CB8AC3E}">
        <p14:creationId xmlns:p14="http://schemas.microsoft.com/office/powerpoint/2010/main" val="346109527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02F80E-A051-7526-4038-9E931C303D6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9F2D026-6D47-97E3-D712-5B14F13B7425}"/>
              </a:ext>
            </a:extLst>
          </p:cNvPr>
          <p:cNvSpPr>
            <a:spLocks noGrp="1"/>
          </p:cNvSpPr>
          <p:nvPr>
            <p:ph idx="1"/>
          </p:nvPr>
        </p:nvSpPr>
        <p:spPr>
          <a:xfrm>
            <a:off x="532773" y="1853754"/>
            <a:ext cx="11440886" cy="4037749"/>
          </a:xfrm>
        </p:spPr>
        <p:txBody>
          <a:bodyPr>
            <a:normAutofit lnSpcReduction="10000"/>
          </a:bodyPr>
          <a:lstStyle/>
          <a:p>
            <a:pPr>
              <a:buNone/>
            </a:pPr>
            <a:r>
              <a:rPr lang="en-US" sz="2400" b="1" dirty="0"/>
              <a:t>3. Motivation</a:t>
            </a:r>
            <a:endParaRPr lang="en-US" sz="2400" dirty="0"/>
          </a:p>
          <a:p>
            <a:pPr>
              <a:buFont typeface="Arial" panose="020B0604020202020204" pitchFamily="34" charset="0"/>
              <a:buChar char="•"/>
            </a:pPr>
            <a:r>
              <a:rPr lang="en-US" sz="2400" dirty="0"/>
              <a:t>Staying committed and working towards goals even when challenges arise.</a:t>
            </a:r>
          </a:p>
          <a:p>
            <a:pPr>
              <a:buFont typeface="Arial" panose="020B0604020202020204" pitchFamily="34" charset="0"/>
              <a:buChar char="•"/>
            </a:pPr>
            <a:r>
              <a:rPr lang="en-US" sz="2400" i="1" dirty="0"/>
              <a:t>Example:</a:t>
            </a:r>
            <a:r>
              <a:rPr lang="en-US" sz="2400" dirty="0"/>
              <a:t> Preparing for semester exams with consistent study even when friends invite you out often.</a:t>
            </a:r>
          </a:p>
          <a:p>
            <a:pPr>
              <a:buNone/>
            </a:pPr>
            <a:r>
              <a:rPr lang="en-US" sz="2400" b="1" dirty="0"/>
              <a:t>4. Empathy</a:t>
            </a:r>
            <a:endParaRPr lang="en-US" sz="2400" dirty="0"/>
          </a:p>
          <a:p>
            <a:pPr>
              <a:buFont typeface="Arial" panose="020B0604020202020204" pitchFamily="34" charset="0"/>
              <a:buChar char="•"/>
            </a:pPr>
            <a:r>
              <a:rPr lang="en-US" sz="2400" dirty="0"/>
              <a:t>Understanding others’ feelings and viewpoints.</a:t>
            </a:r>
          </a:p>
          <a:p>
            <a:pPr>
              <a:buFont typeface="Arial" panose="020B0604020202020204" pitchFamily="34" charset="0"/>
              <a:buChar char="•"/>
            </a:pPr>
            <a:r>
              <a:rPr lang="en-US" sz="2400" i="1" dirty="0"/>
              <a:t>Example:</a:t>
            </a:r>
            <a:r>
              <a:rPr lang="en-US" sz="2400" dirty="0"/>
              <a:t> A manager notices an employee is unusually quiet and asks if they’re facing any personal issues.</a:t>
            </a:r>
          </a:p>
          <a:p>
            <a:pPr>
              <a:buFont typeface="Arial" panose="020B0604020202020204" pitchFamily="34" charset="0"/>
              <a:buChar char="•"/>
            </a:pPr>
            <a:endParaRPr lang="en-US" dirty="0"/>
          </a:p>
          <a:p>
            <a:pPr marL="0" indent="0">
              <a:buNone/>
            </a:pPr>
            <a:endParaRPr lang="en-IN" dirty="0"/>
          </a:p>
        </p:txBody>
      </p:sp>
    </p:spTree>
    <p:extLst>
      <p:ext uri="{BB962C8B-B14F-4D97-AF65-F5344CB8AC3E}">
        <p14:creationId xmlns:p14="http://schemas.microsoft.com/office/powerpoint/2010/main" val="326017355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93888-C44D-DBE4-F9B5-AF8C97341B5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C0F9116-7950-9000-52D2-453C3ADD1C58}"/>
              </a:ext>
            </a:extLst>
          </p:cNvPr>
          <p:cNvSpPr>
            <a:spLocks noGrp="1"/>
          </p:cNvSpPr>
          <p:nvPr>
            <p:ph idx="1"/>
          </p:nvPr>
        </p:nvSpPr>
        <p:spPr>
          <a:xfrm>
            <a:off x="555171" y="2015732"/>
            <a:ext cx="11146972" cy="3450613"/>
          </a:xfrm>
        </p:spPr>
        <p:txBody>
          <a:bodyPr/>
          <a:lstStyle/>
          <a:p>
            <a:pPr>
              <a:buNone/>
            </a:pPr>
            <a:r>
              <a:rPr lang="en-US" sz="2800" b="1" dirty="0"/>
              <a:t>5. Social Skills</a:t>
            </a:r>
            <a:endParaRPr lang="en-US" sz="2800" dirty="0"/>
          </a:p>
          <a:p>
            <a:pPr>
              <a:buFont typeface="Arial" panose="020B0604020202020204" pitchFamily="34" charset="0"/>
              <a:buChar char="•"/>
            </a:pPr>
            <a:r>
              <a:rPr lang="en-US" sz="2800" dirty="0"/>
              <a:t>Building relationships, resolving conflicts, and effective communication.</a:t>
            </a:r>
          </a:p>
          <a:p>
            <a:pPr>
              <a:buFont typeface="Arial" panose="020B0604020202020204" pitchFamily="34" charset="0"/>
              <a:buChar char="•"/>
            </a:pPr>
            <a:r>
              <a:rPr lang="en-US" sz="2800" i="1" dirty="0"/>
              <a:t>Example:</a:t>
            </a:r>
            <a:r>
              <a:rPr lang="en-US" sz="2800" dirty="0"/>
              <a:t> During a college fest, a student coordinates between different teams to make sure events run smoothly.</a:t>
            </a:r>
          </a:p>
          <a:p>
            <a:endParaRPr lang="en-IN" dirty="0"/>
          </a:p>
        </p:txBody>
      </p:sp>
    </p:spTree>
    <p:extLst>
      <p:ext uri="{BB962C8B-B14F-4D97-AF65-F5344CB8AC3E}">
        <p14:creationId xmlns:p14="http://schemas.microsoft.com/office/powerpoint/2010/main" val="379256267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8E7EFF-8C29-3DC1-AE75-A47B15914F7F}"/>
              </a:ext>
            </a:extLst>
          </p:cNvPr>
          <p:cNvSpPr>
            <a:spLocks noGrp="1"/>
          </p:cNvSpPr>
          <p:nvPr>
            <p:ph type="title"/>
          </p:nvPr>
        </p:nvSpPr>
        <p:spPr/>
        <p:txBody>
          <a:bodyPr/>
          <a:lstStyle/>
          <a:p>
            <a:r>
              <a:rPr lang="en-US" b="1" dirty="0"/>
              <a:t>Importance of EQ:</a:t>
            </a:r>
            <a:br>
              <a:rPr lang="en-US" b="1" dirty="0"/>
            </a:br>
            <a:endParaRPr lang="en-IN" dirty="0"/>
          </a:p>
        </p:txBody>
      </p:sp>
      <p:sp>
        <p:nvSpPr>
          <p:cNvPr id="3" name="Content Placeholder 2">
            <a:extLst>
              <a:ext uri="{FF2B5EF4-FFF2-40B4-BE49-F238E27FC236}">
                <a16:creationId xmlns:a16="http://schemas.microsoft.com/office/drawing/2014/main" id="{F5BAA757-787E-5189-BA61-50D5CF4361D7}"/>
              </a:ext>
            </a:extLst>
          </p:cNvPr>
          <p:cNvSpPr>
            <a:spLocks noGrp="1"/>
          </p:cNvSpPr>
          <p:nvPr>
            <p:ph idx="1"/>
          </p:nvPr>
        </p:nvSpPr>
        <p:spPr>
          <a:xfrm>
            <a:off x="870857" y="2015732"/>
            <a:ext cx="10183997" cy="3450613"/>
          </a:xfrm>
        </p:spPr>
        <p:txBody>
          <a:bodyPr/>
          <a:lstStyle/>
          <a:p>
            <a:pPr>
              <a:buFont typeface="Arial" panose="020B0604020202020204" pitchFamily="34" charset="0"/>
              <a:buChar char="•"/>
            </a:pPr>
            <a:r>
              <a:rPr lang="en-US" sz="2800" dirty="0"/>
              <a:t>Builds strong relationships.</a:t>
            </a:r>
          </a:p>
          <a:p>
            <a:pPr>
              <a:buFont typeface="Arial" panose="020B0604020202020204" pitchFamily="34" charset="0"/>
              <a:buChar char="•"/>
            </a:pPr>
            <a:r>
              <a:rPr lang="en-US" sz="2800" dirty="0"/>
              <a:t>Reduces conflicts in teams.</a:t>
            </a:r>
          </a:p>
          <a:p>
            <a:pPr>
              <a:buFont typeface="Arial" panose="020B0604020202020204" pitchFamily="34" charset="0"/>
              <a:buChar char="•"/>
            </a:pPr>
            <a:r>
              <a:rPr lang="en-US" sz="2800" dirty="0"/>
              <a:t>Helps in leadership and decision-making.</a:t>
            </a:r>
          </a:p>
          <a:p>
            <a:pPr>
              <a:buFont typeface="Arial" panose="020B0604020202020204" pitchFamily="34" charset="0"/>
              <a:buChar char="•"/>
            </a:pPr>
            <a:r>
              <a:rPr lang="en-US" sz="2800" dirty="0"/>
              <a:t>Makes individuals adaptable in stressful situations.</a:t>
            </a:r>
          </a:p>
          <a:p>
            <a:endParaRPr lang="en-IN" dirty="0"/>
          </a:p>
        </p:txBody>
      </p:sp>
    </p:spTree>
    <p:extLst>
      <p:ext uri="{BB962C8B-B14F-4D97-AF65-F5344CB8AC3E}">
        <p14:creationId xmlns:p14="http://schemas.microsoft.com/office/powerpoint/2010/main" val="145780402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17F2A1-BA5E-8018-627D-F404B6996078}"/>
              </a:ext>
            </a:extLst>
          </p:cNvPr>
          <p:cNvSpPr>
            <a:spLocks noGrp="1"/>
          </p:cNvSpPr>
          <p:nvPr>
            <p:ph type="title"/>
          </p:nvPr>
        </p:nvSpPr>
        <p:spPr/>
        <p:txBody>
          <a:bodyPr>
            <a:normAutofit fontScale="90000"/>
          </a:bodyPr>
          <a:lstStyle/>
          <a:p>
            <a:r>
              <a:rPr lang="en-US" b="1" dirty="0"/>
              <a:t>3. Developing Self-Awareness with Johari Window</a:t>
            </a:r>
            <a:br>
              <a:rPr lang="en-US" b="1" dirty="0"/>
            </a:br>
            <a:endParaRPr lang="en-IN" dirty="0"/>
          </a:p>
        </p:txBody>
      </p:sp>
      <p:sp>
        <p:nvSpPr>
          <p:cNvPr id="3" name="Content Placeholder 2">
            <a:extLst>
              <a:ext uri="{FF2B5EF4-FFF2-40B4-BE49-F238E27FC236}">
                <a16:creationId xmlns:a16="http://schemas.microsoft.com/office/drawing/2014/main" id="{BB217C5B-8109-DA6E-D057-BDED44A8ADB4}"/>
              </a:ext>
            </a:extLst>
          </p:cNvPr>
          <p:cNvSpPr>
            <a:spLocks noGrp="1"/>
          </p:cNvSpPr>
          <p:nvPr>
            <p:ph idx="1"/>
          </p:nvPr>
        </p:nvSpPr>
        <p:spPr>
          <a:xfrm>
            <a:off x="511629" y="2015732"/>
            <a:ext cx="11114314" cy="3450613"/>
          </a:xfrm>
        </p:spPr>
        <p:txBody>
          <a:bodyPr/>
          <a:lstStyle/>
          <a:p>
            <a:pPr>
              <a:buNone/>
            </a:pPr>
            <a:r>
              <a:rPr lang="en-US" sz="2800" b="1" dirty="0"/>
              <a:t>Definition:</a:t>
            </a:r>
          </a:p>
          <a:p>
            <a:pPr>
              <a:buNone/>
            </a:pPr>
            <a:r>
              <a:rPr lang="en-US" sz="2800" dirty="0"/>
              <a:t>The Johari Window is a </a:t>
            </a:r>
            <a:r>
              <a:rPr lang="en-US" sz="2800" b="1" dirty="0"/>
              <a:t>psychological tool</a:t>
            </a:r>
            <a:r>
              <a:rPr lang="en-US" sz="2800" dirty="0"/>
              <a:t> created by Joseph Luft &amp; Harrington Ingham (1955) that helps people understand themselves and improve communication with others.</a:t>
            </a:r>
          </a:p>
          <a:p>
            <a:pPr marL="0" indent="0">
              <a:buNone/>
            </a:pPr>
            <a:endParaRPr lang="en-IN" dirty="0"/>
          </a:p>
        </p:txBody>
      </p:sp>
    </p:spTree>
    <p:extLst>
      <p:ext uri="{BB962C8B-B14F-4D97-AF65-F5344CB8AC3E}">
        <p14:creationId xmlns:p14="http://schemas.microsoft.com/office/powerpoint/2010/main" val="296779176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3" y="1066800"/>
            <a:ext cx="8072119" cy="677108"/>
          </a:xfrm>
        </p:spPr>
        <p:txBody>
          <a:bodyPr>
            <a:normAutofit fontScale="90000"/>
          </a:bodyPr>
          <a:lstStyle/>
          <a:p>
            <a:r>
              <a:rPr lang="en-US" sz="4400" dirty="0">
                <a:solidFill>
                  <a:srgbClr val="002060"/>
                </a:solidFill>
                <a:latin typeface="Trebuchet MS"/>
              </a:rPr>
              <a:t>What</a:t>
            </a:r>
            <a:r>
              <a:rPr lang="en-US" sz="4400" spc="-40" dirty="0">
                <a:solidFill>
                  <a:srgbClr val="002060"/>
                </a:solidFill>
                <a:latin typeface="Trebuchet MS"/>
              </a:rPr>
              <a:t> </a:t>
            </a:r>
            <a:r>
              <a:rPr lang="en-US" sz="4400" spc="-5" dirty="0">
                <a:solidFill>
                  <a:srgbClr val="002060"/>
                </a:solidFill>
                <a:latin typeface="Trebuchet MS"/>
              </a:rPr>
              <a:t>is</a:t>
            </a:r>
            <a:r>
              <a:rPr lang="en-US" sz="4400" spc="-20" dirty="0">
                <a:solidFill>
                  <a:srgbClr val="002060"/>
                </a:solidFill>
                <a:latin typeface="Trebuchet MS"/>
              </a:rPr>
              <a:t> </a:t>
            </a:r>
            <a:r>
              <a:rPr lang="en-US" sz="4400" dirty="0">
                <a:solidFill>
                  <a:srgbClr val="002060"/>
                </a:solidFill>
                <a:latin typeface="Trebuchet MS"/>
              </a:rPr>
              <a:t>self</a:t>
            </a:r>
            <a:r>
              <a:rPr lang="en-US" sz="4400" spc="-45" dirty="0">
                <a:solidFill>
                  <a:srgbClr val="002060"/>
                </a:solidFill>
                <a:latin typeface="Trebuchet MS"/>
              </a:rPr>
              <a:t> </a:t>
            </a:r>
            <a:r>
              <a:rPr lang="en-US" sz="4400" spc="-5" dirty="0">
                <a:solidFill>
                  <a:srgbClr val="002060"/>
                </a:solidFill>
                <a:latin typeface="Trebuchet MS"/>
              </a:rPr>
              <a:t>awareness?</a:t>
            </a:r>
            <a:endParaRPr lang="en-US" dirty="0">
              <a:solidFill>
                <a:srgbClr val="002060"/>
              </a:solidFill>
            </a:endParaRPr>
          </a:p>
        </p:txBody>
      </p:sp>
      <p:sp>
        <p:nvSpPr>
          <p:cNvPr id="4" name="Rectangle 3"/>
          <p:cNvSpPr/>
          <p:nvPr/>
        </p:nvSpPr>
        <p:spPr>
          <a:xfrm>
            <a:off x="1524000" y="1881060"/>
            <a:ext cx="9144000" cy="2805896"/>
          </a:xfrm>
          <a:prstGeom prst="rect">
            <a:avLst/>
          </a:prstGeom>
        </p:spPr>
        <p:txBody>
          <a:bodyPr wrap="square">
            <a:spAutoFit/>
          </a:bodyPr>
          <a:lstStyle/>
          <a:p>
            <a:pPr marL="355600" marR="5080" indent="-342900" algn="just" defTabSz="914400">
              <a:spcBef>
                <a:spcPts val="95"/>
              </a:spcBef>
            </a:pPr>
            <a:r>
              <a:rPr lang="en-US" sz="2250" spc="-220" dirty="0">
                <a:solidFill>
                  <a:srgbClr val="90C225"/>
                </a:solidFill>
                <a:latin typeface="Lucida Sans Unicode"/>
                <a:cs typeface="Lucida Sans Unicode"/>
              </a:rPr>
              <a:t>▶ </a:t>
            </a:r>
            <a:r>
              <a:rPr lang="en-US" sz="2800" b="1" spc="-10" dirty="0">
                <a:solidFill>
                  <a:srgbClr val="404040"/>
                </a:solidFill>
                <a:latin typeface="Trebuchet MS"/>
                <a:cs typeface="Trebuchet MS"/>
              </a:rPr>
              <a:t>Self Awareness </a:t>
            </a:r>
            <a:r>
              <a:rPr lang="en-US" sz="2800" spc="-5" dirty="0">
                <a:solidFill>
                  <a:srgbClr val="404040"/>
                </a:solidFill>
                <a:latin typeface="Trebuchet MS"/>
                <a:cs typeface="Trebuchet MS"/>
              </a:rPr>
              <a:t>is </a:t>
            </a:r>
            <a:r>
              <a:rPr lang="en-US" sz="2800" spc="-10" dirty="0">
                <a:solidFill>
                  <a:srgbClr val="404040"/>
                </a:solidFill>
                <a:latin typeface="Trebuchet MS"/>
                <a:cs typeface="Trebuchet MS"/>
              </a:rPr>
              <a:t>having </a:t>
            </a:r>
            <a:r>
              <a:rPr lang="en-US" sz="2800" spc="-5" dirty="0">
                <a:solidFill>
                  <a:srgbClr val="404040"/>
                </a:solidFill>
                <a:latin typeface="Trebuchet MS"/>
                <a:cs typeface="Trebuchet MS"/>
              </a:rPr>
              <a:t>a </a:t>
            </a:r>
            <a:r>
              <a:rPr lang="en-US" sz="2800" spc="-10" dirty="0">
                <a:solidFill>
                  <a:srgbClr val="404040"/>
                </a:solidFill>
                <a:latin typeface="Trebuchet MS"/>
                <a:cs typeface="Trebuchet MS"/>
              </a:rPr>
              <a:t>clear understanding </a:t>
            </a:r>
            <a:r>
              <a:rPr lang="en-US" sz="2800" spc="-5" dirty="0">
                <a:solidFill>
                  <a:srgbClr val="404040"/>
                </a:solidFill>
                <a:latin typeface="Trebuchet MS"/>
                <a:cs typeface="Trebuchet MS"/>
              </a:rPr>
              <a:t>of </a:t>
            </a:r>
            <a:r>
              <a:rPr lang="en-US" sz="2800" dirty="0">
                <a:solidFill>
                  <a:srgbClr val="404040"/>
                </a:solidFill>
                <a:latin typeface="Trebuchet MS"/>
                <a:cs typeface="Trebuchet MS"/>
              </a:rPr>
              <a:t> </a:t>
            </a:r>
            <a:r>
              <a:rPr lang="en-US" sz="2800" spc="-10" dirty="0">
                <a:solidFill>
                  <a:srgbClr val="404040"/>
                </a:solidFill>
                <a:latin typeface="Trebuchet MS"/>
                <a:cs typeface="Trebuchet MS"/>
              </a:rPr>
              <a:t>your personality; </a:t>
            </a:r>
            <a:r>
              <a:rPr lang="en-US" sz="2800" spc="-5" dirty="0">
                <a:solidFill>
                  <a:srgbClr val="404040"/>
                </a:solidFill>
                <a:latin typeface="Trebuchet MS"/>
                <a:cs typeface="Trebuchet MS"/>
              </a:rPr>
              <a:t>including strengths, </a:t>
            </a:r>
            <a:r>
              <a:rPr lang="en-US" sz="2800" spc="-10" dirty="0">
                <a:solidFill>
                  <a:srgbClr val="404040"/>
                </a:solidFill>
                <a:latin typeface="Trebuchet MS"/>
                <a:cs typeface="Trebuchet MS"/>
              </a:rPr>
              <a:t>weaknesses, </a:t>
            </a:r>
            <a:r>
              <a:rPr lang="en-US" sz="2800" spc="-830" dirty="0">
                <a:solidFill>
                  <a:srgbClr val="404040"/>
                </a:solidFill>
                <a:latin typeface="Trebuchet MS"/>
                <a:cs typeface="Trebuchet MS"/>
              </a:rPr>
              <a:t> </a:t>
            </a:r>
            <a:r>
              <a:rPr lang="en-US" sz="2800" spc="-10" dirty="0">
                <a:solidFill>
                  <a:srgbClr val="404040"/>
                </a:solidFill>
                <a:latin typeface="Trebuchet MS"/>
                <a:cs typeface="Trebuchet MS"/>
              </a:rPr>
              <a:t>thoughts,</a:t>
            </a:r>
            <a:r>
              <a:rPr lang="en-US" sz="2800" spc="10" dirty="0">
                <a:solidFill>
                  <a:srgbClr val="404040"/>
                </a:solidFill>
                <a:latin typeface="Trebuchet MS"/>
                <a:cs typeface="Trebuchet MS"/>
              </a:rPr>
              <a:t> </a:t>
            </a:r>
            <a:r>
              <a:rPr lang="en-US" sz="2800" spc="-10" dirty="0">
                <a:solidFill>
                  <a:srgbClr val="404040"/>
                </a:solidFill>
                <a:latin typeface="Trebuchet MS"/>
                <a:cs typeface="Trebuchet MS"/>
              </a:rPr>
              <a:t>beliefs,</a:t>
            </a:r>
            <a:r>
              <a:rPr lang="en-US" sz="2800" spc="15" dirty="0">
                <a:solidFill>
                  <a:srgbClr val="404040"/>
                </a:solidFill>
                <a:latin typeface="Trebuchet MS"/>
                <a:cs typeface="Trebuchet MS"/>
              </a:rPr>
              <a:t> </a:t>
            </a:r>
            <a:r>
              <a:rPr lang="en-US" sz="2800" spc="-10" dirty="0">
                <a:solidFill>
                  <a:srgbClr val="404040"/>
                </a:solidFill>
                <a:latin typeface="Trebuchet MS"/>
                <a:cs typeface="Trebuchet MS"/>
              </a:rPr>
              <a:t>motivation,</a:t>
            </a:r>
            <a:r>
              <a:rPr lang="en-US" sz="2800" spc="40" dirty="0">
                <a:solidFill>
                  <a:srgbClr val="404040"/>
                </a:solidFill>
                <a:latin typeface="Trebuchet MS"/>
                <a:cs typeface="Trebuchet MS"/>
              </a:rPr>
              <a:t> </a:t>
            </a:r>
            <a:r>
              <a:rPr lang="en-US" sz="2800" spc="-10" dirty="0">
                <a:solidFill>
                  <a:srgbClr val="404040"/>
                </a:solidFill>
                <a:latin typeface="Trebuchet MS"/>
                <a:cs typeface="Trebuchet MS"/>
              </a:rPr>
              <a:t>and</a:t>
            </a:r>
            <a:r>
              <a:rPr lang="en-US" sz="2800" spc="-5" dirty="0">
                <a:solidFill>
                  <a:srgbClr val="404040"/>
                </a:solidFill>
                <a:latin typeface="Trebuchet MS"/>
                <a:cs typeface="Trebuchet MS"/>
              </a:rPr>
              <a:t> </a:t>
            </a:r>
            <a:r>
              <a:rPr lang="en-US" sz="2800" spc="-10" dirty="0">
                <a:solidFill>
                  <a:srgbClr val="404040"/>
                </a:solidFill>
                <a:latin typeface="Trebuchet MS"/>
                <a:cs typeface="Trebuchet MS"/>
              </a:rPr>
              <a:t>emotions.</a:t>
            </a:r>
            <a:endParaRPr lang="en-US" sz="2800" dirty="0">
              <a:solidFill>
                <a:prstClr val="black"/>
              </a:solidFill>
              <a:latin typeface="Trebuchet MS"/>
              <a:cs typeface="Trebuchet MS"/>
            </a:endParaRPr>
          </a:p>
          <a:p>
            <a:pPr marL="355600" marR="95885" indent="-342900" algn="just" defTabSz="914400">
              <a:spcBef>
                <a:spcPts val="1010"/>
              </a:spcBef>
            </a:pPr>
            <a:r>
              <a:rPr lang="en-US" sz="2250" spc="-220" dirty="0">
                <a:solidFill>
                  <a:srgbClr val="90C225"/>
                </a:solidFill>
                <a:latin typeface="Lucida Sans Unicode"/>
                <a:cs typeface="Lucida Sans Unicode"/>
              </a:rPr>
              <a:t>▶</a:t>
            </a:r>
            <a:r>
              <a:rPr lang="en-US" sz="2250" spc="-215" dirty="0">
                <a:solidFill>
                  <a:srgbClr val="90C225"/>
                </a:solidFill>
                <a:latin typeface="Lucida Sans Unicode"/>
                <a:cs typeface="Lucida Sans Unicode"/>
              </a:rPr>
              <a:t> </a:t>
            </a:r>
            <a:r>
              <a:rPr lang="en-US" sz="2800" spc="-5" dirty="0">
                <a:solidFill>
                  <a:srgbClr val="404040"/>
                </a:solidFill>
                <a:latin typeface="Trebuchet MS"/>
                <a:cs typeface="Trebuchet MS"/>
              </a:rPr>
              <a:t>Self </a:t>
            </a:r>
            <a:r>
              <a:rPr lang="en-US" sz="2800" spc="-25" dirty="0">
                <a:solidFill>
                  <a:srgbClr val="404040"/>
                </a:solidFill>
                <a:latin typeface="Trebuchet MS"/>
                <a:cs typeface="Trebuchet MS"/>
              </a:rPr>
              <a:t>Awareness </a:t>
            </a:r>
            <a:r>
              <a:rPr lang="en-US" sz="2800" spc="-10" dirty="0">
                <a:solidFill>
                  <a:srgbClr val="404040"/>
                </a:solidFill>
                <a:latin typeface="Trebuchet MS"/>
                <a:cs typeface="Trebuchet MS"/>
              </a:rPr>
              <a:t>allows you </a:t>
            </a:r>
            <a:r>
              <a:rPr lang="en-US" sz="2800" spc="-5" dirty="0">
                <a:solidFill>
                  <a:srgbClr val="404040"/>
                </a:solidFill>
                <a:latin typeface="Trebuchet MS"/>
                <a:cs typeface="Trebuchet MS"/>
              </a:rPr>
              <a:t>to </a:t>
            </a:r>
            <a:r>
              <a:rPr lang="en-US" sz="2800" spc="-10" dirty="0">
                <a:solidFill>
                  <a:srgbClr val="404040"/>
                </a:solidFill>
                <a:latin typeface="Trebuchet MS"/>
                <a:cs typeface="Trebuchet MS"/>
              </a:rPr>
              <a:t>understand </a:t>
            </a:r>
            <a:r>
              <a:rPr lang="en-US" sz="2800" spc="-5" dirty="0">
                <a:solidFill>
                  <a:srgbClr val="404040"/>
                </a:solidFill>
                <a:latin typeface="Trebuchet MS"/>
                <a:cs typeface="Trebuchet MS"/>
              </a:rPr>
              <a:t>other </a:t>
            </a:r>
            <a:r>
              <a:rPr lang="en-US" sz="2800" dirty="0">
                <a:solidFill>
                  <a:srgbClr val="404040"/>
                </a:solidFill>
                <a:latin typeface="Trebuchet MS"/>
                <a:cs typeface="Trebuchet MS"/>
              </a:rPr>
              <a:t> </a:t>
            </a:r>
            <a:r>
              <a:rPr lang="en-US" sz="2800" spc="-10" dirty="0">
                <a:solidFill>
                  <a:srgbClr val="404040"/>
                </a:solidFill>
                <a:latin typeface="Trebuchet MS"/>
                <a:cs typeface="Trebuchet MS"/>
              </a:rPr>
              <a:t>people,</a:t>
            </a:r>
            <a:r>
              <a:rPr lang="en-US" sz="2800" spc="10" dirty="0">
                <a:solidFill>
                  <a:srgbClr val="404040"/>
                </a:solidFill>
                <a:latin typeface="Trebuchet MS"/>
                <a:cs typeface="Trebuchet MS"/>
              </a:rPr>
              <a:t> </a:t>
            </a:r>
            <a:r>
              <a:rPr lang="en-US" sz="2800" spc="-10" dirty="0">
                <a:solidFill>
                  <a:srgbClr val="404040"/>
                </a:solidFill>
                <a:latin typeface="Trebuchet MS"/>
                <a:cs typeface="Trebuchet MS"/>
              </a:rPr>
              <a:t>how they</a:t>
            </a:r>
            <a:r>
              <a:rPr lang="en-US" sz="2800" spc="5" dirty="0">
                <a:solidFill>
                  <a:srgbClr val="404040"/>
                </a:solidFill>
                <a:latin typeface="Trebuchet MS"/>
                <a:cs typeface="Trebuchet MS"/>
              </a:rPr>
              <a:t> </a:t>
            </a:r>
            <a:r>
              <a:rPr lang="en-US" sz="2800" spc="-10" dirty="0">
                <a:solidFill>
                  <a:srgbClr val="404040"/>
                </a:solidFill>
                <a:latin typeface="Trebuchet MS"/>
                <a:cs typeface="Trebuchet MS"/>
              </a:rPr>
              <a:t>perceive</a:t>
            </a:r>
            <a:r>
              <a:rPr lang="en-US" sz="2800" spc="10" dirty="0">
                <a:solidFill>
                  <a:srgbClr val="404040"/>
                </a:solidFill>
                <a:latin typeface="Trebuchet MS"/>
                <a:cs typeface="Trebuchet MS"/>
              </a:rPr>
              <a:t> </a:t>
            </a:r>
            <a:r>
              <a:rPr lang="en-US" sz="2800" spc="-10" dirty="0">
                <a:solidFill>
                  <a:srgbClr val="404040"/>
                </a:solidFill>
                <a:latin typeface="Trebuchet MS"/>
                <a:cs typeface="Trebuchet MS"/>
              </a:rPr>
              <a:t>you, your</a:t>
            </a:r>
            <a:r>
              <a:rPr lang="en-US" sz="2800" spc="-5" dirty="0">
                <a:solidFill>
                  <a:srgbClr val="404040"/>
                </a:solidFill>
                <a:latin typeface="Trebuchet MS"/>
                <a:cs typeface="Trebuchet MS"/>
              </a:rPr>
              <a:t> </a:t>
            </a:r>
            <a:r>
              <a:rPr lang="en-US" sz="2800" spc="-10" dirty="0">
                <a:solidFill>
                  <a:srgbClr val="404040"/>
                </a:solidFill>
                <a:latin typeface="Trebuchet MS"/>
                <a:cs typeface="Trebuchet MS"/>
              </a:rPr>
              <a:t>attitude</a:t>
            </a:r>
            <a:r>
              <a:rPr lang="en-US" sz="2800" spc="45" dirty="0">
                <a:solidFill>
                  <a:srgbClr val="404040"/>
                </a:solidFill>
                <a:latin typeface="Trebuchet MS"/>
                <a:cs typeface="Trebuchet MS"/>
              </a:rPr>
              <a:t> </a:t>
            </a:r>
            <a:r>
              <a:rPr lang="en-US" sz="2800" spc="-10" dirty="0">
                <a:solidFill>
                  <a:srgbClr val="404040"/>
                </a:solidFill>
                <a:latin typeface="Trebuchet MS"/>
                <a:cs typeface="Trebuchet MS"/>
              </a:rPr>
              <a:t>and </a:t>
            </a:r>
            <a:r>
              <a:rPr lang="en-US" sz="2800" spc="-830" dirty="0">
                <a:solidFill>
                  <a:srgbClr val="404040"/>
                </a:solidFill>
                <a:latin typeface="Trebuchet MS"/>
                <a:cs typeface="Trebuchet MS"/>
              </a:rPr>
              <a:t> </a:t>
            </a:r>
            <a:r>
              <a:rPr lang="en-US" sz="2800" spc="-5" dirty="0">
                <a:solidFill>
                  <a:srgbClr val="404040"/>
                </a:solidFill>
                <a:latin typeface="Trebuchet MS"/>
                <a:cs typeface="Trebuchet MS"/>
              </a:rPr>
              <a:t>your</a:t>
            </a:r>
            <a:r>
              <a:rPr lang="en-US" sz="2800" spc="-25" dirty="0">
                <a:solidFill>
                  <a:srgbClr val="404040"/>
                </a:solidFill>
                <a:latin typeface="Trebuchet MS"/>
                <a:cs typeface="Trebuchet MS"/>
              </a:rPr>
              <a:t> </a:t>
            </a:r>
            <a:r>
              <a:rPr lang="en-US" sz="2800" spc="-5" dirty="0">
                <a:solidFill>
                  <a:srgbClr val="404040"/>
                </a:solidFill>
                <a:latin typeface="Trebuchet MS"/>
                <a:cs typeface="Trebuchet MS"/>
              </a:rPr>
              <a:t>responses</a:t>
            </a:r>
            <a:r>
              <a:rPr lang="en-US" sz="2800" spc="5" dirty="0">
                <a:solidFill>
                  <a:srgbClr val="404040"/>
                </a:solidFill>
                <a:latin typeface="Trebuchet MS"/>
                <a:cs typeface="Trebuchet MS"/>
              </a:rPr>
              <a:t> </a:t>
            </a:r>
            <a:r>
              <a:rPr lang="en-US" sz="2800" spc="-5" dirty="0">
                <a:solidFill>
                  <a:srgbClr val="404040"/>
                </a:solidFill>
                <a:latin typeface="Trebuchet MS"/>
                <a:cs typeface="Trebuchet MS"/>
              </a:rPr>
              <a:t>to them</a:t>
            </a:r>
            <a:r>
              <a:rPr lang="en-US" sz="2800" spc="-20" dirty="0">
                <a:solidFill>
                  <a:srgbClr val="404040"/>
                </a:solidFill>
                <a:latin typeface="Trebuchet MS"/>
                <a:cs typeface="Trebuchet MS"/>
              </a:rPr>
              <a:t> </a:t>
            </a:r>
            <a:r>
              <a:rPr lang="en-US" sz="2800" spc="-5" dirty="0">
                <a:solidFill>
                  <a:srgbClr val="404040"/>
                </a:solidFill>
                <a:latin typeface="Trebuchet MS"/>
                <a:cs typeface="Trebuchet MS"/>
              </a:rPr>
              <a:t>in the</a:t>
            </a:r>
            <a:r>
              <a:rPr lang="en-US" sz="2800" spc="-15" dirty="0">
                <a:solidFill>
                  <a:srgbClr val="404040"/>
                </a:solidFill>
                <a:latin typeface="Trebuchet MS"/>
                <a:cs typeface="Trebuchet MS"/>
              </a:rPr>
              <a:t> </a:t>
            </a:r>
            <a:r>
              <a:rPr lang="en-US" sz="2800" spc="-10" dirty="0">
                <a:solidFill>
                  <a:srgbClr val="404040"/>
                </a:solidFill>
                <a:latin typeface="Trebuchet MS"/>
                <a:cs typeface="Trebuchet MS"/>
              </a:rPr>
              <a:t>moment.</a:t>
            </a:r>
            <a:endParaRPr lang="en-US" sz="2800" dirty="0">
              <a:solidFill>
                <a:prstClr val="black"/>
              </a:solidFill>
              <a:latin typeface="Trebuchet MS"/>
              <a:cs typeface="Trebuchet MS"/>
            </a:endParaRPr>
          </a:p>
        </p:txBody>
      </p:sp>
      <p:pic>
        <p:nvPicPr>
          <p:cNvPr id="307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2400" y="4572000"/>
            <a:ext cx="2209800" cy="220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6350169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59942" y="749300"/>
            <a:ext cx="4372610" cy="787400"/>
          </a:xfrm>
          <a:prstGeom prst="rect">
            <a:avLst/>
          </a:prstGeom>
        </p:spPr>
        <p:txBody>
          <a:bodyPr vert="horz" wrap="square" lIns="0" tIns="12700" rIns="0" bIns="0" rtlCol="0">
            <a:spAutoFit/>
          </a:bodyPr>
          <a:lstStyle/>
          <a:p>
            <a:pPr marL="12700">
              <a:spcBef>
                <a:spcPts val="100"/>
              </a:spcBef>
            </a:pPr>
            <a:r>
              <a:rPr sz="5000" dirty="0">
                <a:solidFill>
                  <a:srgbClr val="9898CC"/>
                </a:solidFill>
              </a:rPr>
              <a:t>Self</a:t>
            </a:r>
            <a:r>
              <a:rPr sz="5000" spc="-55" dirty="0">
                <a:solidFill>
                  <a:srgbClr val="9898CC"/>
                </a:solidFill>
              </a:rPr>
              <a:t> </a:t>
            </a:r>
            <a:r>
              <a:rPr sz="5000" spc="-5" dirty="0">
                <a:solidFill>
                  <a:srgbClr val="9898CC"/>
                </a:solidFill>
              </a:rPr>
              <a:t>awareness</a:t>
            </a:r>
            <a:endParaRPr sz="5000"/>
          </a:p>
        </p:txBody>
      </p:sp>
      <p:sp>
        <p:nvSpPr>
          <p:cNvPr id="3" name="object 3"/>
          <p:cNvSpPr txBox="1"/>
          <p:nvPr/>
        </p:nvSpPr>
        <p:spPr>
          <a:xfrm>
            <a:off x="1894842" y="2014222"/>
            <a:ext cx="3948429" cy="1915909"/>
          </a:xfrm>
          <a:prstGeom prst="rect">
            <a:avLst/>
          </a:prstGeom>
        </p:spPr>
        <p:txBody>
          <a:bodyPr vert="horz" wrap="square" lIns="0" tIns="12700" rIns="0" bIns="0" rtlCol="0">
            <a:spAutoFit/>
          </a:bodyPr>
          <a:lstStyle/>
          <a:p>
            <a:pPr marL="25400" marR="17780" defTabSz="914400">
              <a:spcBef>
                <a:spcPts val="100"/>
              </a:spcBef>
            </a:pPr>
            <a:r>
              <a:rPr sz="2800" spc="-5" dirty="0">
                <a:solidFill>
                  <a:srgbClr val="663300"/>
                </a:solidFill>
                <a:latin typeface="Arial MT"/>
                <a:cs typeface="Arial MT"/>
              </a:rPr>
              <a:t>Meaning- </a:t>
            </a:r>
            <a:r>
              <a:rPr sz="2800" spc="-5" dirty="0">
                <a:solidFill>
                  <a:prstClr val="black"/>
                </a:solidFill>
                <a:latin typeface="Arial MT"/>
                <a:cs typeface="Arial MT"/>
              </a:rPr>
              <a:t>Knowing one’s </a:t>
            </a:r>
            <a:r>
              <a:rPr sz="2800" spc="-765" dirty="0">
                <a:solidFill>
                  <a:prstClr val="black"/>
                </a:solidFill>
                <a:latin typeface="Arial MT"/>
                <a:cs typeface="Arial MT"/>
              </a:rPr>
              <a:t> </a:t>
            </a:r>
            <a:r>
              <a:rPr sz="2800" spc="-5" dirty="0">
                <a:solidFill>
                  <a:prstClr val="black"/>
                </a:solidFill>
                <a:latin typeface="Arial MT"/>
                <a:cs typeface="Arial MT"/>
              </a:rPr>
              <a:t>own</a:t>
            </a:r>
            <a:endParaRPr sz="2800">
              <a:solidFill>
                <a:prstClr val="black"/>
              </a:solidFill>
              <a:latin typeface="Arial MT"/>
              <a:cs typeface="Arial MT"/>
            </a:endParaRPr>
          </a:p>
          <a:p>
            <a:pPr marL="237490" indent="-212725" defTabSz="914400">
              <a:spcBef>
                <a:spcPts val="700"/>
              </a:spcBef>
              <a:buClr>
                <a:srgbClr val="009800"/>
              </a:buClr>
              <a:buSzPct val="71428"/>
              <a:buFont typeface="Wingdings"/>
              <a:buChar char=""/>
              <a:tabLst>
                <a:tab pos="238125" algn="l"/>
              </a:tabLst>
            </a:pPr>
            <a:r>
              <a:rPr sz="2800" spc="-5" dirty="0">
                <a:solidFill>
                  <a:prstClr val="black"/>
                </a:solidFill>
                <a:latin typeface="Arial MT"/>
                <a:cs typeface="Arial MT"/>
              </a:rPr>
              <a:t>Attitudes-</a:t>
            </a:r>
            <a:r>
              <a:rPr sz="2800" spc="-20" dirty="0">
                <a:solidFill>
                  <a:prstClr val="black"/>
                </a:solidFill>
                <a:latin typeface="Arial MT"/>
                <a:cs typeface="Arial MT"/>
              </a:rPr>
              <a:t> </a:t>
            </a:r>
            <a:r>
              <a:rPr sz="2800" dirty="0">
                <a:solidFill>
                  <a:prstClr val="black"/>
                </a:solidFill>
                <a:latin typeface="Arial MT"/>
                <a:cs typeface="Arial MT"/>
              </a:rPr>
              <a:t>opinion</a:t>
            </a:r>
            <a:endParaRPr sz="2800">
              <a:solidFill>
                <a:prstClr val="black"/>
              </a:solidFill>
              <a:latin typeface="Arial MT"/>
              <a:cs typeface="Arial MT"/>
            </a:endParaRPr>
          </a:p>
          <a:p>
            <a:pPr marL="237490" indent="-212725" defTabSz="914400">
              <a:spcBef>
                <a:spcPts val="690"/>
              </a:spcBef>
              <a:buClr>
                <a:srgbClr val="009800"/>
              </a:buClr>
              <a:buSzPct val="71428"/>
              <a:buFont typeface="Wingdings"/>
              <a:buChar char=""/>
              <a:tabLst>
                <a:tab pos="238125" algn="l"/>
              </a:tabLst>
            </a:pPr>
            <a:r>
              <a:rPr sz="2800" dirty="0">
                <a:solidFill>
                  <a:prstClr val="black"/>
                </a:solidFill>
                <a:latin typeface="Arial MT"/>
                <a:cs typeface="Arial MT"/>
              </a:rPr>
              <a:t>Feelings-</a:t>
            </a:r>
            <a:r>
              <a:rPr sz="2800" spc="-25" dirty="0">
                <a:solidFill>
                  <a:prstClr val="black"/>
                </a:solidFill>
                <a:latin typeface="Arial MT"/>
                <a:cs typeface="Arial MT"/>
              </a:rPr>
              <a:t> </a:t>
            </a:r>
            <a:r>
              <a:rPr sz="2800" spc="-5" dirty="0">
                <a:solidFill>
                  <a:prstClr val="black"/>
                </a:solidFill>
                <a:latin typeface="Arial MT"/>
                <a:cs typeface="Arial MT"/>
              </a:rPr>
              <a:t>emotion</a:t>
            </a:r>
            <a:endParaRPr sz="2800">
              <a:solidFill>
                <a:prstClr val="black"/>
              </a:solidFill>
              <a:latin typeface="Arial MT"/>
              <a:cs typeface="Arial MT"/>
            </a:endParaRPr>
          </a:p>
        </p:txBody>
      </p:sp>
      <p:sp>
        <p:nvSpPr>
          <p:cNvPr id="4" name="object 4"/>
          <p:cNvSpPr txBox="1"/>
          <p:nvPr/>
        </p:nvSpPr>
        <p:spPr>
          <a:xfrm>
            <a:off x="1882143" y="3898900"/>
            <a:ext cx="1633855" cy="1054100"/>
          </a:xfrm>
          <a:prstGeom prst="rect">
            <a:avLst/>
          </a:prstGeom>
        </p:spPr>
        <p:txBody>
          <a:bodyPr vert="horz" wrap="square" lIns="0" tIns="100330" rIns="0" bIns="0" rtlCol="0">
            <a:spAutoFit/>
          </a:bodyPr>
          <a:lstStyle/>
          <a:p>
            <a:pPr marL="250190" indent="-212725" defTabSz="914400">
              <a:spcBef>
                <a:spcPts val="790"/>
              </a:spcBef>
              <a:buClr>
                <a:srgbClr val="009800"/>
              </a:buClr>
              <a:buSzPct val="71428"/>
              <a:buFont typeface="Wingdings"/>
              <a:buChar char=""/>
              <a:tabLst>
                <a:tab pos="250825" algn="l"/>
              </a:tabLst>
            </a:pPr>
            <a:r>
              <a:rPr sz="2800" dirty="0">
                <a:solidFill>
                  <a:prstClr val="black"/>
                </a:solidFill>
                <a:latin typeface="Arial MT"/>
                <a:cs typeface="Arial MT"/>
              </a:rPr>
              <a:t>Motives-</a:t>
            </a:r>
            <a:endParaRPr sz="2800">
              <a:solidFill>
                <a:prstClr val="black"/>
              </a:solidFill>
              <a:latin typeface="Arial MT"/>
              <a:cs typeface="Arial MT"/>
            </a:endParaRPr>
          </a:p>
          <a:p>
            <a:pPr marL="250190" indent="-212725" defTabSz="914400">
              <a:spcBef>
                <a:spcPts val="690"/>
              </a:spcBef>
              <a:buClr>
                <a:srgbClr val="009800"/>
              </a:buClr>
              <a:buSzPct val="71428"/>
              <a:buFont typeface="Wingdings"/>
              <a:buChar char=""/>
              <a:tabLst>
                <a:tab pos="250825" algn="l"/>
              </a:tabLst>
            </a:pPr>
            <a:r>
              <a:rPr sz="2800" dirty="0">
                <a:solidFill>
                  <a:prstClr val="black"/>
                </a:solidFill>
                <a:latin typeface="Arial MT"/>
                <a:cs typeface="Arial MT"/>
              </a:rPr>
              <a:t>Desires-</a:t>
            </a:r>
            <a:endParaRPr sz="2800">
              <a:solidFill>
                <a:prstClr val="black"/>
              </a:solidFill>
              <a:latin typeface="Arial MT"/>
              <a:cs typeface="Arial MT"/>
            </a:endParaRPr>
          </a:p>
        </p:txBody>
      </p:sp>
      <p:sp>
        <p:nvSpPr>
          <p:cNvPr id="5" name="object 5"/>
          <p:cNvSpPr txBox="1"/>
          <p:nvPr/>
        </p:nvSpPr>
        <p:spPr>
          <a:xfrm>
            <a:off x="3742746" y="3898901"/>
            <a:ext cx="1332865" cy="1007007"/>
          </a:xfrm>
          <a:prstGeom prst="rect">
            <a:avLst/>
          </a:prstGeom>
        </p:spPr>
        <p:txBody>
          <a:bodyPr vert="horz" wrap="square" lIns="0" tIns="12700" rIns="0" bIns="0" rtlCol="0">
            <a:spAutoFit/>
          </a:bodyPr>
          <a:lstStyle/>
          <a:p>
            <a:pPr marL="12700" marR="5080" indent="19050" defTabSz="914400">
              <a:lnSpc>
                <a:spcPct val="120500"/>
              </a:lnSpc>
              <a:spcBef>
                <a:spcPts val="100"/>
              </a:spcBef>
            </a:pPr>
            <a:r>
              <a:rPr sz="2800" dirty="0">
                <a:solidFill>
                  <a:prstClr val="black"/>
                </a:solidFill>
                <a:latin typeface="Arial MT"/>
                <a:cs typeface="Arial MT"/>
              </a:rPr>
              <a:t>pu</a:t>
            </a:r>
            <a:r>
              <a:rPr sz="2800" spc="5" dirty="0">
                <a:solidFill>
                  <a:prstClr val="black"/>
                </a:solidFill>
                <a:latin typeface="Arial MT"/>
                <a:cs typeface="Arial MT"/>
              </a:rPr>
              <a:t>r</a:t>
            </a:r>
            <a:r>
              <a:rPr sz="2800" dirty="0">
                <a:solidFill>
                  <a:prstClr val="black"/>
                </a:solidFill>
                <a:latin typeface="Arial MT"/>
                <a:cs typeface="Arial MT"/>
              </a:rPr>
              <a:t>pose  needs</a:t>
            </a:r>
            <a:endParaRPr sz="2800">
              <a:solidFill>
                <a:prstClr val="black"/>
              </a:solidFill>
              <a:latin typeface="Arial MT"/>
              <a:cs typeface="Arial MT"/>
            </a:endParaRPr>
          </a:p>
        </p:txBody>
      </p:sp>
      <p:sp>
        <p:nvSpPr>
          <p:cNvPr id="6" name="object 6"/>
          <p:cNvSpPr txBox="1"/>
          <p:nvPr/>
        </p:nvSpPr>
        <p:spPr>
          <a:xfrm>
            <a:off x="1882143" y="4927600"/>
            <a:ext cx="4346575" cy="1056640"/>
          </a:xfrm>
          <a:prstGeom prst="rect">
            <a:avLst/>
          </a:prstGeom>
        </p:spPr>
        <p:txBody>
          <a:bodyPr vert="horz" wrap="square" lIns="0" tIns="101600" rIns="0" bIns="0" rtlCol="0">
            <a:spAutoFit/>
          </a:bodyPr>
          <a:lstStyle/>
          <a:p>
            <a:pPr marL="250190" indent="-212725" defTabSz="914400">
              <a:spcBef>
                <a:spcPts val="800"/>
              </a:spcBef>
              <a:buClr>
                <a:srgbClr val="009800"/>
              </a:buClr>
              <a:buSzPct val="71428"/>
              <a:buFont typeface="Wingdings"/>
              <a:buChar char=""/>
              <a:tabLst>
                <a:tab pos="250825" algn="l"/>
              </a:tabLst>
            </a:pPr>
            <a:r>
              <a:rPr sz="2800" dirty="0">
                <a:solidFill>
                  <a:prstClr val="black"/>
                </a:solidFill>
                <a:latin typeface="Arial MT"/>
                <a:cs typeface="Arial MT"/>
              </a:rPr>
              <a:t>Strengths-weaknesses</a:t>
            </a:r>
            <a:endParaRPr sz="2800">
              <a:solidFill>
                <a:prstClr val="black"/>
              </a:solidFill>
              <a:latin typeface="Arial MT"/>
              <a:cs typeface="Arial MT"/>
            </a:endParaRPr>
          </a:p>
          <a:p>
            <a:pPr marL="250190" indent="-212725" defTabSz="914400">
              <a:spcBef>
                <a:spcPts val="700"/>
              </a:spcBef>
              <a:buClr>
                <a:srgbClr val="009800"/>
              </a:buClr>
              <a:buSzPct val="71428"/>
              <a:buFont typeface="Wingdings"/>
              <a:buChar char=""/>
              <a:tabLst>
                <a:tab pos="250825" algn="l"/>
              </a:tabLst>
            </a:pPr>
            <a:r>
              <a:rPr sz="2800" dirty="0">
                <a:solidFill>
                  <a:prstClr val="black"/>
                </a:solidFill>
                <a:latin typeface="Arial MT"/>
                <a:cs typeface="Arial MT"/>
              </a:rPr>
              <a:t>Accurate</a:t>
            </a:r>
            <a:r>
              <a:rPr sz="2800" spc="-35" dirty="0">
                <a:solidFill>
                  <a:prstClr val="black"/>
                </a:solidFill>
                <a:latin typeface="Arial MT"/>
                <a:cs typeface="Arial MT"/>
              </a:rPr>
              <a:t> </a:t>
            </a:r>
            <a:r>
              <a:rPr sz="2800" dirty="0">
                <a:solidFill>
                  <a:prstClr val="black"/>
                </a:solidFill>
                <a:latin typeface="Arial MT"/>
                <a:cs typeface="Arial MT"/>
              </a:rPr>
              <a:t>self</a:t>
            </a:r>
            <a:r>
              <a:rPr sz="2800" spc="-30" dirty="0">
                <a:solidFill>
                  <a:prstClr val="black"/>
                </a:solidFill>
                <a:latin typeface="Arial MT"/>
                <a:cs typeface="Arial MT"/>
              </a:rPr>
              <a:t> </a:t>
            </a:r>
            <a:r>
              <a:rPr sz="2800" dirty="0">
                <a:solidFill>
                  <a:prstClr val="black"/>
                </a:solidFill>
                <a:latin typeface="Arial MT"/>
                <a:cs typeface="Arial MT"/>
              </a:rPr>
              <a:t>assessment</a:t>
            </a:r>
            <a:endParaRPr sz="2800">
              <a:solidFill>
                <a:prstClr val="black"/>
              </a:solidFill>
              <a:latin typeface="Arial MT"/>
              <a:cs typeface="Arial MT"/>
            </a:endParaRPr>
          </a:p>
        </p:txBody>
      </p:sp>
      <p:pic>
        <p:nvPicPr>
          <p:cNvPr id="7" name="object 7"/>
          <p:cNvPicPr/>
          <p:nvPr/>
        </p:nvPicPr>
        <p:blipFill>
          <a:blip r:embed="rId2" cstate="print"/>
          <a:stretch>
            <a:fillRect/>
          </a:stretch>
        </p:blipFill>
        <p:spPr>
          <a:xfrm>
            <a:off x="6705600" y="2058675"/>
            <a:ext cx="3352800" cy="4037329"/>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59941" y="795020"/>
            <a:ext cx="7054215" cy="695960"/>
          </a:xfrm>
          <a:prstGeom prst="rect">
            <a:avLst/>
          </a:prstGeom>
        </p:spPr>
        <p:txBody>
          <a:bodyPr vert="horz" wrap="square" lIns="0" tIns="12700" rIns="0" bIns="0" rtlCol="0">
            <a:spAutoFit/>
          </a:bodyPr>
          <a:lstStyle/>
          <a:p>
            <a:pPr marL="12700">
              <a:spcBef>
                <a:spcPts val="100"/>
              </a:spcBef>
            </a:pPr>
            <a:r>
              <a:rPr sz="4400" dirty="0"/>
              <a:t>Key</a:t>
            </a:r>
            <a:r>
              <a:rPr sz="4400" spc="-15" dirty="0"/>
              <a:t> </a:t>
            </a:r>
            <a:r>
              <a:rPr sz="4400" spc="-5" dirty="0"/>
              <a:t>areas</a:t>
            </a:r>
            <a:r>
              <a:rPr sz="4400" spc="-10" dirty="0"/>
              <a:t> </a:t>
            </a:r>
            <a:r>
              <a:rPr sz="4400" dirty="0"/>
              <a:t>of</a:t>
            </a:r>
            <a:r>
              <a:rPr sz="4400" spc="-15" dirty="0"/>
              <a:t> </a:t>
            </a:r>
            <a:r>
              <a:rPr sz="4400" spc="-5" dirty="0"/>
              <a:t>self</a:t>
            </a:r>
            <a:r>
              <a:rPr sz="4400" spc="-10" dirty="0"/>
              <a:t> </a:t>
            </a:r>
            <a:r>
              <a:rPr sz="4400" dirty="0"/>
              <a:t>awareness</a:t>
            </a:r>
            <a:endParaRPr sz="4400"/>
          </a:p>
        </p:txBody>
      </p:sp>
      <p:sp>
        <p:nvSpPr>
          <p:cNvPr id="3" name="object 3"/>
          <p:cNvSpPr txBox="1"/>
          <p:nvPr/>
        </p:nvSpPr>
        <p:spPr>
          <a:xfrm>
            <a:off x="2034540" y="1912620"/>
            <a:ext cx="4135120" cy="2970530"/>
          </a:xfrm>
          <a:prstGeom prst="rect">
            <a:avLst/>
          </a:prstGeom>
        </p:spPr>
        <p:txBody>
          <a:bodyPr vert="horz" wrap="square" lIns="0" tIns="114300" rIns="0" bIns="0" rtlCol="0">
            <a:spAutoFit/>
          </a:bodyPr>
          <a:lstStyle/>
          <a:p>
            <a:pPr marL="381000" indent="-342900" defTabSz="914400">
              <a:spcBef>
                <a:spcPts val="900"/>
              </a:spcBef>
              <a:buSzPct val="75000"/>
              <a:buFont typeface="Wingdings"/>
              <a:buChar char=""/>
              <a:tabLst>
                <a:tab pos="381000" algn="l"/>
              </a:tabLst>
            </a:pPr>
            <a:r>
              <a:rPr sz="3200" dirty="0">
                <a:solidFill>
                  <a:prstClr val="black"/>
                </a:solidFill>
                <a:latin typeface="Arial MT"/>
                <a:cs typeface="Arial MT"/>
              </a:rPr>
              <a:t>Personality</a:t>
            </a:r>
            <a:r>
              <a:rPr sz="3200" spc="-40" dirty="0">
                <a:solidFill>
                  <a:prstClr val="black"/>
                </a:solidFill>
                <a:latin typeface="Arial MT"/>
                <a:cs typeface="Arial MT"/>
              </a:rPr>
              <a:t> </a:t>
            </a:r>
            <a:r>
              <a:rPr sz="3200" spc="-5" dirty="0">
                <a:solidFill>
                  <a:prstClr val="black"/>
                </a:solidFill>
                <a:latin typeface="Arial MT"/>
                <a:cs typeface="Arial MT"/>
              </a:rPr>
              <a:t>traits</a:t>
            </a:r>
            <a:endParaRPr sz="3200">
              <a:solidFill>
                <a:prstClr val="black"/>
              </a:solidFill>
              <a:latin typeface="Arial MT"/>
              <a:cs typeface="Arial MT"/>
            </a:endParaRPr>
          </a:p>
          <a:p>
            <a:pPr marL="381000" indent="-342900" defTabSz="914400">
              <a:spcBef>
                <a:spcPts val="800"/>
              </a:spcBef>
              <a:buSzPct val="75000"/>
              <a:buFont typeface="Wingdings"/>
              <a:buChar char=""/>
              <a:tabLst>
                <a:tab pos="381000" algn="l"/>
              </a:tabLst>
            </a:pPr>
            <a:r>
              <a:rPr sz="3200" dirty="0">
                <a:solidFill>
                  <a:prstClr val="black"/>
                </a:solidFill>
                <a:latin typeface="Arial MT"/>
                <a:cs typeface="Arial MT"/>
              </a:rPr>
              <a:t>Personal</a:t>
            </a:r>
            <a:r>
              <a:rPr sz="3200" spc="-45" dirty="0">
                <a:solidFill>
                  <a:prstClr val="black"/>
                </a:solidFill>
                <a:latin typeface="Arial MT"/>
                <a:cs typeface="Arial MT"/>
              </a:rPr>
              <a:t> </a:t>
            </a:r>
            <a:r>
              <a:rPr sz="3200" dirty="0">
                <a:solidFill>
                  <a:prstClr val="black"/>
                </a:solidFill>
                <a:latin typeface="Arial MT"/>
                <a:cs typeface="Arial MT"/>
              </a:rPr>
              <a:t>values</a:t>
            </a:r>
            <a:endParaRPr sz="3200">
              <a:solidFill>
                <a:prstClr val="black"/>
              </a:solidFill>
              <a:latin typeface="Arial MT"/>
              <a:cs typeface="Arial MT"/>
            </a:endParaRPr>
          </a:p>
          <a:p>
            <a:pPr marL="381000" indent="-342900" defTabSz="914400">
              <a:spcBef>
                <a:spcPts val="790"/>
              </a:spcBef>
              <a:buSzPct val="75000"/>
              <a:buFont typeface="Wingdings"/>
              <a:buChar char=""/>
              <a:tabLst>
                <a:tab pos="381000" algn="l"/>
              </a:tabLst>
            </a:pPr>
            <a:r>
              <a:rPr sz="3200" dirty="0">
                <a:solidFill>
                  <a:prstClr val="black"/>
                </a:solidFill>
                <a:latin typeface="Arial MT"/>
                <a:cs typeface="Arial MT"/>
              </a:rPr>
              <a:t>Habits</a:t>
            </a:r>
            <a:endParaRPr sz="3200">
              <a:solidFill>
                <a:prstClr val="black"/>
              </a:solidFill>
              <a:latin typeface="Arial MT"/>
              <a:cs typeface="Arial MT"/>
            </a:endParaRPr>
          </a:p>
          <a:p>
            <a:pPr marL="381000" indent="-342900" defTabSz="914400">
              <a:spcBef>
                <a:spcPts val="800"/>
              </a:spcBef>
              <a:buSzPct val="75000"/>
              <a:buFont typeface="Wingdings"/>
              <a:buChar char=""/>
              <a:tabLst>
                <a:tab pos="381000" algn="l"/>
              </a:tabLst>
            </a:pPr>
            <a:r>
              <a:rPr sz="3200" spc="-5" dirty="0">
                <a:solidFill>
                  <a:prstClr val="black"/>
                </a:solidFill>
                <a:latin typeface="Arial MT"/>
                <a:cs typeface="Arial MT"/>
              </a:rPr>
              <a:t>Emotions</a:t>
            </a:r>
            <a:endParaRPr sz="3200">
              <a:solidFill>
                <a:prstClr val="black"/>
              </a:solidFill>
              <a:latin typeface="Arial MT"/>
              <a:cs typeface="Arial MT"/>
            </a:endParaRPr>
          </a:p>
          <a:p>
            <a:pPr marL="381000" indent="-342900" defTabSz="914400">
              <a:spcBef>
                <a:spcPts val="800"/>
              </a:spcBef>
              <a:buSzPct val="75000"/>
              <a:buFont typeface="Wingdings"/>
              <a:buChar char=""/>
              <a:tabLst>
                <a:tab pos="381000" algn="l"/>
              </a:tabLst>
            </a:pPr>
            <a:r>
              <a:rPr sz="3200" dirty="0">
                <a:solidFill>
                  <a:prstClr val="black"/>
                </a:solidFill>
                <a:latin typeface="Arial MT"/>
                <a:cs typeface="Arial MT"/>
              </a:rPr>
              <a:t>Psychological</a:t>
            </a:r>
            <a:r>
              <a:rPr sz="3200" spc="-60" dirty="0">
                <a:solidFill>
                  <a:prstClr val="black"/>
                </a:solidFill>
                <a:latin typeface="Arial MT"/>
                <a:cs typeface="Arial MT"/>
              </a:rPr>
              <a:t> </a:t>
            </a:r>
            <a:r>
              <a:rPr sz="3200" dirty="0">
                <a:solidFill>
                  <a:prstClr val="black"/>
                </a:solidFill>
                <a:latin typeface="Arial MT"/>
                <a:cs typeface="Arial MT"/>
              </a:rPr>
              <a:t>needs</a:t>
            </a:r>
            <a:endParaRPr sz="3200">
              <a:solidFill>
                <a:prstClr val="black"/>
              </a:solidFill>
              <a:latin typeface="Arial MT"/>
              <a:cs typeface="Arial MT"/>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524000" y="923542"/>
            <a:ext cx="9144000" cy="5934710"/>
            <a:chOff x="0" y="923542"/>
            <a:chExt cx="12192000" cy="5934710"/>
          </a:xfrm>
        </p:grpSpPr>
        <p:sp>
          <p:nvSpPr>
            <p:cNvPr id="3" name="object 3"/>
            <p:cNvSpPr/>
            <p:nvPr/>
          </p:nvSpPr>
          <p:spPr>
            <a:xfrm>
              <a:off x="0" y="4012692"/>
              <a:ext cx="448309" cy="2845435"/>
            </a:xfrm>
            <a:custGeom>
              <a:avLst/>
              <a:gdLst/>
              <a:ahLst/>
              <a:cxnLst/>
              <a:rect l="l" t="t" r="r" b="b"/>
              <a:pathLst>
                <a:path w="448309" h="2845434">
                  <a:moveTo>
                    <a:pt x="0" y="0"/>
                  </a:moveTo>
                  <a:lnTo>
                    <a:pt x="0" y="2845307"/>
                  </a:lnTo>
                  <a:lnTo>
                    <a:pt x="448056" y="2845307"/>
                  </a:lnTo>
                  <a:lnTo>
                    <a:pt x="0" y="0"/>
                  </a:lnTo>
                  <a:close/>
                </a:path>
              </a:pathLst>
            </a:custGeom>
            <a:solidFill>
              <a:srgbClr val="90C225">
                <a:alpha val="85096"/>
              </a:srgbClr>
            </a:solidFill>
          </p:spPr>
          <p:txBody>
            <a:bodyPr wrap="square" lIns="0" tIns="0" rIns="0" bIns="0" rtlCol="0"/>
            <a:lstStyle/>
            <a:p>
              <a:pPr defTabSz="914400"/>
              <a:endParaRPr>
                <a:solidFill>
                  <a:prstClr val="black"/>
                </a:solidFill>
                <a:latin typeface="Calibri"/>
              </a:endParaRPr>
            </a:p>
          </p:txBody>
        </p:sp>
        <p:pic>
          <p:nvPicPr>
            <p:cNvPr id="4" name="object 4"/>
            <p:cNvPicPr/>
            <p:nvPr/>
          </p:nvPicPr>
          <p:blipFill>
            <a:blip r:embed="rId2" cstate="print"/>
            <a:stretch>
              <a:fillRect/>
            </a:stretch>
          </p:blipFill>
          <p:spPr>
            <a:xfrm>
              <a:off x="0" y="923542"/>
              <a:ext cx="12192000" cy="5934454"/>
            </a:xfrm>
            <a:prstGeom prst="rect">
              <a:avLst/>
            </a:prstGeom>
          </p:spPr>
        </p:pic>
      </p:grpSp>
      <p:grpSp>
        <p:nvGrpSpPr>
          <p:cNvPr id="5" name="object 5"/>
          <p:cNvGrpSpPr/>
          <p:nvPr/>
        </p:nvGrpSpPr>
        <p:grpSpPr>
          <a:xfrm>
            <a:off x="4300635" y="76581"/>
            <a:ext cx="3622834" cy="590550"/>
            <a:chOff x="3702179" y="76581"/>
            <a:chExt cx="4830445" cy="590550"/>
          </a:xfrm>
        </p:grpSpPr>
        <p:pic>
          <p:nvPicPr>
            <p:cNvPr id="6" name="object 6"/>
            <p:cNvPicPr/>
            <p:nvPr/>
          </p:nvPicPr>
          <p:blipFill>
            <a:blip r:embed="rId3" cstate="print"/>
            <a:stretch>
              <a:fillRect/>
            </a:stretch>
          </p:blipFill>
          <p:spPr>
            <a:xfrm>
              <a:off x="3702179" y="76581"/>
              <a:ext cx="4830313" cy="590550"/>
            </a:xfrm>
            <a:prstGeom prst="rect">
              <a:avLst/>
            </a:prstGeom>
          </p:spPr>
        </p:pic>
        <p:pic>
          <p:nvPicPr>
            <p:cNvPr id="7" name="object 7"/>
            <p:cNvPicPr/>
            <p:nvPr/>
          </p:nvPicPr>
          <p:blipFill>
            <a:blip r:embed="rId4" cstate="print"/>
            <a:stretch>
              <a:fillRect/>
            </a:stretch>
          </p:blipFill>
          <p:spPr>
            <a:xfrm>
              <a:off x="3704843" y="79502"/>
              <a:ext cx="4782438" cy="541781"/>
            </a:xfrm>
            <a:prstGeom prst="rect">
              <a:avLst/>
            </a:prstGeom>
          </p:spPr>
        </p:pic>
      </p:grpSp>
    </p:spTree>
    <p:extLst>
      <p:ext uri="{BB962C8B-B14F-4D97-AF65-F5344CB8AC3E}">
        <p14:creationId xmlns:p14="http://schemas.microsoft.com/office/powerpoint/2010/main" val="332341411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524003" y="0"/>
            <a:ext cx="9143999" cy="6857998"/>
          </a:xfrm>
          <a:prstGeom prst="rect">
            <a:avLst/>
          </a:prstGeom>
        </p:spPr>
      </p:pic>
      <p:sp>
        <p:nvSpPr>
          <p:cNvPr id="3" name="object 3"/>
          <p:cNvSpPr txBox="1"/>
          <p:nvPr/>
        </p:nvSpPr>
        <p:spPr>
          <a:xfrm>
            <a:off x="2249804" y="1764795"/>
            <a:ext cx="3627120" cy="1424749"/>
          </a:xfrm>
          <a:prstGeom prst="rect">
            <a:avLst/>
          </a:prstGeom>
          <a:solidFill>
            <a:srgbClr val="C1B894"/>
          </a:solidFill>
        </p:spPr>
        <p:txBody>
          <a:bodyPr vert="horz" wrap="square" lIns="0" tIns="39370" rIns="0" bIns="0" rtlCol="0">
            <a:spAutoFit/>
          </a:bodyPr>
          <a:lstStyle/>
          <a:p>
            <a:pPr marL="91440" marR="386715" defTabSz="914400">
              <a:spcBef>
                <a:spcPts val="310"/>
              </a:spcBef>
            </a:pPr>
            <a:r>
              <a:rPr spc="-55" dirty="0">
                <a:solidFill>
                  <a:prstClr val="black"/>
                </a:solidFill>
                <a:latin typeface="Trebuchet MS"/>
                <a:cs typeface="Trebuchet MS"/>
              </a:rPr>
              <a:t>Your</a:t>
            </a:r>
            <a:r>
              <a:rPr spc="-15" dirty="0">
                <a:solidFill>
                  <a:prstClr val="black"/>
                </a:solidFill>
                <a:latin typeface="Trebuchet MS"/>
                <a:cs typeface="Trebuchet MS"/>
              </a:rPr>
              <a:t> </a:t>
            </a:r>
            <a:r>
              <a:rPr spc="-5" dirty="0">
                <a:solidFill>
                  <a:prstClr val="black"/>
                </a:solidFill>
                <a:latin typeface="Trebuchet MS"/>
                <a:cs typeface="Trebuchet MS"/>
              </a:rPr>
              <a:t>name,</a:t>
            </a:r>
            <a:r>
              <a:rPr spc="-35" dirty="0">
                <a:solidFill>
                  <a:prstClr val="black"/>
                </a:solidFill>
                <a:latin typeface="Trebuchet MS"/>
                <a:cs typeface="Trebuchet MS"/>
              </a:rPr>
              <a:t> </a:t>
            </a:r>
            <a:r>
              <a:rPr spc="-55" dirty="0">
                <a:solidFill>
                  <a:prstClr val="black"/>
                </a:solidFill>
                <a:latin typeface="Trebuchet MS"/>
                <a:cs typeface="Trebuchet MS"/>
              </a:rPr>
              <a:t>Your</a:t>
            </a:r>
            <a:r>
              <a:rPr spc="-10" dirty="0">
                <a:solidFill>
                  <a:prstClr val="black"/>
                </a:solidFill>
                <a:latin typeface="Trebuchet MS"/>
                <a:cs typeface="Trebuchet MS"/>
              </a:rPr>
              <a:t> </a:t>
            </a:r>
            <a:r>
              <a:rPr spc="-5" dirty="0">
                <a:solidFill>
                  <a:prstClr val="black"/>
                </a:solidFill>
                <a:latin typeface="Trebuchet MS"/>
                <a:cs typeface="Trebuchet MS"/>
              </a:rPr>
              <a:t>age,</a:t>
            </a:r>
            <a:r>
              <a:rPr spc="-10" dirty="0">
                <a:solidFill>
                  <a:prstClr val="black"/>
                </a:solidFill>
                <a:latin typeface="Trebuchet MS"/>
                <a:cs typeface="Trebuchet MS"/>
              </a:rPr>
              <a:t> </a:t>
            </a:r>
            <a:r>
              <a:rPr spc="-5" dirty="0">
                <a:solidFill>
                  <a:prstClr val="black"/>
                </a:solidFill>
                <a:latin typeface="Trebuchet MS"/>
                <a:cs typeface="Trebuchet MS"/>
              </a:rPr>
              <a:t>Where</a:t>
            </a:r>
            <a:r>
              <a:rPr dirty="0">
                <a:solidFill>
                  <a:prstClr val="black"/>
                </a:solidFill>
                <a:latin typeface="Trebuchet MS"/>
                <a:cs typeface="Trebuchet MS"/>
              </a:rPr>
              <a:t> </a:t>
            </a:r>
            <a:r>
              <a:rPr spc="-5" dirty="0">
                <a:solidFill>
                  <a:prstClr val="black"/>
                </a:solidFill>
                <a:latin typeface="Trebuchet MS"/>
                <a:cs typeface="Trebuchet MS"/>
              </a:rPr>
              <a:t>you</a:t>
            </a:r>
            <a:r>
              <a:rPr dirty="0">
                <a:solidFill>
                  <a:prstClr val="black"/>
                </a:solidFill>
                <a:latin typeface="Trebuchet MS"/>
                <a:cs typeface="Trebuchet MS"/>
              </a:rPr>
              <a:t> go</a:t>
            </a:r>
            <a:r>
              <a:rPr spc="-20" dirty="0">
                <a:solidFill>
                  <a:prstClr val="black"/>
                </a:solidFill>
                <a:latin typeface="Trebuchet MS"/>
                <a:cs typeface="Trebuchet MS"/>
              </a:rPr>
              <a:t> </a:t>
            </a:r>
            <a:r>
              <a:rPr spc="-5" dirty="0">
                <a:solidFill>
                  <a:prstClr val="black"/>
                </a:solidFill>
                <a:latin typeface="Trebuchet MS"/>
                <a:cs typeface="Trebuchet MS"/>
              </a:rPr>
              <a:t>to </a:t>
            </a:r>
            <a:r>
              <a:rPr dirty="0">
                <a:solidFill>
                  <a:prstClr val="black"/>
                </a:solidFill>
                <a:latin typeface="Trebuchet MS"/>
                <a:cs typeface="Trebuchet MS"/>
              </a:rPr>
              <a:t> </a:t>
            </a:r>
            <a:r>
              <a:rPr spc="-5" dirty="0">
                <a:solidFill>
                  <a:prstClr val="black"/>
                </a:solidFill>
                <a:latin typeface="Trebuchet MS"/>
                <a:cs typeface="Trebuchet MS"/>
              </a:rPr>
              <a:t>school, </a:t>
            </a:r>
            <a:r>
              <a:rPr spc="-55" dirty="0">
                <a:solidFill>
                  <a:prstClr val="black"/>
                </a:solidFill>
                <a:latin typeface="Trebuchet MS"/>
                <a:cs typeface="Trebuchet MS"/>
              </a:rPr>
              <a:t>Your </a:t>
            </a:r>
            <a:r>
              <a:rPr spc="-5" dirty="0">
                <a:solidFill>
                  <a:prstClr val="black"/>
                </a:solidFill>
                <a:latin typeface="Trebuchet MS"/>
                <a:cs typeface="Trebuchet MS"/>
              </a:rPr>
              <a:t>hobbies, Where you live, </a:t>
            </a:r>
            <a:r>
              <a:rPr spc="-55" dirty="0">
                <a:solidFill>
                  <a:prstClr val="black"/>
                </a:solidFill>
                <a:latin typeface="Trebuchet MS"/>
                <a:cs typeface="Trebuchet MS"/>
              </a:rPr>
              <a:t>Your </a:t>
            </a:r>
            <a:r>
              <a:rPr spc="-530" dirty="0">
                <a:solidFill>
                  <a:prstClr val="black"/>
                </a:solidFill>
                <a:latin typeface="Trebuchet MS"/>
                <a:cs typeface="Trebuchet MS"/>
              </a:rPr>
              <a:t> </a:t>
            </a:r>
            <a:r>
              <a:rPr spc="-5" dirty="0">
                <a:solidFill>
                  <a:prstClr val="black"/>
                </a:solidFill>
                <a:latin typeface="Trebuchet MS"/>
                <a:cs typeface="Trebuchet MS"/>
              </a:rPr>
              <a:t>phone</a:t>
            </a:r>
            <a:r>
              <a:rPr spc="-10" dirty="0">
                <a:solidFill>
                  <a:prstClr val="black"/>
                </a:solidFill>
                <a:latin typeface="Trebuchet MS"/>
                <a:cs typeface="Trebuchet MS"/>
              </a:rPr>
              <a:t> </a:t>
            </a:r>
            <a:r>
              <a:rPr spc="-40" dirty="0">
                <a:solidFill>
                  <a:prstClr val="black"/>
                </a:solidFill>
                <a:latin typeface="Trebuchet MS"/>
                <a:cs typeface="Trebuchet MS"/>
              </a:rPr>
              <a:t>number,</a:t>
            </a:r>
            <a:r>
              <a:rPr spc="-5" dirty="0">
                <a:solidFill>
                  <a:prstClr val="black"/>
                </a:solidFill>
                <a:latin typeface="Trebuchet MS"/>
                <a:cs typeface="Trebuchet MS"/>
              </a:rPr>
              <a:t> Favorite</a:t>
            </a:r>
            <a:r>
              <a:rPr spc="15" dirty="0">
                <a:solidFill>
                  <a:prstClr val="black"/>
                </a:solidFill>
                <a:latin typeface="Trebuchet MS"/>
                <a:cs typeface="Trebuchet MS"/>
              </a:rPr>
              <a:t> </a:t>
            </a:r>
            <a:r>
              <a:rPr spc="-5" dirty="0">
                <a:solidFill>
                  <a:prstClr val="black"/>
                </a:solidFill>
                <a:latin typeface="Trebuchet MS"/>
                <a:cs typeface="Trebuchet MS"/>
              </a:rPr>
              <a:t>sports</a:t>
            </a:r>
            <a:r>
              <a:rPr spc="-15" dirty="0">
                <a:solidFill>
                  <a:prstClr val="black"/>
                </a:solidFill>
                <a:latin typeface="Trebuchet MS"/>
                <a:cs typeface="Trebuchet MS"/>
              </a:rPr>
              <a:t> </a:t>
            </a:r>
            <a:r>
              <a:rPr spc="-5" dirty="0">
                <a:solidFill>
                  <a:prstClr val="black"/>
                </a:solidFill>
                <a:latin typeface="Trebuchet MS"/>
                <a:cs typeface="Trebuchet MS"/>
              </a:rPr>
              <a:t>team, </a:t>
            </a:r>
            <a:r>
              <a:rPr dirty="0">
                <a:solidFill>
                  <a:prstClr val="black"/>
                </a:solidFill>
                <a:latin typeface="Trebuchet MS"/>
                <a:cs typeface="Trebuchet MS"/>
              </a:rPr>
              <a:t> </a:t>
            </a:r>
            <a:r>
              <a:rPr spc="-5" dirty="0">
                <a:solidFill>
                  <a:prstClr val="black"/>
                </a:solidFill>
                <a:latin typeface="Trebuchet MS"/>
                <a:cs typeface="Trebuchet MS"/>
              </a:rPr>
              <a:t>Emotions</a:t>
            </a:r>
            <a:r>
              <a:rPr spc="-10" dirty="0">
                <a:solidFill>
                  <a:prstClr val="black"/>
                </a:solidFill>
                <a:latin typeface="Trebuchet MS"/>
                <a:cs typeface="Trebuchet MS"/>
              </a:rPr>
              <a:t> </a:t>
            </a:r>
            <a:r>
              <a:rPr spc="-5" dirty="0">
                <a:solidFill>
                  <a:prstClr val="black"/>
                </a:solidFill>
                <a:latin typeface="Trebuchet MS"/>
                <a:cs typeface="Trebuchet MS"/>
              </a:rPr>
              <a:t>you express</a:t>
            </a:r>
            <a:endParaRPr>
              <a:solidFill>
                <a:prstClr val="black"/>
              </a:solidFill>
              <a:latin typeface="Trebuchet MS"/>
              <a:cs typeface="Trebuchet MS"/>
            </a:endParaRPr>
          </a:p>
        </p:txBody>
      </p:sp>
      <p:sp>
        <p:nvSpPr>
          <p:cNvPr id="4" name="object 4"/>
          <p:cNvSpPr txBox="1">
            <a:spLocks noGrp="1"/>
          </p:cNvSpPr>
          <p:nvPr>
            <p:ph type="title"/>
          </p:nvPr>
        </p:nvSpPr>
        <p:spPr>
          <a:xfrm>
            <a:off x="6712076" y="1764795"/>
            <a:ext cx="3627120" cy="1978747"/>
          </a:xfrm>
          <a:prstGeom prst="rect">
            <a:avLst/>
          </a:prstGeom>
          <a:solidFill>
            <a:srgbClr val="D4ECA1"/>
          </a:solidFill>
        </p:spPr>
        <p:txBody>
          <a:bodyPr vert="horz" wrap="square" lIns="0" tIns="39370" rIns="0" bIns="0" rtlCol="0">
            <a:spAutoFit/>
          </a:bodyPr>
          <a:lstStyle/>
          <a:p>
            <a:pPr marL="92710" marR="147955">
              <a:spcBef>
                <a:spcPts val="310"/>
              </a:spcBef>
            </a:pPr>
            <a:r>
              <a:rPr sz="1800" dirty="0">
                <a:solidFill>
                  <a:srgbClr val="000000"/>
                </a:solidFill>
              </a:rPr>
              <a:t>A </a:t>
            </a:r>
            <a:r>
              <a:rPr sz="1800" spc="-5" dirty="0">
                <a:solidFill>
                  <a:srgbClr val="000000"/>
                </a:solidFill>
              </a:rPr>
              <a:t>hand gesture you often make, </a:t>
            </a:r>
            <a:r>
              <a:rPr sz="1800" dirty="0">
                <a:solidFill>
                  <a:srgbClr val="000000"/>
                </a:solidFill>
              </a:rPr>
              <a:t>A </a:t>
            </a:r>
            <a:r>
              <a:rPr sz="1800" spc="-5" dirty="0">
                <a:solidFill>
                  <a:srgbClr val="000000"/>
                </a:solidFill>
              </a:rPr>
              <a:t>facial </a:t>
            </a:r>
            <a:r>
              <a:rPr sz="1800" dirty="0">
                <a:solidFill>
                  <a:srgbClr val="000000"/>
                </a:solidFill>
              </a:rPr>
              <a:t> </a:t>
            </a:r>
            <a:r>
              <a:rPr sz="1800" spc="-5" dirty="0">
                <a:solidFill>
                  <a:srgbClr val="000000"/>
                </a:solidFill>
              </a:rPr>
              <a:t>expression, </a:t>
            </a:r>
            <a:r>
              <a:rPr sz="1800" dirty="0">
                <a:solidFill>
                  <a:srgbClr val="000000"/>
                </a:solidFill>
              </a:rPr>
              <a:t>Things </a:t>
            </a:r>
            <a:r>
              <a:rPr sz="1800" spc="-5" dirty="0">
                <a:solidFill>
                  <a:srgbClr val="000000"/>
                </a:solidFill>
              </a:rPr>
              <a:t>you do that are annoying, </a:t>
            </a:r>
            <a:r>
              <a:rPr sz="1800" spc="-530" dirty="0">
                <a:solidFill>
                  <a:srgbClr val="000000"/>
                </a:solidFill>
              </a:rPr>
              <a:t> </a:t>
            </a:r>
            <a:r>
              <a:rPr sz="1800" dirty="0">
                <a:solidFill>
                  <a:srgbClr val="000000"/>
                </a:solidFill>
              </a:rPr>
              <a:t>Things </a:t>
            </a:r>
            <a:r>
              <a:rPr sz="1800" spc="-5" dirty="0">
                <a:solidFill>
                  <a:srgbClr val="000000"/>
                </a:solidFill>
              </a:rPr>
              <a:t>you do really well, Behavior patterns </a:t>
            </a:r>
            <a:r>
              <a:rPr sz="1800" dirty="0">
                <a:solidFill>
                  <a:srgbClr val="000000"/>
                </a:solidFill>
              </a:rPr>
              <a:t> </a:t>
            </a:r>
            <a:r>
              <a:rPr sz="1800" spc="-5" dirty="0">
                <a:solidFill>
                  <a:srgbClr val="000000"/>
                </a:solidFill>
              </a:rPr>
              <a:t>or habits, Strengths, </a:t>
            </a:r>
            <a:r>
              <a:rPr sz="1800" spc="-10" dirty="0">
                <a:solidFill>
                  <a:srgbClr val="000000"/>
                </a:solidFill>
              </a:rPr>
              <a:t>Weaknesses, </a:t>
            </a:r>
            <a:r>
              <a:rPr sz="1800" spc="-5" dirty="0">
                <a:solidFill>
                  <a:srgbClr val="000000"/>
                </a:solidFill>
              </a:rPr>
              <a:t>How you </a:t>
            </a:r>
            <a:r>
              <a:rPr sz="1800" dirty="0">
                <a:solidFill>
                  <a:srgbClr val="000000"/>
                </a:solidFill>
              </a:rPr>
              <a:t> </a:t>
            </a:r>
            <a:r>
              <a:rPr sz="1800" spc="-5" dirty="0">
                <a:solidFill>
                  <a:srgbClr val="000000"/>
                </a:solidFill>
              </a:rPr>
              <a:t>affect</a:t>
            </a:r>
            <a:r>
              <a:rPr sz="1800" spc="-10" dirty="0">
                <a:solidFill>
                  <a:srgbClr val="000000"/>
                </a:solidFill>
              </a:rPr>
              <a:t> others</a:t>
            </a:r>
            <a:endParaRPr sz="1800"/>
          </a:p>
        </p:txBody>
      </p:sp>
      <p:sp>
        <p:nvSpPr>
          <p:cNvPr id="5" name="object 5"/>
          <p:cNvSpPr txBox="1"/>
          <p:nvPr/>
        </p:nvSpPr>
        <p:spPr>
          <a:xfrm>
            <a:off x="2454402" y="4818891"/>
            <a:ext cx="3627120" cy="1980029"/>
          </a:xfrm>
          <a:prstGeom prst="rect">
            <a:avLst/>
          </a:prstGeom>
          <a:solidFill>
            <a:srgbClr val="9FB6C0"/>
          </a:solidFill>
        </p:spPr>
        <p:txBody>
          <a:bodyPr vert="horz" wrap="square" lIns="0" tIns="40640" rIns="0" bIns="0" rtlCol="0">
            <a:spAutoFit/>
          </a:bodyPr>
          <a:lstStyle/>
          <a:p>
            <a:pPr marL="91440" marR="145415" defTabSz="914400">
              <a:spcBef>
                <a:spcPts val="320"/>
              </a:spcBef>
            </a:pPr>
            <a:r>
              <a:rPr dirty="0">
                <a:solidFill>
                  <a:prstClr val="black"/>
                </a:solidFill>
                <a:latin typeface="Trebuchet MS"/>
                <a:cs typeface="Trebuchet MS"/>
              </a:rPr>
              <a:t>Things </a:t>
            </a:r>
            <a:r>
              <a:rPr spc="-5" dirty="0">
                <a:solidFill>
                  <a:prstClr val="black"/>
                </a:solidFill>
                <a:latin typeface="Trebuchet MS"/>
                <a:cs typeface="Trebuchet MS"/>
              </a:rPr>
              <a:t>in</a:t>
            </a:r>
            <a:r>
              <a:rPr dirty="0">
                <a:solidFill>
                  <a:prstClr val="black"/>
                </a:solidFill>
                <a:latin typeface="Trebuchet MS"/>
                <a:cs typeface="Trebuchet MS"/>
              </a:rPr>
              <a:t> </a:t>
            </a:r>
            <a:r>
              <a:rPr spc="-5" dirty="0">
                <a:solidFill>
                  <a:prstClr val="black"/>
                </a:solidFill>
                <a:latin typeface="Trebuchet MS"/>
                <a:cs typeface="Trebuchet MS"/>
              </a:rPr>
              <a:t>your past,</a:t>
            </a:r>
            <a:r>
              <a:rPr spc="-10" dirty="0">
                <a:solidFill>
                  <a:prstClr val="black"/>
                </a:solidFill>
                <a:latin typeface="Trebuchet MS"/>
                <a:cs typeface="Trebuchet MS"/>
              </a:rPr>
              <a:t> Emotions</a:t>
            </a:r>
            <a:r>
              <a:rPr spc="-5" dirty="0">
                <a:solidFill>
                  <a:prstClr val="black"/>
                </a:solidFill>
                <a:latin typeface="Trebuchet MS"/>
                <a:cs typeface="Trebuchet MS"/>
              </a:rPr>
              <a:t> not</a:t>
            </a:r>
            <a:r>
              <a:rPr dirty="0">
                <a:solidFill>
                  <a:prstClr val="black"/>
                </a:solidFill>
                <a:latin typeface="Trebuchet MS"/>
                <a:cs typeface="Trebuchet MS"/>
              </a:rPr>
              <a:t> </a:t>
            </a:r>
            <a:r>
              <a:rPr spc="-5" dirty="0">
                <a:solidFill>
                  <a:prstClr val="black"/>
                </a:solidFill>
                <a:latin typeface="Trebuchet MS"/>
                <a:cs typeface="Trebuchet MS"/>
              </a:rPr>
              <a:t>expressed, </a:t>
            </a:r>
            <a:r>
              <a:rPr spc="-525" dirty="0">
                <a:solidFill>
                  <a:prstClr val="black"/>
                </a:solidFill>
                <a:latin typeface="Trebuchet MS"/>
                <a:cs typeface="Trebuchet MS"/>
              </a:rPr>
              <a:t> </a:t>
            </a:r>
            <a:r>
              <a:rPr spc="-55" dirty="0">
                <a:solidFill>
                  <a:prstClr val="black"/>
                </a:solidFill>
                <a:latin typeface="Trebuchet MS"/>
                <a:cs typeface="Trebuchet MS"/>
              </a:rPr>
              <a:t>Your</a:t>
            </a:r>
            <a:r>
              <a:rPr spc="-20" dirty="0">
                <a:solidFill>
                  <a:prstClr val="black"/>
                </a:solidFill>
                <a:latin typeface="Trebuchet MS"/>
                <a:cs typeface="Trebuchet MS"/>
              </a:rPr>
              <a:t> </a:t>
            </a:r>
            <a:r>
              <a:rPr spc="-5" dirty="0">
                <a:solidFill>
                  <a:prstClr val="black"/>
                </a:solidFill>
                <a:latin typeface="Trebuchet MS"/>
                <a:cs typeface="Trebuchet MS"/>
              </a:rPr>
              <a:t>thoughts,</a:t>
            </a:r>
            <a:r>
              <a:rPr spc="-25" dirty="0">
                <a:solidFill>
                  <a:prstClr val="black"/>
                </a:solidFill>
                <a:latin typeface="Trebuchet MS"/>
                <a:cs typeface="Trebuchet MS"/>
              </a:rPr>
              <a:t> </a:t>
            </a:r>
            <a:r>
              <a:rPr dirty="0">
                <a:solidFill>
                  <a:prstClr val="black"/>
                </a:solidFill>
                <a:latin typeface="Trebuchet MS"/>
                <a:cs typeface="Trebuchet MS"/>
              </a:rPr>
              <a:t>Things</a:t>
            </a:r>
            <a:r>
              <a:rPr spc="-10" dirty="0">
                <a:solidFill>
                  <a:prstClr val="black"/>
                </a:solidFill>
                <a:latin typeface="Trebuchet MS"/>
                <a:cs typeface="Trebuchet MS"/>
              </a:rPr>
              <a:t> </a:t>
            </a:r>
            <a:r>
              <a:rPr spc="-5" dirty="0">
                <a:solidFill>
                  <a:prstClr val="black"/>
                </a:solidFill>
                <a:latin typeface="Trebuchet MS"/>
                <a:cs typeface="Trebuchet MS"/>
              </a:rPr>
              <a:t>your</a:t>
            </a:r>
            <a:r>
              <a:rPr spc="-10" dirty="0">
                <a:solidFill>
                  <a:prstClr val="black"/>
                </a:solidFill>
                <a:latin typeface="Trebuchet MS"/>
                <a:cs typeface="Trebuchet MS"/>
              </a:rPr>
              <a:t> </a:t>
            </a:r>
            <a:r>
              <a:rPr spc="-5" dirty="0">
                <a:solidFill>
                  <a:prstClr val="black"/>
                </a:solidFill>
                <a:latin typeface="Trebuchet MS"/>
                <a:cs typeface="Trebuchet MS"/>
              </a:rPr>
              <a:t>embarrassed </a:t>
            </a:r>
            <a:r>
              <a:rPr dirty="0">
                <a:solidFill>
                  <a:prstClr val="black"/>
                </a:solidFill>
                <a:latin typeface="Trebuchet MS"/>
                <a:cs typeface="Trebuchet MS"/>
              </a:rPr>
              <a:t> </a:t>
            </a:r>
            <a:r>
              <a:rPr spc="-5" dirty="0">
                <a:solidFill>
                  <a:prstClr val="black"/>
                </a:solidFill>
                <a:latin typeface="Trebuchet MS"/>
                <a:cs typeface="Trebuchet MS"/>
              </a:rPr>
              <a:t>about, </a:t>
            </a:r>
            <a:r>
              <a:rPr dirty="0">
                <a:solidFill>
                  <a:prstClr val="black"/>
                </a:solidFill>
                <a:latin typeface="Trebuchet MS"/>
                <a:cs typeface="Trebuchet MS"/>
              </a:rPr>
              <a:t>Things </a:t>
            </a:r>
            <a:r>
              <a:rPr spc="-5" dirty="0">
                <a:solidFill>
                  <a:prstClr val="black"/>
                </a:solidFill>
                <a:latin typeface="Trebuchet MS"/>
                <a:cs typeface="Trebuchet MS"/>
              </a:rPr>
              <a:t>that are painful, Abuse and </a:t>
            </a:r>
            <a:r>
              <a:rPr dirty="0">
                <a:solidFill>
                  <a:prstClr val="black"/>
                </a:solidFill>
                <a:latin typeface="Trebuchet MS"/>
                <a:cs typeface="Trebuchet MS"/>
              </a:rPr>
              <a:t> </a:t>
            </a:r>
            <a:r>
              <a:rPr spc="-5" dirty="0">
                <a:solidFill>
                  <a:prstClr val="black"/>
                </a:solidFill>
                <a:latin typeface="Trebuchet MS"/>
                <a:cs typeface="Trebuchet MS"/>
              </a:rPr>
              <a:t>trauma, Family trouble, Drug and </a:t>
            </a:r>
            <a:r>
              <a:rPr spc="-10" dirty="0">
                <a:solidFill>
                  <a:prstClr val="black"/>
                </a:solidFill>
                <a:latin typeface="Trebuchet MS"/>
                <a:cs typeface="Trebuchet MS"/>
              </a:rPr>
              <a:t>alcohol </a:t>
            </a:r>
            <a:r>
              <a:rPr spc="-5" dirty="0">
                <a:solidFill>
                  <a:prstClr val="black"/>
                </a:solidFill>
                <a:latin typeface="Trebuchet MS"/>
                <a:cs typeface="Trebuchet MS"/>
              </a:rPr>
              <a:t> trouble,</a:t>
            </a:r>
            <a:r>
              <a:rPr dirty="0">
                <a:solidFill>
                  <a:prstClr val="black"/>
                </a:solidFill>
                <a:latin typeface="Trebuchet MS"/>
                <a:cs typeface="Trebuchet MS"/>
              </a:rPr>
              <a:t> </a:t>
            </a:r>
            <a:r>
              <a:rPr spc="-5" dirty="0">
                <a:solidFill>
                  <a:prstClr val="black"/>
                </a:solidFill>
                <a:latin typeface="Trebuchet MS"/>
                <a:cs typeface="Trebuchet MS"/>
              </a:rPr>
              <a:t>Illegal</a:t>
            </a:r>
            <a:r>
              <a:rPr spc="-20" dirty="0">
                <a:solidFill>
                  <a:prstClr val="black"/>
                </a:solidFill>
                <a:latin typeface="Trebuchet MS"/>
                <a:cs typeface="Trebuchet MS"/>
              </a:rPr>
              <a:t> </a:t>
            </a:r>
            <a:r>
              <a:rPr spc="-10" dirty="0">
                <a:solidFill>
                  <a:prstClr val="black"/>
                </a:solidFill>
                <a:latin typeface="Trebuchet MS"/>
                <a:cs typeface="Trebuchet MS"/>
              </a:rPr>
              <a:t>activity</a:t>
            </a:r>
            <a:endParaRPr>
              <a:solidFill>
                <a:prstClr val="black"/>
              </a:solidFill>
              <a:latin typeface="Trebuchet MS"/>
              <a:cs typeface="Trebuchet MS"/>
            </a:endParaRPr>
          </a:p>
        </p:txBody>
      </p:sp>
      <p:sp>
        <p:nvSpPr>
          <p:cNvPr id="6" name="object 6"/>
          <p:cNvSpPr txBox="1"/>
          <p:nvPr/>
        </p:nvSpPr>
        <p:spPr>
          <a:xfrm>
            <a:off x="6601205" y="4818889"/>
            <a:ext cx="3627120" cy="1703030"/>
          </a:xfrm>
          <a:prstGeom prst="rect">
            <a:avLst/>
          </a:prstGeom>
          <a:solidFill>
            <a:srgbClr val="F1A399"/>
          </a:solidFill>
        </p:spPr>
        <p:txBody>
          <a:bodyPr vert="horz" wrap="square" lIns="0" tIns="40640" rIns="0" bIns="0" rtlCol="0">
            <a:spAutoFit/>
          </a:bodyPr>
          <a:lstStyle/>
          <a:p>
            <a:pPr marL="92075" marR="377825" defTabSz="914400">
              <a:spcBef>
                <a:spcPts val="320"/>
              </a:spcBef>
            </a:pPr>
            <a:r>
              <a:rPr dirty="0">
                <a:solidFill>
                  <a:prstClr val="black"/>
                </a:solidFill>
                <a:latin typeface="Trebuchet MS"/>
                <a:cs typeface="Trebuchet MS"/>
              </a:rPr>
              <a:t>The </a:t>
            </a:r>
            <a:r>
              <a:rPr spc="-5" dirty="0">
                <a:solidFill>
                  <a:prstClr val="black"/>
                </a:solidFill>
                <a:latin typeface="Trebuchet MS"/>
                <a:cs typeface="Trebuchet MS"/>
              </a:rPr>
              <a:t>meaning </a:t>
            </a:r>
            <a:r>
              <a:rPr spc="-10" dirty="0">
                <a:solidFill>
                  <a:prstClr val="black"/>
                </a:solidFill>
                <a:latin typeface="Trebuchet MS"/>
                <a:cs typeface="Trebuchet MS"/>
              </a:rPr>
              <a:t>of </a:t>
            </a:r>
            <a:r>
              <a:rPr dirty="0">
                <a:solidFill>
                  <a:prstClr val="black"/>
                </a:solidFill>
                <a:latin typeface="Trebuchet MS"/>
                <a:cs typeface="Trebuchet MS"/>
              </a:rPr>
              <a:t>a dream; </a:t>
            </a:r>
            <a:r>
              <a:rPr spc="-5" dirty="0">
                <a:solidFill>
                  <a:prstClr val="black"/>
                </a:solidFill>
                <a:latin typeface="Trebuchet MS"/>
                <a:cs typeface="Trebuchet MS"/>
              </a:rPr>
              <a:t>Why you </a:t>
            </a:r>
            <a:r>
              <a:rPr dirty="0">
                <a:solidFill>
                  <a:prstClr val="black"/>
                </a:solidFill>
                <a:latin typeface="Trebuchet MS"/>
                <a:cs typeface="Trebuchet MS"/>
              </a:rPr>
              <a:t>react </a:t>
            </a:r>
            <a:r>
              <a:rPr spc="5" dirty="0">
                <a:solidFill>
                  <a:prstClr val="black"/>
                </a:solidFill>
                <a:latin typeface="Trebuchet MS"/>
                <a:cs typeface="Trebuchet MS"/>
              </a:rPr>
              <a:t> </a:t>
            </a:r>
            <a:r>
              <a:rPr spc="-5" dirty="0">
                <a:solidFill>
                  <a:prstClr val="black"/>
                </a:solidFill>
                <a:latin typeface="Trebuchet MS"/>
                <a:cs typeface="Trebuchet MS"/>
              </a:rPr>
              <a:t>strongly</a:t>
            </a:r>
            <a:r>
              <a:rPr spc="-15" dirty="0">
                <a:solidFill>
                  <a:prstClr val="black"/>
                </a:solidFill>
                <a:latin typeface="Trebuchet MS"/>
                <a:cs typeface="Trebuchet MS"/>
              </a:rPr>
              <a:t> </a:t>
            </a:r>
            <a:r>
              <a:rPr spc="-5" dirty="0">
                <a:solidFill>
                  <a:prstClr val="black"/>
                </a:solidFill>
                <a:latin typeface="Trebuchet MS"/>
                <a:cs typeface="Trebuchet MS"/>
              </a:rPr>
              <a:t>to</a:t>
            </a:r>
            <a:r>
              <a:rPr spc="-20" dirty="0">
                <a:solidFill>
                  <a:prstClr val="black"/>
                </a:solidFill>
                <a:latin typeface="Trebuchet MS"/>
                <a:cs typeface="Trebuchet MS"/>
              </a:rPr>
              <a:t> </a:t>
            </a:r>
            <a:r>
              <a:rPr spc="-5" dirty="0">
                <a:solidFill>
                  <a:prstClr val="black"/>
                </a:solidFill>
                <a:latin typeface="Trebuchet MS"/>
                <a:cs typeface="Trebuchet MS"/>
              </a:rPr>
              <a:t>certain people;</a:t>
            </a:r>
            <a:r>
              <a:rPr spc="-120" dirty="0">
                <a:solidFill>
                  <a:prstClr val="black"/>
                </a:solidFill>
                <a:latin typeface="Trebuchet MS"/>
                <a:cs typeface="Trebuchet MS"/>
              </a:rPr>
              <a:t> </a:t>
            </a:r>
            <a:r>
              <a:rPr dirty="0">
                <a:solidFill>
                  <a:prstClr val="black"/>
                </a:solidFill>
                <a:latin typeface="Trebuchet MS"/>
                <a:cs typeface="Trebuchet MS"/>
              </a:rPr>
              <a:t>A</a:t>
            </a:r>
            <a:r>
              <a:rPr spc="-110" dirty="0">
                <a:solidFill>
                  <a:prstClr val="black"/>
                </a:solidFill>
                <a:latin typeface="Trebuchet MS"/>
                <a:cs typeface="Trebuchet MS"/>
              </a:rPr>
              <a:t> </a:t>
            </a:r>
            <a:r>
              <a:rPr spc="-5" dirty="0">
                <a:solidFill>
                  <a:prstClr val="black"/>
                </a:solidFill>
                <a:latin typeface="Trebuchet MS"/>
                <a:cs typeface="Trebuchet MS"/>
              </a:rPr>
              <a:t>talent</a:t>
            </a:r>
            <a:r>
              <a:rPr spc="-10" dirty="0">
                <a:solidFill>
                  <a:prstClr val="black"/>
                </a:solidFill>
                <a:latin typeface="Trebuchet MS"/>
                <a:cs typeface="Trebuchet MS"/>
              </a:rPr>
              <a:t> </a:t>
            </a:r>
            <a:r>
              <a:rPr spc="-5" dirty="0">
                <a:solidFill>
                  <a:prstClr val="black"/>
                </a:solidFill>
                <a:latin typeface="Trebuchet MS"/>
                <a:cs typeface="Trebuchet MS"/>
              </a:rPr>
              <a:t>or</a:t>
            </a:r>
            <a:r>
              <a:rPr spc="-10" dirty="0">
                <a:solidFill>
                  <a:prstClr val="black"/>
                </a:solidFill>
                <a:latin typeface="Trebuchet MS"/>
                <a:cs typeface="Trebuchet MS"/>
              </a:rPr>
              <a:t> </a:t>
            </a:r>
            <a:r>
              <a:rPr dirty="0">
                <a:solidFill>
                  <a:prstClr val="black"/>
                </a:solidFill>
                <a:latin typeface="Trebuchet MS"/>
                <a:cs typeface="Trebuchet MS"/>
              </a:rPr>
              <a:t>skill </a:t>
            </a:r>
            <a:r>
              <a:rPr spc="-525" dirty="0">
                <a:solidFill>
                  <a:prstClr val="black"/>
                </a:solidFill>
                <a:latin typeface="Trebuchet MS"/>
                <a:cs typeface="Trebuchet MS"/>
              </a:rPr>
              <a:t> </a:t>
            </a:r>
            <a:r>
              <a:rPr spc="-5" dirty="0">
                <a:solidFill>
                  <a:prstClr val="black"/>
                </a:solidFill>
                <a:latin typeface="Trebuchet MS"/>
                <a:cs typeface="Trebuchet MS"/>
              </a:rPr>
              <a:t>you didn’t know you had; </a:t>
            </a:r>
            <a:r>
              <a:rPr spc="-15" dirty="0">
                <a:solidFill>
                  <a:prstClr val="black"/>
                </a:solidFill>
                <a:latin typeface="Trebuchet MS"/>
                <a:cs typeface="Trebuchet MS"/>
              </a:rPr>
              <a:t>Relationship </a:t>
            </a:r>
            <a:r>
              <a:rPr spc="-10" dirty="0">
                <a:solidFill>
                  <a:prstClr val="black"/>
                </a:solidFill>
                <a:latin typeface="Trebuchet MS"/>
                <a:cs typeface="Trebuchet MS"/>
              </a:rPr>
              <a:t> </a:t>
            </a:r>
            <a:r>
              <a:rPr spc="-5" dirty="0">
                <a:solidFill>
                  <a:prstClr val="black"/>
                </a:solidFill>
                <a:latin typeface="Trebuchet MS"/>
                <a:cs typeface="Trebuchet MS"/>
              </a:rPr>
              <a:t>patterns;</a:t>
            </a:r>
            <a:r>
              <a:rPr dirty="0">
                <a:solidFill>
                  <a:prstClr val="black"/>
                </a:solidFill>
                <a:latin typeface="Trebuchet MS"/>
                <a:cs typeface="Trebuchet MS"/>
              </a:rPr>
              <a:t> </a:t>
            </a:r>
            <a:r>
              <a:rPr spc="-10" dirty="0">
                <a:solidFill>
                  <a:prstClr val="black"/>
                </a:solidFill>
                <a:latin typeface="Trebuchet MS"/>
                <a:cs typeface="Trebuchet MS"/>
              </a:rPr>
              <a:t>Repressed</a:t>
            </a:r>
            <a:r>
              <a:rPr spc="-20" dirty="0">
                <a:solidFill>
                  <a:prstClr val="black"/>
                </a:solidFill>
                <a:latin typeface="Trebuchet MS"/>
                <a:cs typeface="Trebuchet MS"/>
              </a:rPr>
              <a:t> </a:t>
            </a:r>
            <a:r>
              <a:rPr spc="-5" dirty="0">
                <a:solidFill>
                  <a:prstClr val="black"/>
                </a:solidFill>
                <a:latin typeface="Trebuchet MS"/>
                <a:cs typeface="Trebuchet MS"/>
              </a:rPr>
              <a:t>trauma</a:t>
            </a:r>
            <a:r>
              <a:rPr dirty="0">
                <a:solidFill>
                  <a:prstClr val="black"/>
                </a:solidFill>
                <a:latin typeface="Trebuchet MS"/>
                <a:cs typeface="Trebuchet MS"/>
              </a:rPr>
              <a:t> </a:t>
            </a:r>
            <a:r>
              <a:rPr spc="-5" dirty="0">
                <a:solidFill>
                  <a:prstClr val="black"/>
                </a:solidFill>
                <a:latin typeface="Trebuchet MS"/>
                <a:cs typeface="Trebuchet MS"/>
              </a:rPr>
              <a:t>memories</a:t>
            </a:r>
            <a:endParaRPr>
              <a:solidFill>
                <a:prstClr val="black"/>
              </a:solidFill>
              <a:latin typeface="Trebuchet MS"/>
              <a:cs typeface="Trebuchet MS"/>
            </a:endParaRPr>
          </a:p>
        </p:txBody>
      </p:sp>
    </p:spTree>
    <p:extLst>
      <p:ext uri="{BB962C8B-B14F-4D97-AF65-F5344CB8AC3E}">
        <p14:creationId xmlns:p14="http://schemas.microsoft.com/office/powerpoint/2010/main" val="349285922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59940" y="795020"/>
            <a:ext cx="3787140" cy="695960"/>
          </a:xfrm>
          <a:prstGeom prst="rect">
            <a:avLst/>
          </a:prstGeom>
        </p:spPr>
        <p:txBody>
          <a:bodyPr vert="horz" wrap="square" lIns="0" tIns="12700" rIns="0" bIns="0" rtlCol="0">
            <a:spAutoFit/>
          </a:bodyPr>
          <a:lstStyle/>
          <a:p>
            <a:pPr marL="12700">
              <a:spcBef>
                <a:spcPts val="100"/>
              </a:spcBef>
              <a:tabLst>
                <a:tab pos="1783714" algn="l"/>
              </a:tabLst>
            </a:pPr>
            <a:r>
              <a:rPr sz="4400" spc="5" dirty="0"/>
              <a:t>J</a:t>
            </a:r>
            <a:r>
              <a:rPr sz="4400" dirty="0"/>
              <a:t>o</a:t>
            </a:r>
            <a:r>
              <a:rPr sz="4400" spc="-10" dirty="0"/>
              <a:t>H</a:t>
            </a:r>
            <a:r>
              <a:rPr sz="4400" dirty="0"/>
              <a:t>ari	</a:t>
            </a:r>
            <a:r>
              <a:rPr sz="4400" spc="5" dirty="0"/>
              <a:t>W</a:t>
            </a:r>
            <a:r>
              <a:rPr sz="4400" dirty="0"/>
              <a:t>indow</a:t>
            </a:r>
          </a:p>
        </p:txBody>
      </p:sp>
      <p:graphicFrame>
        <p:nvGraphicFramePr>
          <p:cNvPr id="3" name="object 3"/>
          <p:cNvGraphicFramePr>
            <a:graphicFrameLocks noGrp="1"/>
          </p:cNvGraphicFramePr>
          <p:nvPr/>
        </p:nvGraphicFramePr>
        <p:xfrm>
          <a:off x="1967003" y="1967008"/>
          <a:ext cx="8229600" cy="3794759"/>
        </p:xfrm>
        <a:graphic>
          <a:graphicData uri="http://schemas.openxmlformats.org/drawingml/2006/table">
            <a:tbl>
              <a:tblPr firstRow="1" bandRow="1">
                <a:tableStyleId>{2D5ABB26-0587-4C30-8999-92F81FD0307C}</a:tableStyleId>
              </a:tblPr>
              <a:tblGrid>
                <a:gridCol w="1600200">
                  <a:extLst>
                    <a:ext uri="{9D8B030D-6E8A-4147-A177-3AD203B41FA5}">
                      <a16:colId xmlns:a16="http://schemas.microsoft.com/office/drawing/2014/main" val="20000"/>
                    </a:ext>
                  </a:extLst>
                </a:gridCol>
                <a:gridCol w="3352800">
                  <a:extLst>
                    <a:ext uri="{9D8B030D-6E8A-4147-A177-3AD203B41FA5}">
                      <a16:colId xmlns:a16="http://schemas.microsoft.com/office/drawing/2014/main" val="20001"/>
                    </a:ext>
                  </a:extLst>
                </a:gridCol>
                <a:gridCol w="3276600">
                  <a:extLst>
                    <a:ext uri="{9D8B030D-6E8A-4147-A177-3AD203B41FA5}">
                      <a16:colId xmlns:a16="http://schemas.microsoft.com/office/drawing/2014/main" val="20002"/>
                    </a:ext>
                  </a:extLst>
                </a:gridCol>
              </a:tblGrid>
              <a:tr h="916939">
                <a:tc>
                  <a:txBody>
                    <a:bodyPr/>
                    <a:lstStyle/>
                    <a:p>
                      <a:pPr>
                        <a:lnSpc>
                          <a:spcPct val="100000"/>
                        </a:lnSpc>
                      </a:pPr>
                      <a:endParaRPr sz="2100">
                        <a:latin typeface="Times New Roman"/>
                        <a:cs typeface="Times New Roman"/>
                      </a:endParaRPr>
                    </a:p>
                  </a:txBody>
                  <a:tcPr marL="0" marR="0" marT="0" marB="0">
                    <a:lnL w="28575">
                      <a:solidFill>
                        <a:srgbClr val="000000"/>
                      </a:solidFill>
                      <a:prstDash val="solid"/>
                    </a:lnL>
                    <a:lnR w="12700">
                      <a:solidFill>
                        <a:srgbClr val="000000"/>
                      </a:solidFill>
                      <a:prstDash val="solid"/>
                    </a:lnR>
                    <a:lnT w="28575">
                      <a:solidFill>
                        <a:srgbClr val="000000"/>
                      </a:solidFill>
                      <a:prstDash val="solid"/>
                    </a:lnT>
                    <a:lnB w="12700">
                      <a:solidFill>
                        <a:srgbClr val="000000"/>
                      </a:solidFill>
                      <a:prstDash val="solid"/>
                    </a:lnB>
                  </a:tcPr>
                </a:tc>
                <a:tc>
                  <a:txBody>
                    <a:bodyPr/>
                    <a:lstStyle/>
                    <a:p>
                      <a:pPr marL="89535">
                        <a:lnSpc>
                          <a:spcPct val="100000"/>
                        </a:lnSpc>
                        <a:spcBef>
                          <a:spcPts val="360"/>
                        </a:spcBef>
                      </a:pPr>
                      <a:r>
                        <a:rPr sz="2800" spc="-5" dirty="0">
                          <a:latin typeface="Arial MT"/>
                          <a:cs typeface="Arial MT"/>
                        </a:rPr>
                        <a:t>Known</a:t>
                      </a:r>
                      <a:r>
                        <a:rPr sz="2800" spc="-20" dirty="0">
                          <a:latin typeface="Arial MT"/>
                          <a:cs typeface="Arial MT"/>
                        </a:rPr>
                        <a:t> </a:t>
                      </a:r>
                      <a:r>
                        <a:rPr sz="2800" dirty="0">
                          <a:latin typeface="Arial MT"/>
                          <a:cs typeface="Arial MT"/>
                        </a:rPr>
                        <a:t>to</a:t>
                      </a:r>
                      <a:r>
                        <a:rPr sz="2800" spc="-35" dirty="0">
                          <a:latin typeface="Arial MT"/>
                          <a:cs typeface="Arial MT"/>
                        </a:rPr>
                        <a:t> </a:t>
                      </a:r>
                      <a:r>
                        <a:rPr sz="2800" dirty="0">
                          <a:latin typeface="Arial MT"/>
                          <a:cs typeface="Arial MT"/>
                        </a:rPr>
                        <a:t>self</a:t>
                      </a:r>
                      <a:endParaRPr sz="2800">
                        <a:latin typeface="Arial MT"/>
                        <a:cs typeface="Arial MT"/>
                      </a:endParaRPr>
                    </a:p>
                  </a:txBody>
                  <a:tcPr marL="0" marR="0" marB="0">
                    <a:lnL w="12700">
                      <a:solidFill>
                        <a:srgbClr val="000000"/>
                      </a:solidFill>
                      <a:prstDash val="solid"/>
                    </a:lnL>
                    <a:lnR w="12700">
                      <a:solidFill>
                        <a:srgbClr val="000000"/>
                      </a:solidFill>
                      <a:prstDash val="solid"/>
                    </a:lnR>
                    <a:lnT w="28575">
                      <a:solidFill>
                        <a:srgbClr val="000000"/>
                      </a:solidFill>
                      <a:prstDash val="solid"/>
                    </a:lnT>
                    <a:lnB w="12700">
                      <a:solidFill>
                        <a:srgbClr val="000000"/>
                      </a:solidFill>
                      <a:prstDash val="solid"/>
                    </a:lnB>
                  </a:tcPr>
                </a:tc>
                <a:tc>
                  <a:txBody>
                    <a:bodyPr/>
                    <a:lstStyle/>
                    <a:p>
                      <a:pPr marL="90170">
                        <a:lnSpc>
                          <a:spcPct val="100000"/>
                        </a:lnSpc>
                        <a:spcBef>
                          <a:spcPts val="360"/>
                        </a:spcBef>
                      </a:pPr>
                      <a:r>
                        <a:rPr sz="2800" spc="-5" dirty="0">
                          <a:latin typeface="Arial MT"/>
                          <a:cs typeface="Arial MT"/>
                        </a:rPr>
                        <a:t>Not</a:t>
                      </a:r>
                      <a:r>
                        <a:rPr sz="2800" spc="-10" dirty="0">
                          <a:latin typeface="Arial MT"/>
                          <a:cs typeface="Arial MT"/>
                        </a:rPr>
                        <a:t> </a:t>
                      </a:r>
                      <a:r>
                        <a:rPr sz="2800" spc="-5" dirty="0">
                          <a:latin typeface="Arial MT"/>
                          <a:cs typeface="Arial MT"/>
                        </a:rPr>
                        <a:t>known</a:t>
                      </a:r>
                      <a:r>
                        <a:rPr sz="2800" spc="-10" dirty="0">
                          <a:latin typeface="Arial MT"/>
                          <a:cs typeface="Arial MT"/>
                        </a:rPr>
                        <a:t> </a:t>
                      </a:r>
                      <a:r>
                        <a:rPr sz="2800" dirty="0">
                          <a:latin typeface="Arial MT"/>
                          <a:cs typeface="Arial MT"/>
                        </a:rPr>
                        <a:t>to</a:t>
                      </a:r>
                      <a:r>
                        <a:rPr sz="2800" spc="-5" dirty="0">
                          <a:latin typeface="Arial MT"/>
                          <a:cs typeface="Arial MT"/>
                        </a:rPr>
                        <a:t> self</a:t>
                      </a:r>
                      <a:endParaRPr sz="2800">
                        <a:latin typeface="Arial MT"/>
                        <a:cs typeface="Arial MT"/>
                      </a:endParaRPr>
                    </a:p>
                  </a:txBody>
                  <a:tcPr marL="0" marR="0" marB="0">
                    <a:lnL w="12700">
                      <a:solidFill>
                        <a:srgbClr val="000000"/>
                      </a:solidFill>
                      <a:prstDash val="solid"/>
                    </a:lnL>
                    <a:lnR w="28575">
                      <a:solidFill>
                        <a:srgbClr val="000000"/>
                      </a:solidFill>
                      <a:prstDash val="solid"/>
                    </a:lnR>
                    <a:lnT w="28575">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1295400">
                <a:tc>
                  <a:txBody>
                    <a:bodyPr/>
                    <a:lstStyle/>
                    <a:p>
                      <a:pPr marL="90170" marR="116205">
                        <a:lnSpc>
                          <a:spcPct val="100000"/>
                        </a:lnSpc>
                        <a:spcBef>
                          <a:spcPts val="370"/>
                        </a:spcBef>
                      </a:pPr>
                      <a:r>
                        <a:rPr sz="2800" spc="-5" dirty="0">
                          <a:latin typeface="Arial MT"/>
                          <a:cs typeface="Arial MT"/>
                        </a:rPr>
                        <a:t>Known </a:t>
                      </a:r>
                      <a:r>
                        <a:rPr sz="2800" dirty="0">
                          <a:latin typeface="Arial MT"/>
                          <a:cs typeface="Arial MT"/>
                        </a:rPr>
                        <a:t> to</a:t>
                      </a:r>
                      <a:r>
                        <a:rPr sz="2800" spc="-70" dirty="0">
                          <a:latin typeface="Arial MT"/>
                          <a:cs typeface="Arial MT"/>
                        </a:rPr>
                        <a:t> </a:t>
                      </a:r>
                      <a:r>
                        <a:rPr sz="2800" spc="-5" dirty="0">
                          <a:latin typeface="Arial MT"/>
                          <a:cs typeface="Arial MT"/>
                        </a:rPr>
                        <a:t>others</a:t>
                      </a:r>
                      <a:endParaRPr sz="2800">
                        <a:latin typeface="Arial MT"/>
                        <a:cs typeface="Arial MT"/>
                      </a:endParaRPr>
                    </a:p>
                  </a:txBody>
                  <a:tcPr marL="0" marR="0" marT="46990"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89535" marR="257175">
                        <a:lnSpc>
                          <a:spcPct val="100000"/>
                        </a:lnSpc>
                        <a:spcBef>
                          <a:spcPts val="370"/>
                        </a:spcBef>
                      </a:pPr>
                      <a:r>
                        <a:rPr sz="2800" spc="-10" dirty="0">
                          <a:latin typeface="Arial MT"/>
                          <a:cs typeface="Arial MT"/>
                        </a:rPr>
                        <a:t>OPEN-</a:t>
                      </a:r>
                      <a:r>
                        <a:rPr sz="2800" spc="-30" dirty="0">
                          <a:latin typeface="Arial MT"/>
                          <a:cs typeface="Arial MT"/>
                        </a:rPr>
                        <a:t> </a:t>
                      </a:r>
                      <a:r>
                        <a:rPr sz="1800" spc="-5" dirty="0">
                          <a:latin typeface="Arial MT"/>
                          <a:cs typeface="Arial MT"/>
                        </a:rPr>
                        <a:t>Known</a:t>
                      </a:r>
                      <a:r>
                        <a:rPr sz="1800" spc="-25" dirty="0">
                          <a:latin typeface="Arial MT"/>
                          <a:cs typeface="Arial MT"/>
                        </a:rPr>
                        <a:t> </a:t>
                      </a:r>
                      <a:r>
                        <a:rPr sz="1800" dirty="0">
                          <a:latin typeface="Arial MT"/>
                          <a:cs typeface="Arial MT"/>
                        </a:rPr>
                        <a:t>to</a:t>
                      </a:r>
                      <a:r>
                        <a:rPr sz="1800" spc="-20" dirty="0">
                          <a:latin typeface="Arial MT"/>
                          <a:cs typeface="Arial MT"/>
                        </a:rPr>
                        <a:t> </a:t>
                      </a:r>
                      <a:r>
                        <a:rPr sz="1800" spc="5" dirty="0">
                          <a:latin typeface="Arial MT"/>
                          <a:cs typeface="Arial MT"/>
                        </a:rPr>
                        <a:t>me</a:t>
                      </a:r>
                      <a:r>
                        <a:rPr sz="1800" spc="-25" dirty="0">
                          <a:latin typeface="Arial MT"/>
                          <a:cs typeface="Arial MT"/>
                        </a:rPr>
                        <a:t> </a:t>
                      </a:r>
                      <a:r>
                        <a:rPr sz="1800" spc="-10" dirty="0">
                          <a:latin typeface="Arial MT"/>
                          <a:cs typeface="Arial MT"/>
                        </a:rPr>
                        <a:t>and </a:t>
                      </a:r>
                      <a:r>
                        <a:rPr sz="1800" spc="-484" dirty="0">
                          <a:latin typeface="Arial MT"/>
                          <a:cs typeface="Arial MT"/>
                        </a:rPr>
                        <a:t> </a:t>
                      </a:r>
                      <a:r>
                        <a:rPr sz="1800" spc="-5" dirty="0">
                          <a:latin typeface="Arial MT"/>
                          <a:cs typeface="Arial MT"/>
                        </a:rPr>
                        <a:t>known</a:t>
                      </a:r>
                      <a:r>
                        <a:rPr sz="1800" spc="-10" dirty="0">
                          <a:latin typeface="Arial MT"/>
                          <a:cs typeface="Arial MT"/>
                        </a:rPr>
                        <a:t> </a:t>
                      </a:r>
                      <a:r>
                        <a:rPr sz="1800" dirty="0">
                          <a:latin typeface="Arial MT"/>
                          <a:cs typeface="Arial MT"/>
                        </a:rPr>
                        <a:t>to</a:t>
                      </a:r>
                      <a:r>
                        <a:rPr sz="1800" spc="-10" dirty="0">
                          <a:latin typeface="Arial MT"/>
                          <a:cs typeface="Arial MT"/>
                        </a:rPr>
                        <a:t> </a:t>
                      </a:r>
                      <a:r>
                        <a:rPr sz="1800" spc="-5" dirty="0">
                          <a:latin typeface="Arial MT"/>
                          <a:cs typeface="Arial MT"/>
                        </a:rPr>
                        <a:t>others</a:t>
                      </a:r>
                      <a:endParaRPr sz="1800">
                        <a:latin typeface="Arial MT"/>
                        <a:cs typeface="Arial MT"/>
                      </a:endParaRPr>
                    </a:p>
                  </a:txBody>
                  <a:tcPr marL="0" marR="0" marT="469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0170" marR="265430">
                        <a:lnSpc>
                          <a:spcPct val="100000"/>
                        </a:lnSpc>
                        <a:spcBef>
                          <a:spcPts val="370"/>
                        </a:spcBef>
                      </a:pPr>
                      <a:r>
                        <a:rPr sz="2800" spc="-5" dirty="0">
                          <a:latin typeface="Arial MT"/>
                          <a:cs typeface="Arial MT"/>
                        </a:rPr>
                        <a:t>BLIND-</a:t>
                      </a:r>
                      <a:r>
                        <a:rPr sz="2800" spc="-20" dirty="0">
                          <a:latin typeface="Arial MT"/>
                          <a:cs typeface="Arial MT"/>
                        </a:rPr>
                        <a:t> </a:t>
                      </a:r>
                      <a:r>
                        <a:rPr sz="1800" spc="-10" dirty="0">
                          <a:latin typeface="Arial MT"/>
                          <a:cs typeface="Arial MT"/>
                        </a:rPr>
                        <a:t>Known</a:t>
                      </a:r>
                      <a:r>
                        <a:rPr sz="1800" spc="-25" dirty="0">
                          <a:latin typeface="Arial MT"/>
                          <a:cs typeface="Arial MT"/>
                        </a:rPr>
                        <a:t> </a:t>
                      </a:r>
                      <a:r>
                        <a:rPr sz="1800" dirty="0">
                          <a:latin typeface="Arial MT"/>
                          <a:cs typeface="Arial MT"/>
                        </a:rPr>
                        <a:t>to</a:t>
                      </a:r>
                      <a:r>
                        <a:rPr sz="1800" spc="-25" dirty="0">
                          <a:latin typeface="Arial MT"/>
                          <a:cs typeface="Arial MT"/>
                        </a:rPr>
                        <a:t> </a:t>
                      </a:r>
                      <a:r>
                        <a:rPr sz="1800" spc="-5" dirty="0">
                          <a:latin typeface="Arial MT"/>
                          <a:cs typeface="Arial MT"/>
                        </a:rPr>
                        <a:t>others </a:t>
                      </a:r>
                      <a:r>
                        <a:rPr sz="1800" spc="-484" dirty="0">
                          <a:latin typeface="Arial MT"/>
                          <a:cs typeface="Arial MT"/>
                        </a:rPr>
                        <a:t> </a:t>
                      </a:r>
                      <a:r>
                        <a:rPr sz="1800" spc="-10" dirty="0">
                          <a:latin typeface="Arial MT"/>
                          <a:cs typeface="Arial MT"/>
                        </a:rPr>
                        <a:t>but</a:t>
                      </a:r>
                      <a:r>
                        <a:rPr sz="1800" dirty="0">
                          <a:latin typeface="Arial MT"/>
                          <a:cs typeface="Arial MT"/>
                        </a:rPr>
                        <a:t> </a:t>
                      </a:r>
                      <a:r>
                        <a:rPr sz="1800" spc="-10" dirty="0">
                          <a:latin typeface="Arial MT"/>
                          <a:cs typeface="Arial MT"/>
                        </a:rPr>
                        <a:t>Not</a:t>
                      </a:r>
                      <a:r>
                        <a:rPr sz="1800" dirty="0">
                          <a:latin typeface="Arial MT"/>
                          <a:cs typeface="Arial MT"/>
                        </a:rPr>
                        <a:t> </a:t>
                      </a:r>
                      <a:r>
                        <a:rPr sz="1800" spc="-5" dirty="0">
                          <a:latin typeface="Arial MT"/>
                          <a:cs typeface="Arial MT"/>
                        </a:rPr>
                        <a:t>known</a:t>
                      </a:r>
                      <a:r>
                        <a:rPr sz="1800" spc="-10" dirty="0">
                          <a:latin typeface="Arial MT"/>
                          <a:cs typeface="Arial MT"/>
                        </a:rPr>
                        <a:t> </a:t>
                      </a:r>
                      <a:r>
                        <a:rPr sz="1800" dirty="0">
                          <a:latin typeface="Arial MT"/>
                          <a:cs typeface="Arial MT"/>
                        </a:rPr>
                        <a:t>to</a:t>
                      </a:r>
                      <a:r>
                        <a:rPr sz="1800" spc="-10" dirty="0">
                          <a:latin typeface="Arial MT"/>
                          <a:cs typeface="Arial MT"/>
                        </a:rPr>
                        <a:t> </a:t>
                      </a:r>
                      <a:r>
                        <a:rPr sz="1800" dirty="0">
                          <a:latin typeface="Arial MT"/>
                          <a:cs typeface="Arial MT"/>
                        </a:rPr>
                        <a:t>me</a:t>
                      </a:r>
                      <a:endParaRPr sz="1800">
                        <a:latin typeface="Arial MT"/>
                        <a:cs typeface="Arial MT"/>
                      </a:endParaRPr>
                    </a:p>
                  </a:txBody>
                  <a:tcPr marL="0" marR="0" marT="46990"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1582420">
                <a:tc>
                  <a:txBody>
                    <a:bodyPr/>
                    <a:lstStyle/>
                    <a:p>
                      <a:pPr marL="90170" marR="116205">
                        <a:lnSpc>
                          <a:spcPct val="100000"/>
                        </a:lnSpc>
                        <a:spcBef>
                          <a:spcPts val="370"/>
                        </a:spcBef>
                      </a:pPr>
                      <a:r>
                        <a:rPr sz="2800" spc="-5" dirty="0">
                          <a:latin typeface="Arial MT"/>
                          <a:cs typeface="Arial MT"/>
                        </a:rPr>
                        <a:t>Not </a:t>
                      </a:r>
                      <a:r>
                        <a:rPr sz="2800" dirty="0">
                          <a:latin typeface="Arial MT"/>
                          <a:cs typeface="Arial MT"/>
                        </a:rPr>
                        <a:t> </a:t>
                      </a:r>
                      <a:r>
                        <a:rPr sz="2800" spc="-5" dirty="0">
                          <a:latin typeface="Arial MT"/>
                          <a:cs typeface="Arial MT"/>
                        </a:rPr>
                        <a:t>known </a:t>
                      </a:r>
                      <a:r>
                        <a:rPr sz="2800" dirty="0">
                          <a:latin typeface="Arial MT"/>
                          <a:cs typeface="Arial MT"/>
                        </a:rPr>
                        <a:t> to</a:t>
                      </a:r>
                      <a:r>
                        <a:rPr sz="2800" spc="-70" dirty="0">
                          <a:latin typeface="Arial MT"/>
                          <a:cs typeface="Arial MT"/>
                        </a:rPr>
                        <a:t> </a:t>
                      </a:r>
                      <a:r>
                        <a:rPr sz="2800" spc="-5" dirty="0">
                          <a:latin typeface="Arial MT"/>
                          <a:cs typeface="Arial MT"/>
                        </a:rPr>
                        <a:t>others</a:t>
                      </a:r>
                      <a:endParaRPr sz="2800">
                        <a:latin typeface="Arial MT"/>
                        <a:cs typeface="Arial MT"/>
                      </a:endParaRPr>
                    </a:p>
                  </a:txBody>
                  <a:tcPr marL="0" marR="0" marT="46990" marB="0">
                    <a:lnL w="28575">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tcPr>
                </a:tc>
                <a:tc>
                  <a:txBody>
                    <a:bodyPr/>
                    <a:lstStyle/>
                    <a:p>
                      <a:pPr marL="89535" marR="344805">
                        <a:lnSpc>
                          <a:spcPct val="100000"/>
                        </a:lnSpc>
                        <a:spcBef>
                          <a:spcPts val="370"/>
                        </a:spcBef>
                        <a:tabLst>
                          <a:tab pos="534670" algn="l"/>
                        </a:tabLst>
                      </a:pPr>
                      <a:r>
                        <a:rPr sz="2800" spc="-10" dirty="0">
                          <a:latin typeface="Arial MT"/>
                          <a:cs typeface="Arial MT"/>
                        </a:rPr>
                        <a:t>HIDDEN-</a:t>
                      </a:r>
                      <a:r>
                        <a:rPr sz="2800" spc="-25" dirty="0">
                          <a:latin typeface="Arial MT"/>
                          <a:cs typeface="Arial MT"/>
                        </a:rPr>
                        <a:t> </a:t>
                      </a:r>
                      <a:r>
                        <a:rPr sz="1800" spc="-5" dirty="0">
                          <a:latin typeface="Arial MT"/>
                          <a:cs typeface="Arial MT"/>
                        </a:rPr>
                        <a:t>Known</a:t>
                      </a:r>
                      <a:r>
                        <a:rPr sz="1800" spc="-30" dirty="0">
                          <a:latin typeface="Arial MT"/>
                          <a:cs typeface="Arial MT"/>
                        </a:rPr>
                        <a:t> </a:t>
                      </a:r>
                      <a:r>
                        <a:rPr sz="1800" dirty="0">
                          <a:latin typeface="Arial MT"/>
                          <a:cs typeface="Arial MT"/>
                        </a:rPr>
                        <a:t>to</a:t>
                      </a:r>
                      <a:r>
                        <a:rPr sz="1800" spc="-25" dirty="0">
                          <a:latin typeface="Arial MT"/>
                          <a:cs typeface="Arial MT"/>
                        </a:rPr>
                        <a:t> </a:t>
                      </a:r>
                      <a:r>
                        <a:rPr sz="1800" dirty="0">
                          <a:latin typeface="Arial MT"/>
                          <a:cs typeface="Arial MT"/>
                        </a:rPr>
                        <a:t>Me </a:t>
                      </a:r>
                      <a:r>
                        <a:rPr sz="1800" spc="-484" dirty="0">
                          <a:latin typeface="Arial MT"/>
                          <a:cs typeface="Arial MT"/>
                        </a:rPr>
                        <a:t> </a:t>
                      </a:r>
                      <a:r>
                        <a:rPr sz="1800" spc="-10" dirty="0">
                          <a:latin typeface="Arial MT"/>
                          <a:cs typeface="Arial MT"/>
                        </a:rPr>
                        <a:t>but	</a:t>
                      </a:r>
                      <a:r>
                        <a:rPr sz="1800" spc="-5" dirty="0">
                          <a:latin typeface="Arial MT"/>
                          <a:cs typeface="Arial MT"/>
                        </a:rPr>
                        <a:t>not</a:t>
                      </a:r>
                      <a:r>
                        <a:rPr sz="1800" spc="-10" dirty="0">
                          <a:latin typeface="Arial MT"/>
                          <a:cs typeface="Arial MT"/>
                        </a:rPr>
                        <a:t> </a:t>
                      </a:r>
                      <a:r>
                        <a:rPr sz="1800" spc="-5" dirty="0">
                          <a:latin typeface="Arial MT"/>
                          <a:cs typeface="Arial MT"/>
                        </a:rPr>
                        <a:t>known</a:t>
                      </a:r>
                      <a:r>
                        <a:rPr sz="1800" spc="-10" dirty="0">
                          <a:latin typeface="Arial MT"/>
                          <a:cs typeface="Arial MT"/>
                        </a:rPr>
                        <a:t> </a:t>
                      </a:r>
                      <a:r>
                        <a:rPr sz="1800" dirty="0">
                          <a:latin typeface="Arial MT"/>
                          <a:cs typeface="Arial MT"/>
                        </a:rPr>
                        <a:t>to</a:t>
                      </a:r>
                      <a:r>
                        <a:rPr sz="1800" spc="-20" dirty="0">
                          <a:latin typeface="Arial MT"/>
                          <a:cs typeface="Arial MT"/>
                        </a:rPr>
                        <a:t> </a:t>
                      </a:r>
                      <a:r>
                        <a:rPr sz="1800" spc="-5" dirty="0">
                          <a:latin typeface="Arial MT"/>
                          <a:cs typeface="Arial MT"/>
                        </a:rPr>
                        <a:t>others</a:t>
                      </a:r>
                      <a:endParaRPr sz="1800">
                        <a:latin typeface="Arial MT"/>
                        <a:cs typeface="Arial MT"/>
                      </a:endParaRPr>
                    </a:p>
                  </a:txBody>
                  <a:tcPr marL="0" marR="0" marT="46990" marB="0">
                    <a:lnL w="12700">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tcPr>
                </a:tc>
                <a:tc>
                  <a:txBody>
                    <a:bodyPr/>
                    <a:lstStyle/>
                    <a:p>
                      <a:pPr marL="90170" marR="353695">
                        <a:lnSpc>
                          <a:spcPct val="100000"/>
                        </a:lnSpc>
                        <a:spcBef>
                          <a:spcPts val="370"/>
                        </a:spcBef>
                      </a:pPr>
                      <a:r>
                        <a:rPr sz="2800" spc="-10" dirty="0">
                          <a:solidFill>
                            <a:srgbClr val="CCFFFF"/>
                          </a:solidFill>
                          <a:latin typeface="Arial MT"/>
                          <a:cs typeface="Arial MT"/>
                        </a:rPr>
                        <a:t>UNKNOWN-</a:t>
                      </a:r>
                      <a:r>
                        <a:rPr sz="2800" spc="-70" dirty="0">
                          <a:solidFill>
                            <a:srgbClr val="CCFFFF"/>
                          </a:solidFill>
                          <a:latin typeface="Arial MT"/>
                          <a:cs typeface="Arial MT"/>
                        </a:rPr>
                        <a:t> </a:t>
                      </a:r>
                      <a:r>
                        <a:rPr sz="1800" spc="-5" dirty="0">
                          <a:solidFill>
                            <a:srgbClr val="CCFFFF"/>
                          </a:solidFill>
                          <a:latin typeface="Arial MT"/>
                          <a:cs typeface="Arial MT"/>
                        </a:rPr>
                        <a:t>Neither </a:t>
                      </a:r>
                      <a:r>
                        <a:rPr sz="1800" spc="-484" dirty="0">
                          <a:solidFill>
                            <a:srgbClr val="CCFFFF"/>
                          </a:solidFill>
                          <a:latin typeface="Arial MT"/>
                          <a:cs typeface="Arial MT"/>
                        </a:rPr>
                        <a:t> </a:t>
                      </a:r>
                      <a:r>
                        <a:rPr sz="1800" spc="-5" dirty="0">
                          <a:solidFill>
                            <a:srgbClr val="CCFFFF"/>
                          </a:solidFill>
                          <a:latin typeface="Arial MT"/>
                          <a:cs typeface="Arial MT"/>
                        </a:rPr>
                        <a:t>known </a:t>
                      </a:r>
                      <a:r>
                        <a:rPr sz="1800" dirty="0">
                          <a:solidFill>
                            <a:srgbClr val="CCFFFF"/>
                          </a:solidFill>
                          <a:latin typeface="Arial MT"/>
                          <a:cs typeface="Arial MT"/>
                        </a:rPr>
                        <a:t>to me </a:t>
                      </a:r>
                      <a:r>
                        <a:rPr sz="1800" spc="-5" dirty="0">
                          <a:solidFill>
                            <a:srgbClr val="CCFFFF"/>
                          </a:solidFill>
                          <a:latin typeface="Arial MT"/>
                          <a:cs typeface="Arial MT"/>
                        </a:rPr>
                        <a:t>nor known </a:t>
                      </a:r>
                      <a:r>
                        <a:rPr sz="1800" dirty="0">
                          <a:solidFill>
                            <a:srgbClr val="CCFFFF"/>
                          </a:solidFill>
                          <a:latin typeface="Arial MT"/>
                          <a:cs typeface="Arial MT"/>
                        </a:rPr>
                        <a:t>to </a:t>
                      </a:r>
                      <a:r>
                        <a:rPr sz="1800" spc="5" dirty="0">
                          <a:solidFill>
                            <a:srgbClr val="CCFFFF"/>
                          </a:solidFill>
                          <a:latin typeface="Arial MT"/>
                          <a:cs typeface="Arial MT"/>
                        </a:rPr>
                        <a:t> </a:t>
                      </a:r>
                      <a:r>
                        <a:rPr sz="1800" spc="-5" dirty="0">
                          <a:solidFill>
                            <a:srgbClr val="CCFFFF"/>
                          </a:solidFill>
                          <a:latin typeface="Arial MT"/>
                          <a:cs typeface="Arial MT"/>
                        </a:rPr>
                        <a:t>others.</a:t>
                      </a:r>
                      <a:endParaRPr sz="1800">
                        <a:latin typeface="Arial MT"/>
                        <a:cs typeface="Arial MT"/>
                      </a:endParaRPr>
                    </a:p>
                  </a:txBody>
                  <a:tcPr marL="0" marR="0" marT="46990" marB="0">
                    <a:lnL w="12700">
                      <a:solidFill>
                        <a:srgbClr val="000000"/>
                      </a:solidFill>
                      <a:prstDash val="solid"/>
                    </a:lnL>
                    <a:lnR w="28575">
                      <a:solidFill>
                        <a:srgbClr val="000000"/>
                      </a:solidFill>
                      <a:prstDash val="solid"/>
                    </a:lnR>
                    <a:lnT w="12700">
                      <a:solidFill>
                        <a:srgbClr val="000000"/>
                      </a:solidFill>
                      <a:prstDash val="solid"/>
                    </a:lnT>
                    <a:lnB w="28575">
                      <a:solidFill>
                        <a:srgbClr val="000000"/>
                      </a:solidFill>
                      <a:prstDash val="solid"/>
                    </a:lnB>
                  </a:tcPr>
                </a:tc>
                <a:extLst>
                  <a:ext uri="{0D108BD9-81ED-4DB2-BD59-A6C34878D82A}">
                    <a16:rowId xmlns:a16="http://schemas.microsoft.com/office/drawing/2014/main" val="10002"/>
                  </a:ext>
                </a:extLst>
              </a:tr>
            </a:tbl>
          </a:graphicData>
        </a:graphic>
      </p:graphicFrame>
      <p:grpSp>
        <p:nvGrpSpPr>
          <p:cNvPr id="4" name="object 4"/>
          <p:cNvGrpSpPr/>
          <p:nvPr/>
        </p:nvGrpSpPr>
        <p:grpSpPr>
          <a:xfrm>
            <a:off x="3581400" y="2898139"/>
            <a:ext cx="6629400" cy="2876550"/>
            <a:chOff x="2057400" y="2898139"/>
            <a:chExt cx="6629400" cy="2876550"/>
          </a:xfrm>
        </p:grpSpPr>
        <p:sp>
          <p:nvSpPr>
            <p:cNvPr id="5" name="object 5"/>
            <p:cNvSpPr/>
            <p:nvPr/>
          </p:nvSpPr>
          <p:spPr>
            <a:xfrm>
              <a:off x="2057400" y="2898139"/>
              <a:ext cx="3352800" cy="1295400"/>
            </a:xfrm>
            <a:custGeom>
              <a:avLst/>
              <a:gdLst/>
              <a:ahLst/>
              <a:cxnLst/>
              <a:rect l="l" t="t" r="r" b="b"/>
              <a:pathLst>
                <a:path w="3352800" h="1295400">
                  <a:moveTo>
                    <a:pt x="3352800" y="0"/>
                  </a:moveTo>
                  <a:lnTo>
                    <a:pt x="0" y="0"/>
                  </a:lnTo>
                  <a:lnTo>
                    <a:pt x="0" y="1295400"/>
                  </a:lnTo>
                  <a:lnTo>
                    <a:pt x="1676400" y="1295400"/>
                  </a:lnTo>
                  <a:lnTo>
                    <a:pt x="3352800" y="1295400"/>
                  </a:lnTo>
                  <a:lnTo>
                    <a:pt x="3352800" y="0"/>
                  </a:lnTo>
                  <a:close/>
                </a:path>
              </a:pathLst>
            </a:custGeom>
            <a:solidFill>
              <a:srgbClr val="009800"/>
            </a:solidFill>
          </p:spPr>
          <p:txBody>
            <a:bodyPr wrap="square" lIns="0" tIns="0" rIns="0" bIns="0" rtlCol="0"/>
            <a:lstStyle/>
            <a:p>
              <a:pPr defTabSz="914400"/>
              <a:endParaRPr>
                <a:solidFill>
                  <a:prstClr val="black"/>
                </a:solidFill>
                <a:latin typeface="Calibri"/>
              </a:endParaRPr>
            </a:p>
          </p:txBody>
        </p:sp>
        <p:sp>
          <p:nvSpPr>
            <p:cNvPr id="6" name="object 6"/>
            <p:cNvSpPr/>
            <p:nvPr/>
          </p:nvSpPr>
          <p:spPr>
            <a:xfrm>
              <a:off x="5410200" y="2898139"/>
              <a:ext cx="3276600" cy="1295400"/>
            </a:xfrm>
            <a:custGeom>
              <a:avLst/>
              <a:gdLst/>
              <a:ahLst/>
              <a:cxnLst/>
              <a:rect l="l" t="t" r="r" b="b"/>
              <a:pathLst>
                <a:path w="3276600" h="1295400">
                  <a:moveTo>
                    <a:pt x="3276600" y="0"/>
                  </a:moveTo>
                  <a:lnTo>
                    <a:pt x="0" y="0"/>
                  </a:lnTo>
                  <a:lnTo>
                    <a:pt x="0" y="1295400"/>
                  </a:lnTo>
                  <a:lnTo>
                    <a:pt x="1638300" y="1295400"/>
                  </a:lnTo>
                  <a:lnTo>
                    <a:pt x="3276600" y="1295400"/>
                  </a:lnTo>
                  <a:lnTo>
                    <a:pt x="3276600" y="0"/>
                  </a:lnTo>
                  <a:close/>
                </a:path>
              </a:pathLst>
            </a:custGeom>
            <a:solidFill>
              <a:srgbClr val="FF6600"/>
            </a:solidFill>
          </p:spPr>
          <p:txBody>
            <a:bodyPr wrap="square" lIns="0" tIns="0" rIns="0" bIns="0" rtlCol="0"/>
            <a:lstStyle/>
            <a:p>
              <a:pPr defTabSz="914400"/>
              <a:endParaRPr>
                <a:solidFill>
                  <a:prstClr val="black"/>
                </a:solidFill>
                <a:latin typeface="Calibri"/>
              </a:endParaRPr>
            </a:p>
          </p:txBody>
        </p:sp>
        <p:sp>
          <p:nvSpPr>
            <p:cNvPr id="7" name="object 7"/>
            <p:cNvSpPr/>
            <p:nvPr/>
          </p:nvSpPr>
          <p:spPr>
            <a:xfrm>
              <a:off x="2057400" y="4193539"/>
              <a:ext cx="3352800" cy="1581150"/>
            </a:xfrm>
            <a:custGeom>
              <a:avLst/>
              <a:gdLst/>
              <a:ahLst/>
              <a:cxnLst/>
              <a:rect l="l" t="t" r="r" b="b"/>
              <a:pathLst>
                <a:path w="3352800" h="1581150">
                  <a:moveTo>
                    <a:pt x="3352800" y="0"/>
                  </a:moveTo>
                  <a:lnTo>
                    <a:pt x="0" y="0"/>
                  </a:lnTo>
                  <a:lnTo>
                    <a:pt x="0" y="1581150"/>
                  </a:lnTo>
                  <a:lnTo>
                    <a:pt x="1676400" y="1581150"/>
                  </a:lnTo>
                  <a:lnTo>
                    <a:pt x="3352800" y="1581150"/>
                  </a:lnTo>
                  <a:lnTo>
                    <a:pt x="3352800" y="0"/>
                  </a:lnTo>
                  <a:close/>
                </a:path>
              </a:pathLst>
            </a:custGeom>
            <a:solidFill>
              <a:srgbClr val="0066FF"/>
            </a:solidFill>
          </p:spPr>
          <p:txBody>
            <a:bodyPr wrap="square" lIns="0" tIns="0" rIns="0" bIns="0" rtlCol="0"/>
            <a:lstStyle/>
            <a:p>
              <a:pPr defTabSz="914400"/>
              <a:endParaRPr>
                <a:solidFill>
                  <a:prstClr val="black"/>
                </a:solidFill>
                <a:latin typeface="Calibri"/>
              </a:endParaRPr>
            </a:p>
          </p:txBody>
        </p:sp>
        <p:sp>
          <p:nvSpPr>
            <p:cNvPr id="8" name="object 8"/>
            <p:cNvSpPr/>
            <p:nvPr/>
          </p:nvSpPr>
          <p:spPr>
            <a:xfrm>
              <a:off x="5410200" y="4193539"/>
              <a:ext cx="3276600" cy="1581150"/>
            </a:xfrm>
            <a:custGeom>
              <a:avLst/>
              <a:gdLst/>
              <a:ahLst/>
              <a:cxnLst/>
              <a:rect l="l" t="t" r="r" b="b"/>
              <a:pathLst>
                <a:path w="3276600" h="1581150">
                  <a:moveTo>
                    <a:pt x="3276600" y="0"/>
                  </a:moveTo>
                  <a:lnTo>
                    <a:pt x="0" y="0"/>
                  </a:lnTo>
                  <a:lnTo>
                    <a:pt x="0" y="1581150"/>
                  </a:lnTo>
                  <a:lnTo>
                    <a:pt x="1638300" y="1581150"/>
                  </a:lnTo>
                  <a:lnTo>
                    <a:pt x="3276600" y="1581150"/>
                  </a:lnTo>
                  <a:lnTo>
                    <a:pt x="3276600" y="0"/>
                  </a:lnTo>
                  <a:close/>
                </a:path>
              </a:pathLst>
            </a:custGeom>
            <a:solidFill>
              <a:srgbClr val="000000"/>
            </a:solidFill>
          </p:spPr>
          <p:txBody>
            <a:bodyPr wrap="square" lIns="0" tIns="0" rIns="0" bIns="0" rtlCol="0"/>
            <a:lstStyle/>
            <a:p>
              <a:pPr defTabSz="914400"/>
              <a:endParaRPr>
                <a:solidFill>
                  <a:prstClr val="black"/>
                </a:solidFill>
                <a:latin typeface="Calibri"/>
              </a:endParaRPr>
            </a:p>
          </p:txBody>
        </p:sp>
      </p:gr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59943" y="520702"/>
            <a:ext cx="8072119" cy="1243930"/>
          </a:xfrm>
          <a:prstGeom prst="rect">
            <a:avLst/>
          </a:prstGeom>
        </p:spPr>
        <p:txBody>
          <a:bodyPr vert="horz" wrap="square" lIns="0" tIns="12700" rIns="0" bIns="0" rtlCol="0">
            <a:spAutoFit/>
          </a:bodyPr>
          <a:lstStyle/>
          <a:p>
            <a:pPr marL="12700" marR="5080">
              <a:spcBef>
                <a:spcPts val="100"/>
              </a:spcBef>
            </a:pPr>
            <a:r>
              <a:rPr spc="-5" dirty="0">
                <a:solidFill>
                  <a:srgbClr val="FF00FF"/>
                </a:solidFill>
              </a:rPr>
              <a:t>Minimum</a:t>
            </a:r>
            <a:r>
              <a:rPr spc="-35" dirty="0">
                <a:solidFill>
                  <a:srgbClr val="FF00FF"/>
                </a:solidFill>
              </a:rPr>
              <a:t> </a:t>
            </a:r>
            <a:r>
              <a:rPr spc="-5" dirty="0">
                <a:solidFill>
                  <a:srgbClr val="FF00FF"/>
                </a:solidFill>
              </a:rPr>
              <a:t>openness-</a:t>
            </a:r>
            <a:r>
              <a:rPr spc="-40" dirty="0">
                <a:solidFill>
                  <a:srgbClr val="FF00FF"/>
                </a:solidFill>
              </a:rPr>
              <a:t> </a:t>
            </a:r>
            <a:r>
              <a:rPr dirty="0"/>
              <a:t>Ineffective </a:t>
            </a:r>
            <a:r>
              <a:rPr spc="-1095" dirty="0"/>
              <a:t> </a:t>
            </a:r>
            <a:r>
              <a:rPr spc="-5" dirty="0"/>
              <a:t>personality</a:t>
            </a:r>
          </a:p>
        </p:txBody>
      </p:sp>
      <p:graphicFrame>
        <p:nvGraphicFramePr>
          <p:cNvPr id="3" name="object 3"/>
          <p:cNvGraphicFramePr>
            <a:graphicFrameLocks noGrp="1"/>
          </p:cNvGraphicFramePr>
          <p:nvPr/>
        </p:nvGraphicFramePr>
        <p:xfrm>
          <a:off x="1967003" y="2195608"/>
          <a:ext cx="7848600" cy="3411219"/>
        </p:xfrm>
        <a:graphic>
          <a:graphicData uri="http://schemas.openxmlformats.org/drawingml/2006/table">
            <a:tbl>
              <a:tblPr firstRow="1" bandRow="1">
                <a:tableStyleId>{2D5ABB26-0587-4C30-8999-92F81FD0307C}</a:tableStyleId>
              </a:tblPr>
              <a:tblGrid>
                <a:gridCol w="2470150">
                  <a:extLst>
                    <a:ext uri="{9D8B030D-6E8A-4147-A177-3AD203B41FA5}">
                      <a16:colId xmlns:a16="http://schemas.microsoft.com/office/drawing/2014/main" val="20000"/>
                    </a:ext>
                  </a:extLst>
                </a:gridCol>
                <a:gridCol w="5378450">
                  <a:extLst>
                    <a:ext uri="{9D8B030D-6E8A-4147-A177-3AD203B41FA5}">
                      <a16:colId xmlns:a16="http://schemas.microsoft.com/office/drawing/2014/main" val="20001"/>
                    </a:ext>
                  </a:extLst>
                </a:gridCol>
              </a:tblGrid>
              <a:tr h="1489710">
                <a:tc>
                  <a:txBody>
                    <a:bodyPr/>
                    <a:lstStyle/>
                    <a:p>
                      <a:pPr marL="90170">
                        <a:lnSpc>
                          <a:spcPct val="100000"/>
                        </a:lnSpc>
                        <a:spcBef>
                          <a:spcPts val="360"/>
                        </a:spcBef>
                      </a:pPr>
                      <a:r>
                        <a:rPr sz="2800" spc="-5" dirty="0">
                          <a:latin typeface="Arial MT"/>
                          <a:cs typeface="Arial MT"/>
                        </a:rPr>
                        <a:t>Open</a:t>
                      </a:r>
                      <a:endParaRPr sz="2800">
                        <a:latin typeface="Arial MT"/>
                        <a:cs typeface="Arial MT"/>
                      </a:endParaRPr>
                    </a:p>
                  </a:txBody>
                  <a:tcPr marL="0" marR="0" marB="0">
                    <a:lnL w="28575">
                      <a:solidFill>
                        <a:srgbClr val="000000"/>
                      </a:solidFill>
                      <a:prstDash val="solid"/>
                    </a:lnL>
                    <a:lnR w="12700">
                      <a:solidFill>
                        <a:srgbClr val="000000"/>
                      </a:solidFill>
                      <a:prstDash val="solid"/>
                    </a:lnR>
                    <a:lnT w="28575">
                      <a:solidFill>
                        <a:srgbClr val="000000"/>
                      </a:solidFill>
                      <a:prstDash val="solid"/>
                    </a:lnT>
                    <a:lnB w="12700">
                      <a:solidFill>
                        <a:srgbClr val="000000"/>
                      </a:solidFill>
                      <a:prstDash val="solid"/>
                    </a:lnB>
                  </a:tcPr>
                </a:tc>
                <a:tc>
                  <a:txBody>
                    <a:bodyPr/>
                    <a:lstStyle/>
                    <a:p>
                      <a:pPr marL="89535">
                        <a:lnSpc>
                          <a:spcPct val="100000"/>
                        </a:lnSpc>
                        <a:spcBef>
                          <a:spcPts val="360"/>
                        </a:spcBef>
                      </a:pPr>
                      <a:r>
                        <a:rPr sz="2800" spc="-5" dirty="0">
                          <a:latin typeface="Arial MT"/>
                          <a:cs typeface="Arial MT"/>
                        </a:rPr>
                        <a:t>Blind</a:t>
                      </a:r>
                      <a:endParaRPr sz="2800">
                        <a:latin typeface="Arial MT"/>
                        <a:cs typeface="Arial MT"/>
                      </a:endParaRPr>
                    </a:p>
                  </a:txBody>
                  <a:tcPr marL="0" marR="0" marB="0">
                    <a:lnL w="12700">
                      <a:solidFill>
                        <a:srgbClr val="000000"/>
                      </a:solidFill>
                      <a:prstDash val="solid"/>
                    </a:lnL>
                    <a:lnR w="28575">
                      <a:solidFill>
                        <a:srgbClr val="000000"/>
                      </a:solidFill>
                      <a:prstDash val="solid"/>
                    </a:lnR>
                    <a:lnT w="28575">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1921509">
                <a:tc>
                  <a:txBody>
                    <a:bodyPr/>
                    <a:lstStyle/>
                    <a:p>
                      <a:pPr marL="90170">
                        <a:lnSpc>
                          <a:spcPct val="100000"/>
                        </a:lnSpc>
                        <a:spcBef>
                          <a:spcPts val="359"/>
                        </a:spcBef>
                      </a:pPr>
                      <a:r>
                        <a:rPr sz="2800" spc="-5" dirty="0">
                          <a:latin typeface="Arial MT"/>
                          <a:cs typeface="Arial MT"/>
                        </a:rPr>
                        <a:t>Hidden</a:t>
                      </a:r>
                      <a:endParaRPr sz="2800">
                        <a:latin typeface="Arial MT"/>
                        <a:cs typeface="Arial MT"/>
                      </a:endParaRPr>
                    </a:p>
                  </a:txBody>
                  <a:tcPr marL="0" marR="0" marT="45719" marB="0">
                    <a:lnL w="28575">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tcPr>
                </a:tc>
                <a:tc>
                  <a:txBody>
                    <a:bodyPr/>
                    <a:lstStyle/>
                    <a:p>
                      <a:pPr marL="89535">
                        <a:lnSpc>
                          <a:spcPct val="100000"/>
                        </a:lnSpc>
                        <a:spcBef>
                          <a:spcPts val="359"/>
                        </a:spcBef>
                      </a:pPr>
                      <a:r>
                        <a:rPr sz="2800" spc="-5" dirty="0">
                          <a:solidFill>
                            <a:srgbClr val="CCFFFF"/>
                          </a:solidFill>
                          <a:latin typeface="Arial MT"/>
                          <a:cs typeface="Arial MT"/>
                        </a:rPr>
                        <a:t>Dark</a:t>
                      </a:r>
                      <a:endParaRPr sz="2800">
                        <a:latin typeface="Arial MT"/>
                        <a:cs typeface="Arial MT"/>
                      </a:endParaRPr>
                    </a:p>
                  </a:txBody>
                  <a:tcPr marL="0" marR="0" marT="45719" marB="0">
                    <a:lnL w="12700">
                      <a:solidFill>
                        <a:srgbClr val="000000"/>
                      </a:solidFill>
                      <a:prstDash val="solid"/>
                    </a:lnL>
                    <a:lnR w="28575">
                      <a:solidFill>
                        <a:srgbClr val="000000"/>
                      </a:solidFill>
                      <a:prstDash val="solid"/>
                    </a:lnR>
                    <a:lnT w="12700">
                      <a:solidFill>
                        <a:srgbClr val="000000"/>
                      </a:solidFill>
                      <a:prstDash val="solid"/>
                    </a:lnT>
                    <a:lnB w="28575">
                      <a:solidFill>
                        <a:srgbClr val="000000"/>
                      </a:solidFill>
                      <a:prstDash val="solid"/>
                    </a:lnB>
                  </a:tcPr>
                </a:tc>
                <a:extLst>
                  <a:ext uri="{0D108BD9-81ED-4DB2-BD59-A6C34878D82A}">
                    <a16:rowId xmlns:a16="http://schemas.microsoft.com/office/drawing/2014/main" val="10001"/>
                  </a:ext>
                </a:extLst>
              </a:tr>
            </a:tbl>
          </a:graphicData>
        </a:graphic>
      </p:graphicFrame>
      <p:grpSp>
        <p:nvGrpSpPr>
          <p:cNvPr id="4" name="object 4"/>
          <p:cNvGrpSpPr/>
          <p:nvPr/>
        </p:nvGrpSpPr>
        <p:grpSpPr>
          <a:xfrm>
            <a:off x="1981200" y="2209800"/>
            <a:ext cx="7848600" cy="3411220"/>
            <a:chOff x="457200" y="2209800"/>
            <a:chExt cx="7848600" cy="3411220"/>
          </a:xfrm>
        </p:grpSpPr>
        <p:sp>
          <p:nvSpPr>
            <p:cNvPr id="5" name="object 5"/>
            <p:cNvSpPr/>
            <p:nvPr/>
          </p:nvSpPr>
          <p:spPr>
            <a:xfrm>
              <a:off x="457200" y="2209800"/>
              <a:ext cx="2470150" cy="1488440"/>
            </a:xfrm>
            <a:custGeom>
              <a:avLst/>
              <a:gdLst/>
              <a:ahLst/>
              <a:cxnLst/>
              <a:rect l="l" t="t" r="r" b="b"/>
              <a:pathLst>
                <a:path w="2470150" h="1488439">
                  <a:moveTo>
                    <a:pt x="2470150" y="0"/>
                  </a:moveTo>
                  <a:lnTo>
                    <a:pt x="0" y="0"/>
                  </a:lnTo>
                  <a:lnTo>
                    <a:pt x="0" y="1488439"/>
                  </a:lnTo>
                  <a:lnTo>
                    <a:pt x="1235710" y="1488439"/>
                  </a:lnTo>
                  <a:lnTo>
                    <a:pt x="2470150" y="1488439"/>
                  </a:lnTo>
                  <a:lnTo>
                    <a:pt x="2470150" y="0"/>
                  </a:lnTo>
                  <a:close/>
                </a:path>
              </a:pathLst>
            </a:custGeom>
            <a:solidFill>
              <a:srgbClr val="009800"/>
            </a:solidFill>
          </p:spPr>
          <p:txBody>
            <a:bodyPr wrap="square" lIns="0" tIns="0" rIns="0" bIns="0" rtlCol="0"/>
            <a:lstStyle/>
            <a:p>
              <a:pPr defTabSz="914400"/>
              <a:endParaRPr>
                <a:solidFill>
                  <a:prstClr val="black"/>
                </a:solidFill>
                <a:latin typeface="Calibri"/>
              </a:endParaRPr>
            </a:p>
          </p:txBody>
        </p:sp>
        <p:sp>
          <p:nvSpPr>
            <p:cNvPr id="6" name="object 6"/>
            <p:cNvSpPr/>
            <p:nvPr/>
          </p:nvSpPr>
          <p:spPr>
            <a:xfrm>
              <a:off x="2927350" y="2209800"/>
              <a:ext cx="5378450" cy="1488440"/>
            </a:xfrm>
            <a:custGeom>
              <a:avLst/>
              <a:gdLst/>
              <a:ahLst/>
              <a:cxnLst/>
              <a:rect l="l" t="t" r="r" b="b"/>
              <a:pathLst>
                <a:path w="5378450" h="1488439">
                  <a:moveTo>
                    <a:pt x="5378450" y="0"/>
                  </a:moveTo>
                  <a:lnTo>
                    <a:pt x="0" y="0"/>
                  </a:lnTo>
                  <a:lnTo>
                    <a:pt x="0" y="1488439"/>
                  </a:lnTo>
                  <a:lnTo>
                    <a:pt x="2689860" y="1488439"/>
                  </a:lnTo>
                  <a:lnTo>
                    <a:pt x="5378450" y="1488439"/>
                  </a:lnTo>
                  <a:lnTo>
                    <a:pt x="5378450" y="0"/>
                  </a:lnTo>
                  <a:close/>
                </a:path>
              </a:pathLst>
            </a:custGeom>
            <a:solidFill>
              <a:srgbClr val="FF6600"/>
            </a:solidFill>
          </p:spPr>
          <p:txBody>
            <a:bodyPr wrap="square" lIns="0" tIns="0" rIns="0" bIns="0" rtlCol="0"/>
            <a:lstStyle/>
            <a:p>
              <a:pPr defTabSz="914400"/>
              <a:endParaRPr>
                <a:solidFill>
                  <a:prstClr val="black"/>
                </a:solidFill>
                <a:latin typeface="Calibri"/>
              </a:endParaRPr>
            </a:p>
          </p:txBody>
        </p:sp>
        <p:sp>
          <p:nvSpPr>
            <p:cNvPr id="7" name="object 7"/>
            <p:cNvSpPr/>
            <p:nvPr/>
          </p:nvSpPr>
          <p:spPr>
            <a:xfrm>
              <a:off x="457200" y="3699510"/>
              <a:ext cx="2470150" cy="1921510"/>
            </a:xfrm>
            <a:custGeom>
              <a:avLst/>
              <a:gdLst/>
              <a:ahLst/>
              <a:cxnLst/>
              <a:rect l="l" t="t" r="r" b="b"/>
              <a:pathLst>
                <a:path w="2470150" h="1921510">
                  <a:moveTo>
                    <a:pt x="2470150" y="0"/>
                  </a:moveTo>
                  <a:lnTo>
                    <a:pt x="0" y="0"/>
                  </a:lnTo>
                  <a:lnTo>
                    <a:pt x="0" y="1921509"/>
                  </a:lnTo>
                  <a:lnTo>
                    <a:pt x="1235710" y="1921509"/>
                  </a:lnTo>
                  <a:lnTo>
                    <a:pt x="2470150" y="1921509"/>
                  </a:lnTo>
                  <a:lnTo>
                    <a:pt x="2470150" y="0"/>
                  </a:lnTo>
                  <a:close/>
                </a:path>
              </a:pathLst>
            </a:custGeom>
            <a:solidFill>
              <a:srgbClr val="0066FF"/>
            </a:solidFill>
          </p:spPr>
          <p:txBody>
            <a:bodyPr wrap="square" lIns="0" tIns="0" rIns="0" bIns="0" rtlCol="0"/>
            <a:lstStyle/>
            <a:p>
              <a:pPr defTabSz="914400"/>
              <a:endParaRPr>
                <a:solidFill>
                  <a:prstClr val="black"/>
                </a:solidFill>
                <a:latin typeface="Calibri"/>
              </a:endParaRPr>
            </a:p>
          </p:txBody>
        </p:sp>
        <p:sp>
          <p:nvSpPr>
            <p:cNvPr id="8" name="object 8"/>
            <p:cNvSpPr/>
            <p:nvPr/>
          </p:nvSpPr>
          <p:spPr>
            <a:xfrm>
              <a:off x="2927350" y="3699510"/>
              <a:ext cx="5378450" cy="1921510"/>
            </a:xfrm>
            <a:custGeom>
              <a:avLst/>
              <a:gdLst/>
              <a:ahLst/>
              <a:cxnLst/>
              <a:rect l="l" t="t" r="r" b="b"/>
              <a:pathLst>
                <a:path w="5378450" h="1921510">
                  <a:moveTo>
                    <a:pt x="5378450" y="0"/>
                  </a:moveTo>
                  <a:lnTo>
                    <a:pt x="0" y="0"/>
                  </a:lnTo>
                  <a:lnTo>
                    <a:pt x="0" y="1921509"/>
                  </a:lnTo>
                  <a:lnTo>
                    <a:pt x="2689860" y="1921509"/>
                  </a:lnTo>
                  <a:lnTo>
                    <a:pt x="5378450" y="1921509"/>
                  </a:lnTo>
                  <a:lnTo>
                    <a:pt x="5378450" y="0"/>
                  </a:lnTo>
                  <a:close/>
                </a:path>
              </a:pathLst>
            </a:custGeom>
            <a:solidFill>
              <a:srgbClr val="000000"/>
            </a:solidFill>
          </p:spPr>
          <p:txBody>
            <a:bodyPr wrap="square" lIns="0" tIns="0" rIns="0" bIns="0" rtlCol="0"/>
            <a:lstStyle/>
            <a:p>
              <a:pPr defTabSz="914400"/>
              <a:endParaRPr>
                <a:solidFill>
                  <a:prstClr val="black"/>
                </a:solidFill>
                <a:latin typeface="Calibri"/>
              </a:endParaRPr>
            </a:p>
          </p:txBody>
        </p:sp>
      </p:gr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59943" y="520702"/>
            <a:ext cx="8072119" cy="1243930"/>
          </a:xfrm>
          <a:prstGeom prst="rect">
            <a:avLst/>
          </a:prstGeom>
        </p:spPr>
        <p:txBody>
          <a:bodyPr vert="horz" wrap="square" lIns="0" tIns="12700" rIns="0" bIns="0" rtlCol="0">
            <a:spAutoFit/>
          </a:bodyPr>
          <a:lstStyle/>
          <a:p>
            <a:pPr marL="12700" marR="5080">
              <a:spcBef>
                <a:spcPts val="100"/>
              </a:spcBef>
            </a:pPr>
            <a:r>
              <a:rPr spc="-5" dirty="0">
                <a:solidFill>
                  <a:srgbClr val="663300"/>
                </a:solidFill>
              </a:rPr>
              <a:t>More</a:t>
            </a:r>
            <a:r>
              <a:rPr spc="-40" dirty="0">
                <a:solidFill>
                  <a:srgbClr val="663300"/>
                </a:solidFill>
              </a:rPr>
              <a:t> </a:t>
            </a:r>
            <a:r>
              <a:rPr spc="-5" dirty="0">
                <a:solidFill>
                  <a:srgbClr val="663300"/>
                </a:solidFill>
              </a:rPr>
              <a:t>openness-</a:t>
            </a:r>
            <a:r>
              <a:rPr spc="-35" dirty="0">
                <a:solidFill>
                  <a:srgbClr val="663300"/>
                </a:solidFill>
              </a:rPr>
              <a:t> </a:t>
            </a:r>
            <a:r>
              <a:rPr dirty="0"/>
              <a:t>Effective </a:t>
            </a:r>
            <a:r>
              <a:rPr spc="-1100" dirty="0"/>
              <a:t> </a:t>
            </a:r>
            <a:r>
              <a:rPr spc="-5" dirty="0"/>
              <a:t>personality</a:t>
            </a:r>
          </a:p>
        </p:txBody>
      </p:sp>
      <p:graphicFrame>
        <p:nvGraphicFramePr>
          <p:cNvPr id="3" name="object 3"/>
          <p:cNvGraphicFramePr>
            <a:graphicFrameLocks noGrp="1"/>
          </p:cNvGraphicFramePr>
          <p:nvPr/>
        </p:nvGraphicFramePr>
        <p:xfrm>
          <a:off x="1967003" y="1967003"/>
          <a:ext cx="8077200" cy="4724400"/>
        </p:xfrm>
        <a:graphic>
          <a:graphicData uri="http://schemas.openxmlformats.org/drawingml/2006/table">
            <a:tbl>
              <a:tblPr firstRow="1" bandRow="1">
                <a:tableStyleId>{2D5ABB26-0587-4C30-8999-92F81FD0307C}</a:tableStyleId>
              </a:tblPr>
              <a:tblGrid>
                <a:gridCol w="5683250">
                  <a:extLst>
                    <a:ext uri="{9D8B030D-6E8A-4147-A177-3AD203B41FA5}">
                      <a16:colId xmlns:a16="http://schemas.microsoft.com/office/drawing/2014/main" val="20000"/>
                    </a:ext>
                  </a:extLst>
                </a:gridCol>
                <a:gridCol w="2393950">
                  <a:extLst>
                    <a:ext uri="{9D8B030D-6E8A-4147-A177-3AD203B41FA5}">
                      <a16:colId xmlns:a16="http://schemas.microsoft.com/office/drawing/2014/main" val="20001"/>
                    </a:ext>
                  </a:extLst>
                </a:gridCol>
              </a:tblGrid>
              <a:tr h="2973070">
                <a:tc>
                  <a:txBody>
                    <a:bodyPr/>
                    <a:lstStyle/>
                    <a:p>
                      <a:pPr marL="90170">
                        <a:lnSpc>
                          <a:spcPct val="100000"/>
                        </a:lnSpc>
                        <a:spcBef>
                          <a:spcPts val="370"/>
                        </a:spcBef>
                      </a:pPr>
                      <a:r>
                        <a:rPr sz="2800" spc="-5" dirty="0">
                          <a:latin typeface="Arial MT"/>
                          <a:cs typeface="Arial MT"/>
                        </a:rPr>
                        <a:t>Open</a:t>
                      </a:r>
                      <a:endParaRPr sz="2800">
                        <a:latin typeface="Arial MT"/>
                        <a:cs typeface="Arial MT"/>
                      </a:endParaRPr>
                    </a:p>
                  </a:txBody>
                  <a:tcPr marL="0" marR="0" marT="46990" marB="0">
                    <a:lnL w="28575">
                      <a:solidFill>
                        <a:srgbClr val="000000"/>
                      </a:solidFill>
                      <a:prstDash val="solid"/>
                    </a:lnL>
                    <a:lnR w="12700">
                      <a:solidFill>
                        <a:srgbClr val="000000"/>
                      </a:solidFill>
                      <a:prstDash val="solid"/>
                    </a:lnR>
                    <a:lnT w="28575">
                      <a:solidFill>
                        <a:srgbClr val="000000"/>
                      </a:solidFill>
                      <a:prstDash val="solid"/>
                    </a:lnT>
                    <a:lnB w="12700">
                      <a:solidFill>
                        <a:srgbClr val="000000"/>
                      </a:solidFill>
                      <a:prstDash val="solid"/>
                    </a:lnB>
                  </a:tcPr>
                </a:tc>
                <a:tc>
                  <a:txBody>
                    <a:bodyPr/>
                    <a:lstStyle/>
                    <a:p>
                      <a:pPr marL="90170">
                        <a:lnSpc>
                          <a:spcPct val="100000"/>
                        </a:lnSpc>
                        <a:spcBef>
                          <a:spcPts val="370"/>
                        </a:spcBef>
                      </a:pPr>
                      <a:r>
                        <a:rPr sz="2800" spc="-5" dirty="0">
                          <a:latin typeface="Arial MT"/>
                          <a:cs typeface="Arial MT"/>
                        </a:rPr>
                        <a:t>Blind</a:t>
                      </a:r>
                      <a:endParaRPr sz="2800">
                        <a:latin typeface="Arial MT"/>
                        <a:cs typeface="Arial MT"/>
                      </a:endParaRPr>
                    </a:p>
                  </a:txBody>
                  <a:tcPr marL="0" marR="0" marT="46990" marB="0">
                    <a:lnL w="12700">
                      <a:solidFill>
                        <a:srgbClr val="000000"/>
                      </a:solidFill>
                      <a:prstDash val="solid"/>
                    </a:lnL>
                    <a:lnR w="28575">
                      <a:solidFill>
                        <a:srgbClr val="000000"/>
                      </a:solidFill>
                      <a:prstDash val="solid"/>
                    </a:lnR>
                    <a:lnT w="28575">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1751330">
                <a:tc>
                  <a:txBody>
                    <a:bodyPr/>
                    <a:lstStyle/>
                    <a:p>
                      <a:pPr marL="90170">
                        <a:lnSpc>
                          <a:spcPct val="100000"/>
                        </a:lnSpc>
                        <a:spcBef>
                          <a:spcPts val="370"/>
                        </a:spcBef>
                      </a:pPr>
                      <a:r>
                        <a:rPr sz="2800" spc="-5" dirty="0">
                          <a:latin typeface="Arial MT"/>
                          <a:cs typeface="Arial MT"/>
                        </a:rPr>
                        <a:t>Hidden</a:t>
                      </a:r>
                      <a:endParaRPr sz="2800">
                        <a:latin typeface="Arial MT"/>
                        <a:cs typeface="Arial MT"/>
                      </a:endParaRPr>
                    </a:p>
                    <a:p>
                      <a:pPr>
                        <a:lnSpc>
                          <a:spcPct val="100000"/>
                        </a:lnSpc>
                      </a:pPr>
                      <a:endParaRPr sz="3100">
                        <a:latin typeface="Times New Roman"/>
                        <a:cs typeface="Times New Roman"/>
                      </a:endParaRPr>
                    </a:p>
                    <a:p>
                      <a:pPr>
                        <a:lnSpc>
                          <a:spcPct val="100000"/>
                        </a:lnSpc>
                        <a:spcBef>
                          <a:spcPts val="35"/>
                        </a:spcBef>
                      </a:pPr>
                      <a:endParaRPr sz="2800">
                        <a:latin typeface="Times New Roman"/>
                        <a:cs typeface="Times New Roman"/>
                      </a:endParaRPr>
                    </a:p>
                    <a:p>
                      <a:pPr marL="3719829" marR="234950" indent="-929640">
                        <a:lnSpc>
                          <a:spcPct val="100000"/>
                        </a:lnSpc>
                      </a:pPr>
                      <a:r>
                        <a:rPr sz="1200" spc="-5" dirty="0">
                          <a:latin typeface="Arial MT"/>
                          <a:cs typeface="Arial MT"/>
                        </a:rPr>
                        <a:t>https://</a:t>
                      </a:r>
                      <a:r>
                        <a:rPr sz="1200" spc="-5" dirty="0">
                          <a:latin typeface="Arial MT"/>
                          <a:cs typeface="Arial MT"/>
                          <a:hlinkClick r:id="rId2"/>
                        </a:rPr>
                        <a:t>www.facebook.com/ialwaysthink </a:t>
                      </a:r>
                      <a:r>
                        <a:rPr sz="1200" spc="-320" dirty="0">
                          <a:latin typeface="Arial MT"/>
                          <a:cs typeface="Arial MT"/>
                        </a:rPr>
                        <a:t> </a:t>
                      </a:r>
                      <a:r>
                        <a:rPr sz="1200" dirty="0">
                          <a:latin typeface="Arial MT"/>
                          <a:cs typeface="Arial MT"/>
                        </a:rPr>
                        <a:t>prettythings</a:t>
                      </a:r>
                      <a:endParaRPr sz="1200">
                        <a:latin typeface="Arial MT"/>
                        <a:cs typeface="Arial MT"/>
                      </a:endParaRPr>
                    </a:p>
                  </a:txBody>
                  <a:tcPr marL="0" marR="0" marT="46990" marB="0">
                    <a:lnL w="28575">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tcPr>
                </a:tc>
                <a:tc>
                  <a:txBody>
                    <a:bodyPr/>
                    <a:lstStyle/>
                    <a:p>
                      <a:pPr marL="90170">
                        <a:lnSpc>
                          <a:spcPct val="100000"/>
                        </a:lnSpc>
                        <a:spcBef>
                          <a:spcPts val="370"/>
                        </a:spcBef>
                      </a:pPr>
                      <a:r>
                        <a:rPr sz="2800" spc="-5" dirty="0">
                          <a:solidFill>
                            <a:srgbClr val="CCFFFF"/>
                          </a:solidFill>
                          <a:latin typeface="Arial MT"/>
                          <a:cs typeface="Arial MT"/>
                        </a:rPr>
                        <a:t>Dark</a:t>
                      </a:r>
                      <a:endParaRPr sz="2800">
                        <a:latin typeface="Arial MT"/>
                        <a:cs typeface="Arial MT"/>
                      </a:endParaRPr>
                    </a:p>
                  </a:txBody>
                  <a:tcPr marL="0" marR="0" marT="46990" marB="0">
                    <a:lnL w="12700">
                      <a:solidFill>
                        <a:srgbClr val="000000"/>
                      </a:solidFill>
                      <a:prstDash val="solid"/>
                    </a:lnL>
                    <a:lnR w="28575">
                      <a:solidFill>
                        <a:srgbClr val="000000"/>
                      </a:solidFill>
                      <a:prstDash val="solid"/>
                    </a:lnR>
                    <a:lnT w="12700">
                      <a:solidFill>
                        <a:srgbClr val="000000"/>
                      </a:solidFill>
                      <a:prstDash val="solid"/>
                    </a:lnT>
                    <a:lnB w="28575">
                      <a:solidFill>
                        <a:srgbClr val="000000"/>
                      </a:solidFill>
                      <a:prstDash val="solid"/>
                    </a:lnB>
                  </a:tcPr>
                </a:tc>
                <a:extLst>
                  <a:ext uri="{0D108BD9-81ED-4DB2-BD59-A6C34878D82A}">
                    <a16:rowId xmlns:a16="http://schemas.microsoft.com/office/drawing/2014/main" val="10001"/>
                  </a:ext>
                </a:extLst>
              </a:tr>
            </a:tbl>
          </a:graphicData>
        </a:graphic>
      </p:graphicFrame>
      <p:grpSp>
        <p:nvGrpSpPr>
          <p:cNvPr id="4" name="object 4"/>
          <p:cNvGrpSpPr/>
          <p:nvPr/>
        </p:nvGrpSpPr>
        <p:grpSpPr>
          <a:xfrm>
            <a:off x="1981200" y="1981200"/>
            <a:ext cx="8077200" cy="4724400"/>
            <a:chOff x="457200" y="1981200"/>
            <a:chExt cx="8077200" cy="4724400"/>
          </a:xfrm>
        </p:grpSpPr>
        <p:sp>
          <p:nvSpPr>
            <p:cNvPr id="5" name="object 5"/>
            <p:cNvSpPr/>
            <p:nvPr/>
          </p:nvSpPr>
          <p:spPr>
            <a:xfrm>
              <a:off x="457200" y="1981200"/>
              <a:ext cx="5683250" cy="2973070"/>
            </a:xfrm>
            <a:custGeom>
              <a:avLst/>
              <a:gdLst/>
              <a:ahLst/>
              <a:cxnLst/>
              <a:rect l="l" t="t" r="r" b="b"/>
              <a:pathLst>
                <a:path w="5683250" h="2973070">
                  <a:moveTo>
                    <a:pt x="5683250" y="0"/>
                  </a:moveTo>
                  <a:lnTo>
                    <a:pt x="0" y="0"/>
                  </a:lnTo>
                  <a:lnTo>
                    <a:pt x="0" y="2973070"/>
                  </a:lnTo>
                  <a:lnTo>
                    <a:pt x="2840990" y="2973070"/>
                  </a:lnTo>
                  <a:lnTo>
                    <a:pt x="5683250" y="2973070"/>
                  </a:lnTo>
                  <a:lnTo>
                    <a:pt x="5683250" y="0"/>
                  </a:lnTo>
                  <a:close/>
                </a:path>
              </a:pathLst>
            </a:custGeom>
            <a:solidFill>
              <a:srgbClr val="009800"/>
            </a:solidFill>
          </p:spPr>
          <p:txBody>
            <a:bodyPr wrap="square" lIns="0" tIns="0" rIns="0" bIns="0" rtlCol="0"/>
            <a:lstStyle/>
            <a:p>
              <a:pPr defTabSz="914400"/>
              <a:endParaRPr>
                <a:solidFill>
                  <a:prstClr val="black"/>
                </a:solidFill>
                <a:latin typeface="Calibri"/>
              </a:endParaRPr>
            </a:p>
          </p:txBody>
        </p:sp>
        <p:sp>
          <p:nvSpPr>
            <p:cNvPr id="6" name="object 6"/>
            <p:cNvSpPr/>
            <p:nvPr/>
          </p:nvSpPr>
          <p:spPr>
            <a:xfrm>
              <a:off x="6140450" y="1981200"/>
              <a:ext cx="2393950" cy="2973070"/>
            </a:xfrm>
            <a:custGeom>
              <a:avLst/>
              <a:gdLst/>
              <a:ahLst/>
              <a:cxnLst/>
              <a:rect l="l" t="t" r="r" b="b"/>
              <a:pathLst>
                <a:path w="2393950" h="2973070">
                  <a:moveTo>
                    <a:pt x="2393950" y="0"/>
                  </a:moveTo>
                  <a:lnTo>
                    <a:pt x="0" y="0"/>
                  </a:lnTo>
                  <a:lnTo>
                    <a:pt x="0" y="2973070"/>
                  </a:lnTo>
                  <a:lnTo>
                    <a:pt x="1197609" y="2973070"/>
                  </a:lnTo>
                  <a:lnTo>
                    <a:pt x="2393950" y="2973070"/>
                  </a:lnTo>
                  <a:lnTo>
                    <a:pt x="2393950" y="0"/>
                  </a:lnTo>
                  <a:close/>
                </a:path>
              </a:pathLst>
            </a:custGeom>
            <a:solidFill>
              <a:srgbClr val="FF6600"/>
            </a:solidFill>
          </p:spPr>
          <p:txBody>
            <a:bodyPr wrap="square" lIns="0" tIns="0" rIns="0" bIns="0" rtlCol="0"/>
            <a:lstStyle/>
            <a:p>
              <a:pPr defTabSz="914400"/>
              <a:endParaRPr>
                <a:solidFill>
                  <a:prstClr val="black"/>
                </a:solidFill>
                <a:latin typeface="Calibri"/>
              </a:endParaRPr>
            </a:p>
          </p:txBody>
        </p:sp>
        <p:sp>
          <p:nvSpPr>
            <p:cNvPr id="7" name="object 7"/>
            <p:cNvSpPr/>
            <p:nvPr/>
          </p:nvSpPr>
          <p:spPr>
            <a:xfrm>
              <a:off x="457200" y="4954270"/>
              <a:ext cx="5683250" cy="1751330"/>
            </a:xfrm>
            <a:custGeom>
              <a:avLst/>
              <a:gdLst/>
              <a:ahLst/>
              <a:cxnLst/>
              <a:rect l="l" t="t" r="r" b="b"/>
              <a:pathLst>
                <a:path w="5683250" h="1751329">
                  <a:moveTo>
                    <a:pt x="5683250" y="0"/>
                  </a:moveTo>
                  <a:lnTo>
                    <a:pt x="0" y="0"/>
                  </a:lnTo>
                  <a:lnTo>
                    <a:pt x="0" y="1751329"/>
                  </a:lnTo>
                  <a:lnTo>
                    <a:pt x="2840990" y="1751329"/>
                  </a:lnTo>
                  <a:lnTo>
                    <a:pt x="5683250" y="1751329"/>
                  </a:lnTo>
                  <a:lnTo>
                    <a:pt x="5683250" y="0"/>
                  </a:lnTo>
                  <a:close/>
                </a:path>
              </a:pathLst>
            </a:custGeom>
            <a:solidFill>
              <a:srgbClr val="0066FF"/>
            </a:solidFill>
          </p:spPr>
          <p:txBody>
            <a:bodyPr wrap="square" lIns="0" tIns="0" rIns="0" bIns="0" rtlCol="0"/>
            <a:lstStyle/>
            <a:p>
              <a:pPr defTabSz="914400"/>
              <a:endParaRPr>
                <a:solidFill>
                  <a:prstClr val="black"/>
                </a:solidFill>
                <a:latin typeface="Calibri"/>
              </a:endParaRPr>
            </a:p>
          </p:txBody>
        </p:sp>
        <p:sp>
          <p:nvSpPr>
            <p:cNvPr id="8" name="object 8"/>
            <p:cNvSpPr/>
            <p:nvPr/>
          </p:nvSpPr>
          <p:spPr>
            <a:xfrm>
              <a:off x="6140450" y="4954270"/>
              <a:ext cx="2393950" cy="1751330"/>
            </a:xfrm>
            <a:custGeom>
              <a:avLst/>
              <a:gdLst/>
              <a:ahLst/>
              <a:cxnLst/>
              <a:rect l="l" t="t" r="r" b="b"/>
              <a:pathLst>
                <a:path w="2393950" h="1751329">
                  <a:moveTo>
                    <a:pt x="2393950" y="0"/>
                  </a:moveTo>
                  <a:lnTo>
                    <a:pt x="0" y="0"/>
                  </a:lnTo>
                  <a:lnTo>
                    <a:pt x="0" y="1751329"/>
                  </a:lnTo>
                  <a:lnTo>
                    <a:pt x="1197609" y="1751329"/>
                  </a:lnTo>
                  <a:lnTo>
                    <a:pt x="2393950" y="1751329"/>
                  </a:lnTo>
                  <a:lnTo>
                    <a:pt x="2393950" y="0"/>
                  </a:lnTo>
                  <a:close/>
                </a:path>
              </a:pathLst>
            </a:custGeom>
            <a:solidFill>
              <a:srgbClr val="000000"/>
            </a:solidFill>
          </p:spPr>
          <p:txBody>
            <a:bodyPr wrap="square" lIns="0" tIns="0" rIns="0" bIns="0" rtlCol="0"/>
            <a:lstStyle/>
            <a:p>
              <a:pPr defTabSz="914400"/>
              <a:endParaRPr>
                <a:solidFill>
                  <a:prstClr val="black"/>
                </a:solidFill>
                <a:latin typeface="Calibri"/>
              </a:endParaRPr>
            </a:p>
          </p:txBody>
        </p:sp>
      </p:gr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59940" y="795020"/>
            <a:ext cx="7799070" cy="695960"/>
          </a:xfrm>
          <a:prstGeom prst="rect">
            <a:avLst/>
          </a:prstGeom>
        </p:spPr>
        <p:txBody>
          <a:bodyPr vert="horz" wrap="square" lIns="0" tIns="12700" rIns="0" bIns="0" rtlCol="0">
            <a:spAutoFit/>
          </a:bodyPr>
          <a:lstStyle/>
          <a:p>
            <a:pPr marL="12700">
              <a:spcBef>
                <a:spcPts val="100"/>
              </a:spcBef>
              <a:tabLst>
                <a:tab pos="1286510" algn="l"/>
                <a:tab pos="3526790" algn="l"/>
              </a:tabLst>
            </a:pPr>
            <a:r>
              <a:rPr sz="4400" dirty="0"/>
              <a:t>How	to widen	</a:t>
            </a:r>
            <a:r>
              <a:rPr sz="4400" spc="-5" dirty="0"/>
              <a:t>the</a:t>
            </a:r>
            <a:r>
              <a:rPr sz="4400" spc="-20" dirty="0"/>
              <a:t> </a:t>
            </a:r>
            <a:r>
              <a:rPr sz="4400" spc="-5" dirty="0"/>
              <a:t>OPEN</a:t>
            </a:r>
            <a:r>
              <a:rPr sz="4400" spc="-25" dirty="0"/>
              <a:t> </a:t>
            </a:r>
            <a:r>
              <a:rPr sz="4400" spc="-5" dirty="0"/>
              <a:t>corner</a:t>
            </a:r>
            <a:endParaRPr sz="4400"/>
          </a:p>
        </p:txBody>
      </p:sp>
      <p:graphicFrame>
        <p:nvGraphicFramePr>
          <p:cNvPr id="3" name="object 3"/>
          <p:cNvGraphicFramePr>
            <a:graphicFrameLocks noGrp="1"/>
          </p:cNvGraphicFramePr>
          <p:nvPr/>
        </p:nvGraphicFramePr>
        <p:xfrm>
          <a:off x="1967003" y="1586003"/>
          <a:ext cx="8229600" cy="5105400"/>
        </p:xfrm>
        <a:graphic>
          <a:graphicData uri="http://schemas.openxmlformats.org/drawingml/2006/table">
            <a:tbl>
              <a:tblPr firstRow="1" bandRow="1">
                <a:tableStyleId>{2D5ABB26-0587-4C30-8999-92F81FD0307C}</a:tableStyleId>
              </a:tblPr>
              <a:tblGrid>
                <a:gridCol w="5791200">
                  <a:extLst>
                    <a:ext uri="{9D8B030D-6E8A-4147-A177-3AD203B41FA5}">
                      <a16:colId xmlns:a16="http://schemas.microsoft.com/office/drawing/2014/main" val="20000"/>
                    </a:ext>
                  </a:extLst>
                </a:gridCol>
                <a:gridCol w="2438400">
                  <a:extLst>
                    <a:ext uri="{9D8B030D-6E8A-4147-A177-3AD203B41FA5}">
                      <a16:colId xmlns:a16="http://schemas.microsoft.com/office/drawing/2014/main" val="20001"/>
                    </a:ext>
                  </a:extLst>
                </a:gridCol>
              </a:tblGrid>
              <a:tr h="3213100">
                <a:tc>
                  <a:txBody>
                    <a:bodyPr/>
                    <a:lstStyle/>
                    <a:p>
                      <a:pPr marL="90170">
                        <a:lnSpc>
                          <a:spcPct val="100000"/>
                        </a:lnSpc>
                        <a:spcBef>
                          <a:spcPts val="370"/>
                        </a:spcBef>
                        <a:tabLst>
                          <a:tab pos="2402205" algn="l"/>
                        </a:tabLst>
                      </a:pPr>
                      <a:r>
                        <a:rPr sz="2800" spc="-5" dirty="0">
                          <a:latin typeface="Arial MT"/>
                          <a:cs typeface="Arial MT"/>
                        </a:rPr>
                        <a:t>Open	</a:t>
                      </a:r>
                      <a:r>
                        <a:rPr sz="1800" spc="-5" dirty="0">
                          <a:latin typeface="Arial MT"/>
                          <a:cs typeface="Arial MT"/>
                        </a:rPr>
                        <a:t>Seeking</a:t>
                      </a:r>
                      <a:r>
                        <a:rPr sz="1800" spc="-30" dirty="0">
                          <a:latin typeface="Arial MT"/>
                          <a:cs typeface="Arial MT"/>
                        </a:rPr>
                        <a:t> </a:t>
                      </a:r>
                      <a:r>
                        <a:rPr sz="1800" spc="-10" dirty="0">
                          <a:latin typeface="Arial MT"/>
                          <a:cs typeface="Arial MT"/>
                        </a:rPr>
                        <a:t>Feedback</a:t>
                      </a:r>
                      <a:endParaRPr sz="1800">
                        <a:latin typeface="Arial MT"/>
                        <a:cs typeface="Arial MT"/>
                      </a:endParaRPr>
                    </a:p>
                    <a:p>
                      <a:pPr>
                        <a:lnSpc>
                          <a:spcPct val="100000"/>
                        </a:lnSpc>
                      </a:pPr>
                      <a:endParaRPr sz="3100">
                        <a:latin typeface="Times New Roman"/>
                        <a:cs typeface="Times New Roman"/>
                      </a:endParaRPr>
                    </a:p>
                    <a:p>
                      <a:pPr>
                        <a:lnSpc>
                          <a:spcPct val="100000"/>
                        </a:lnSpc>
                      </a:pPr>
                      <a:endParaRPr sz="3100">
                        <a:latin typeface="Times New Roman"/>
                        <a:cs typeface="Times New Roman"/>
                      </a:endParaRPr>
                    </a:p>
                    <a:p>
                      <a:pPr>
                        <a:lnSpc>
                          <a:spcPct val="100000"/>
                        </a:lnSpc>
                      </a:pPr>
                      <a:endParaRPr sz="3100">
                        <a:latin typeface="Times New Roman"/>
                        <a:cs typeface="Times New Roman"/>
                      </a:endParaRPr>
                    </a:p>
                    <a:p>
                      <a:pPr>
                        <a:lnSpc>
                          <a:spcPct val="100000"/>
                        </a:lnSpc>
                        <a:spcBef>
                          <a:spcPts val="35"/>
                        </a:spcBef>
                      </a:pPr>
                      <a:endParaRPr sz="2400">
                        <a:latin typeface="Times New Roman"/>
                        <a:cs typeface="Times New Roman"/>
                      </a:endParaRPr>
                    </a:p>
                    <a:p>
                      <a:pPr marL="90170">
                        <a:lnSpc>
                          <a:spcPct val="100000"/>
                        </a:lnSpc>
                      </a:pPr>
                      <a:r>
                        <a:rPr sz="1800" spc="-5" dirty="0">
                          <a:latin typeface="Arial MT"/>
                          <a:cs typeface="Arial MT"/>
                        </a:rPr>
                        <a:t>Self</a:t>
                      </a:r>
                      <a:r>
                        <a:rPr sz="1800" spc="-40" dirty="0">
                          <a:latin typeface="Arial MT"/>
                          <a:cs typeface="Arial MT"/>
                        </a:rPr>
                        <a:t> </a:t>
                      </a:r>
                      <a:r>
                        <a:rPr sz="1800" spc="-5" dirty="0">
                          <a:latin typeface="Arial MT"/>
                          <a:cs typeface="Arial MT"/>
                        </a:rPr>
                        <a:t>Disclosure</a:t>
                      </a:r>
                      <a:endParaRPr sz="1800">
                        <a:latin typeface="Arial MT"/>
                        <a:cs typeface="Arial MT"/>
                      </a:endParaRPr>
                    </a:p>
                    <a:p>
                      <a:pPr>
                        <a:lnSpc>
                          <a:spcPct val="100000"/>
                        </a:lnSpc>
                      </a:pPr>
                      <a:endParaRPr sz="2650">
                        <a:latin typeface="Times New Roman"/>
                        <a:cs typeface="Times New Roman"/>
                      </a:endParaRPr>
                    </a:p>
                    <a:p>
                      <a:pPr marL="3033395">
                        <a:lnSpc>
                          <a:spcPct val="100000"/>
                        </a:lnSpc>
                      </a:pPr>
                      <a:r>
                        <a:rPr sz="1800" spc="-5" dirty="0">
                          <a:latin typeface="Arial MT"/>
                          <a:cs typeface="Arial MT"/>
                        </a:rPr>
                        <a:t>Practice</a:t>
                      </a:r>
                      <a:r>
                        <a:rPr sz="1800" spc="-15" dirty="0">
                          <a:latin typeface="Arial MT"/>
                          <a:cs typeface="Arial MT"/>
                        </a:rPr>
                        <a:t> </a:t>
                      </a:r>
                      <a:r>
                        <a:rPr sz="1800" spc="-5" dirty="0">
                          <a:latin typeface="Arial MT"/>
                          <a:cs typeface="Arial MT"/>
                        </a:rPr>
                        <a:t>New</a:t>
                      </a:r>
                      <a:r>
                        <a:rPr sz="1800" spc="-15" dirty="0">
                          <a:latin typeface="Arial MT"/>
                          <a:cs typeface="Arial MT"/>
                        </a:rPr>
                        <a:t> </a:t>
                      </a:r>
                      <a:r>
                        <a:rPr sz="1800" spc="-10" dirty="0">
                          <a:latin typeface="Arial MT"/>
                          <a:cs typeface="Arial MT"/>
                        </a:rPr>
                        <a:t>Behaviours</a:t>
                      </a:r>
                      <a:endParaRPr sz="1800">
                        <a:latin typeface="Arial MT"/>
                        <a:cs typeface="Arial MT"/>
                      </a:endParaRPr>
                    </a:p>
                  </a:txBody>
                  <a:tcPr marL="0" marR="0" marT="46990" marB="0">
                    <a:lnL w="28575">
                      <a:solidFill>
                        <a:srgbClr val="000000"/>
                      </a:solidFill>
                      <a:prstDash val="solid"/>
                    </a:lnL>
                    <a:lnR w="12700">
                      <a:solidFill>
                        <a:srgbClr val="000000"/>
                      </a:solidFill>
                      <a:prstDash val="solid"/>
                    </a:lnR>
                    <a:lnT w="28575">
                      <a:solidFill>
                        <a:srgbClr val="000000"/>
                      </a:solidFill>
                      <a:prstDash val="solid"/>
                    </a:lnT>
                    <a:lnB w="12700">
                      <a:solidFill>
                        <a:srgbClr val="000000"/>
                      </a:solidFill>
                      <a:prstDash val="solid"/>
                    </a:lnB>
                  </a:tcPr>
                </a:tc>
                <a:tc>
                  <a:txBody>
                    <a:bodyPr/>
                    <a:lstStyle/>
                    <a:p>
                      <a:pPr marL="90170">
                        <a:lnSpc>
                          <a:spcPct val="100000"/>
                        </a:lnSpc>
                        <a:spcBef>
                          <a:spcPts val="370"/>
                        </a:spcBef>
                      </a:pPr>
                      <a:r>
                        <a:rPr sz="2800" spc="-5" dirty="0">
                          <a:latin typeface="Arial MT"/>
                          <a:cs typeface="Arial MT"/>
                        </a:rPr>
                        <a:t>Blind</a:t>
                      </a:r>
                      <a:endParaRPr sz="2800">
                        <a:latin typeface="Arial MT"/>
                        <a:cs typeface="Arial MT"/>
                      </a:endParaRPr>
                    </a:p>
                  </a:txBody>
                  <a:tcPr marL="0" marR="0" marT="46990" marB="0">
                    <a:lnL w="12700">
                      <a:solidFill>
                        <a:srgbClr val="000000"/>
                      </a:solidFill>
                      <a:prstDash val="solid"/>
                    </a:lnL>
                    <a:lnR w="28575">
                      <a:solidFill>
                        <a:srgbClr val="000000"/>
                      </a:solidFill>
                      <a:prstDash val="solid"/>
                    </a:lnR>
                    <a:lnT w="28575">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1892300">
                <a:tc>
                  <a:txBody>
                    <a:bodyPr/>
                    <a:lstStyle/>
                    <a:p>
                      <a:pPr marL="90170">
                        <a:lnSpc>
                          <a:spcPct val="100000"/>
                        </a:lnSpc>
                        <a:spcBef>
                          <a:spcPts val="360"/>
                        </a:spcBef>
                      </a:pPr>
                      <a:r>
                        <a:rPr sz="2800" spc="-5" dirty="0">
                          <a:latin typeface="Arial MT"/>
                          <a:cs typeface="Arial MT"/>
                        </a:rPr>
                        <a:t>Hidden</a:t>
                      </a:r>
                      <a:endParaRPr sz="2800">
                        <a:latin typeface="Arial MT"/>
                        <a:cs typeface="Arial MT"/>
                      </a:endParaRPr>
                    </a:p>
                    <a:p>
                      <a:pPr>
                        <a:lnSpc>
                          <a:spcPct val="100000"/>
                        </a:lnSpc>
                      </a:pPr>
                      <a:endParaRPr sz="3100">
                        <a:latin typeface="Times New Roman"/>
                        <a:cs typeface="Times New Roman"/>
                      </a:endParaRPr>
                    </a:p>
                    <a:p>
                      <a:pPr>
                        <a:lnSpc>
                          <a:spcPct val="100000"/>
                        </a:lnSpc>
                        <a:spcBef>
                          <a:spcPts val="5"/>
                        </a:spcBef>
                      </a:pPr>
                      <a:endParaRPr sz="3800">
                        <a:latin typeface="Times New Roman"/>
                        <a:cs typeface="Times New Roman"/>
                      </a:endParaRPr>
                    </a:p>
                    <a:p>
                      <a:pPr marL="3719829" marR="342900" indent="-929640">
                        <a:lnSpc>
                          <a:spcPct val="100000"/>
                        </a:lnSpc>
                      </a:pPr>
                      <a:r>
                        <a:rPr sz="1200" spc="-5" dirty="0">
                          <a:latin typeface="Arial MT"/>
                          <a:cs typeface="Arial MT"/>
                        </a:rPr>
                        <a:t>https://</a:t>
                      </a:r>
                      <a:r>
                        <a:rPr sz="1200" spc="-5" dirty="0">
                          <a:latin typeface="Arial MT"/>
                          <a:cs typeface="Arial MT"/>
                          <a:hlinkClick r:id="rId2"/>
                        </a:rPr>
                        <a:t>www.facebook.com/ialwaysthink </a:t>
                      </a:r>
                      <a:r>
                        <a:rPr sz="1200" spc="-320" dirty="0">
                          <a:latin typeface="Arial MT"/>
                          <a:cs typeface="Arial MT"/>
                        </a:rPr>
                        <a:t> </a:t>
                      </a:r>
                      <a:r>
                        <a:rPr sz="1200" dirty="0">
                          <a:latin typeface="Arial MT"/>
                          <a:cs typeface="Arial MT"/>
                        </a:rPr>
                        <a:t>prettythings</a:t>
                      </a:r>
                      <a:endParaRPr sz="1200">
                        <a:latin typeface="Arial MT"/>
                        <a:cs typeface="Arial MT"/>
                      </a:endParaRPr>
                    </a:p>
                  </a:txBody>
                  <a:tcPr marL="0" marR="0" marB="0">
                    <a:lnL w="28575">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tcPr>
                </a:tc>
                <a:tc>
                  <a:txBody>
                    <a:bodyPr/>
                    <a:lstStyle/>
                    <a:p>
                      <a:pPr marL="90170">
                        <a:lnSpc>
                          <a:spcPct val="100000"/>
                        </a:lnSpc>
                        <a:spcBef>
                          <a:spcPts val="360"/>
                        </a:spcBef>
                      </a:pPr>
                      <a:r>
                        <a:rPr sz="2800" spc="-5" dirty="0">
                          <a:solidFill>
                            <a:srgbClr val="9898FF"/>
                          </a:solidFill>
                          <a:latin typeface="Arial MT"/>
                          <a:cs typeface="Arial MT"/>
                        </a:rPr>
                        <a:t>Dark</a:t>
                      </a:r>
                      <a:endParaRPr sz="2800">
                        <a:latin typeface="Arial MT"/>
                        <a:cs typeface="Arial MT"/>
                      </a:endParaRPr>
                    </a:p>
                  </a:txBody>
                  <a:tcPr marL="0" marR="0" marB="0">
                    <a:lnL w="12700">
                      <a:solidFill>
                        <a:srgbClr val="000000"/>
                      </a:solidFill>
                      <a:prstDash val="solid"/>
                    </a:lnL>
                    <a:lnR w="28575">
                      <a:solidFill>
                        <a:srgbClr val="000000"/>
                      </a:solidFill>
                      <a:prstDash val="solid"/>
                    </a:lnR>
                    <a:lnT w="12700">
                      <a:solidFill>
                        <a:srgbClr val="000000"/>
                      </a:solidFill>
                      <a:prstDash val="solid"/>
                    </a:lnT>
                    <a:lnB w="28575">
                      <a:solidFill>
                        <a:srgbClr val="000000"/>
                      </a:solidFill>
                      <a:prstDash val="solid"/>
                    </a:lnB>
                  </a:tcPr>
                </a:tc>
                <a:extLst>
                  <a:ext uri="{0D108BD9-81ED-4DB2-BD59-A6C34878D82A}">
                    <a16:rowId xmlns:a16="http://schemas.microsoft.com/office/drawing/2014/main" val="10001"/>
                  </a:ext>
                </a:extLst>
              </a:tr>
            </a:tbl>
          </a:graphicData>
        </a:graphic>
      </p:graphicFrame>
      <p:grpSp>
        <p:nvGrpSpPr>
          <p:cNvPr id="4" name="object 4"/>
          <p:cNvGrpSpPr/>
          <p:nvPr/>
        </p:nvGrpSpPr>
        <p:grpSpPr>
          <a:xfrm>
            <a:off x="1981200" y="1600200"/>
            <a:ext cx="8229600" cy="5105400"/>
            <a:chOff x="457200" y="1600200"/>
            <a:chExt cx="8229600" cy="5105400"/>
          </a:xfrm>
        </p:grpSpPr>
        <p:sp>
          <p:nvSpPr>
            <p:cNvPr id="5" name="object 5"/>
            <p:cNvSpPr/>
            <p:nvPr/>
          </p:nvSpPr>
          <p:spPr>
            <a:xfrm>
              <a:off x="457200" y="1600200"/>
              <a:ext cx="5791200" cy="3213100"/>
            </a:xfrm>
            <a:custGeom>
              <a:avLst/>
              <a:gdLst/>
              <a:ahLst/>
              <a:cxnLst/>
              <a:rect l="l" t="t" r="r" b="b"/>
              <a:pathLst>
                <a:path w="5791200" h="3213100">
                  <a:moveTo>
                    <a:pt x="5791200" y="0"/>
                  </a:moveTo>
                  <a:lnTo>
                    <a:pt x="0" y="0"/>
                  </a:lnTo>
                  <a:lnTo>
                    <a:pt x="0" y="3213100"/>
                  </a:lnTo>
                  <a:lnTo>
                    <a:pt x="2895600" y="3213100"/>
                  </a:lnTo>
                  <a:lnTo>
                    <a:pt x="5791200" y="3213100"/>
                  </a:lnTo>
                  <a:lnTo>
                    <a:pt x="5791200" y="0"/>
                  </a:lnTo>
                  <a:close/>
                </a:path>
              </a:pathLst>
            </a:custGeom>
            <a:solidFill>
              <a:srgbClr val="009800"/>
            </a:solidFill>
          </p:spPr>
          <p:txBody>
            <a:bodyPr wrap="square" lIns="0" tIns="0" rIns="0" bIns="0" rtlCol="0"/>
            <a:lstStyle/>
            <a:p>
              <a:pPr defTabSz="914400"/>
              <a:endParaRPr>
                <a:solidFill>
                  <a:prstClr val="black"/>
                </a:solidFill>
                <a:latin typeface="Calibri"/>
              </a:endParaRPr>
            </a:p>
          </p:txBody>
        </p:sp>
        <p:sp>
          <p:nvSpPr>
            <p:cNvPr id="6" name="object 6"/>
            <p:cNvSpPr/>
            <p:nvPr/>
          </p:nvSpPr>
          <p:spPr>
            <a:xfrm>
              <a:off x="6248400" y="1600200"/>
              <a:ext cx="2438400" cy="3213100"/>
            </a:xfrm>
            <a:custGeom>
              <a:avLst/>
              <a:gdLst/>
              <a:ahLst/>
              <a:cxnLst/>
              <a:rect l="l" t="t" r="r" b="b"/>
              <a:pathLst>
                <a:path w="2438400" h="3213100">
                  <a:moveTo>
                    <a:pt x="2438400" y="0"/>
                  </a:moveTo>
                  <a:lnTo>
                    <a:pt x="0" y="0"/>
                  </a:lnTo>
                  <a:lnTo>
                    <a:pt x="0" y="3213100"/>
                  </a:lnTo>
                  <a:lnTo>
                    <a:pt x="1219200" y="3213100"/>
                  </a:lnTo>
                  <a:lnTo>
                    <a:pt x="2438400" y="3213100"/>
                  </a:lnTo>
                  <a:lnTo>
                    <a:pt x="2438400" y="0"/>
                  </a:lnTo>
                  <a:close/>
                </a:path>
              </a:pathLst>
            </a:custGeom>
            <a:solidFill>
              <a:srgbClr val="FF6600"/>
            </a:solidFill>
          </p:spPr>
          <p:txBody>
            <a:bodyPr wrap="square" lIns="0" tIns="0" rIns="0" bIns="0" rtlCol="0"/>
            <a:lstStyle/>
            <a:p>
              <a:pPr defTabSz="914400"/>
              <a:endParaRPr>
                <a:solidFill>
                  <a:prstClr val="black"/>
                </a:solidFill>
                <a:latin typeface="Calibri"/>
              </a:endParaRPr>
            </a:p>
          </p:txBody>
        </p:sp>
        <p:sp>
          <p:nvSpPr>
            <p:cNvPr id="7" name="object 7"/>
            <p:cNvSpPr/>
            <p:nvPr/>
          </p:nvSpPr>
          <p:spPr>
            <a:xfrm>
              <a:off x="457200" y="4813300"/>
              <a:ext cx="5791200" cy="1892300"/>
            </a:xfrm>
            <a:custGeom>
              <a:avLst/>
              <a:gdLst/>
              <a:ahLst/>
              <a:cxnLst/>
              <a:rect l="l" t="t" r="r" b="b"/>
              <a:pathLst>
                <a:path w="5791200" h="1892300">
                  <a:moveTo>
                    <a:pt x="5791200" y="0"/>
                  </a:moveTo>
                  <a:lnTo>
                    <a:pt x="0" y="0"/>
                  </a:lnTo>
                  <a:lnTo>
                    <a:pt x="0" y="1892300"/>
                  </a:lnTo>
                  <a:lnTo>
                    <a:pt x="2895600" y="1892300"/>
                  </a:lnTo>
                  <a:lnTo>
                    <a:pt x="5791200" y="1892300"/>
                  </a:lnTo>
                  <a:lnTo>
                    <a:pt x="5791200" y="0"/>
                  </a:lnTo>
                  <a:close/>
                </a:path>
              </a:pathLst>
            </a:custGeom>
            <a:solidFill>
              <a:srgbClr val="0066FF"/>
            </a:solidFill>
          </p:spPr>
          <p:txBody>
            <a:bodyPr wrap="square" lIns="0" tIns="0" rIns="0" bIns="0" rtlCol="0"/>
            <a:lstStyle/>
            <a:p>
              <a:pPr defTabSz="914400"/>
              <a:endParaRPr>
                <a:solidFill>
                  <a:prstClr val="black"/>
                </a:solidFill>
                <a:latin typeface="Calibri"/>
              </a:endParaRPr>
            </a:p>
          </p:txBody>
        </p:sp>
        <p:sp>
          <p:nvSpPr>
            <p:cNvPr id="8" name="object 8"/>
            <p:cNvSpPr/>
            <p:nvPr/>
          </p:nvSpPr>
          <p:spPr>
            <a:xfrm>
              <a:off x="800100" y="1866899"/>
              <a:ext cx="7886700" cy="4838700"/>
            </a:xfrm>
            <a:custGeom>
              <a:avLst/>
              <a:gdLst/>
              <a:ahLst/>
              <a:cxnLst/>
              <a:rect l="l" t="t" r="r" b="b"/>
              <a:pathLst>
                <a:path w="7886700" h="4838700">
                  <a:moveTo>
                    <a:pt x="76200" y="1714500"/>
                  </a:moveTo>
                  <a:lnTo>
                    <a:pt x="43180" y="1714500"/>
                  </a:lnTo>
                  <a:lnTo>
                    <a:pt x="43180" y="266700"/>
                  </a:lnTo>
                  <a:lnTo>
                    <a:pt x="33020" y="266700"/>
                  </a:lnTo>
                  <a:lnTo>
                    <a:pt x="33020" y="1714500"/>
                  </a:lnTo>
                  <a:lnTo>
                    <a:pt x="0" y="1714500"/>
                  </a:lnTo>
                  <a:lnTo>
                    <a:pt x="38100" y="1790700"/>
                  </a:lnTo>
                  <a:lnTo>
                    <a:pt x="76200" y="1714500"/>
                  </a:lnTo>
                  <a:close/>
                </a:path>
                <a:path w="7886700" h="4838700">
                  <a:moveTo>
                    <a:pt x="1943100" y="38100"/>
                  </a:moveTo>
                  <a:lnTo>
                    <a:pt x="1866900" y="0"/>
                  </a:lnTo>
                  <a:lnTo>
                    <a:pt x="1866900" y="33020"/>
                  </a:lnTo>
                  <a:lnTo>
                    <a:pt x="723900" y="33020"/>
                  </a:lnTo>
                  <a:lnTo>
                    <a:pt x="723900" y="43180"/>
                  </a:lnTo>
                  <a:lnTo>
                    <a:pt x="1866900" y="43180"/>
                  </a:lnTo>
                  <a:lnTo>
                    <a:pt x="1866900" y="76200"/>
                  </a:lnTo>
                  <a:lnTo>
                    <a:pt x="1943100" y="38100"/>
                  </a:lnTo>
                  <a:close/>
                </a:path>
                <a:path w="7886700" h="4838700">
                  <a:moveTo>
                    <a:pt x="4838700" y="2552700"/>
                  </a:moveTo>
                  <a:lnTo>
                    <a:pt x="4789170" y="2484120"/>
                  </a:lnTo>
                  <a:lnTo>
                    <a:pt x="4774006" y="2512263"/>
                  </a:lnTo>
                  <a:lnTo>
                    <a:pt x="421640" y="186690"/>
                  </a:lnTo>
                  <a:lnTo>
                    <a:pt x="416560" y="194310"/>
                  </a:lnTo>
                  <a:lnTo>
                    <a:pt x="4769155" y="2521280"/>
                  </a:lnTo>
                  <a:lnTo>
                    <a:pt x="4753610" y="2550160"/>
                  </a:lnTo>
                  <a:lnTo>
                    <a:pt x="4838700" y="2552700"/>
                  </a:lnTo>
                  <a:close/>
                </a:path>
                <a:path w="7886700" h="4838700">
                  <a:moveTo>
                    <a:pt x="7886700" y="2946400"/>
                  </a:moveTo>
                  <a:lnTo>
                    <a:pt x="5448300" y="2946400"/>
                  </a:lnTo>
                  <a:lnTo>
                    <a:pt x="5448300" y="4838700"/>
                  </a:lnTo>
                  <a:lnTo>
                    <a:pt x="6667500" y="4838700"/>
                  </a:lnTo>
                  <a:lnTo>
                    <a:pt x="7886700" y="4838700"/>
                  </a:lnTo>
                  <a:lnTo>
                    <a:pt x="7886700" y="2946400"/>
                  </a:lnTo>
                  <a:close/>
                </a:path>
              </a:pathLst>
            </a:custGeom>
            <a:solidFill>
              <a:srgbClr val="000000"/>
            </a:solidFill>
          </p:spPr>
          <p:txBody>
            <a:bodyPr wrap="square" lIns="0" tIns="0" rIns="0" bIns="0" rtlCol="0"/>
            <a:lstStyle/>
            <a:p>
              <a:pPr defTabSz="914400"/>
              <a:endParaRPr>
                <a:solidFill>
                  <a:prstClr val="black"/>
                </a:solidFill>
                <a:latin typeface="Calibri"/>
              </a:endParaRPr>
            </a:p>
          </p:txBody>
        </p:sp>
      </p:gr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7A3AAF-B232-3EA9-2948-42637AD039A2}"/>
              </a:ext>
            </a:extLst>
          </p:cNvPr>
          <p:cNvSpPr>
            <a:spLocks noGrp="1"/>
          </p:cNvSpPr>
          <p:nvPr>
            <p:ph type="title"/>
          </p:nvPr>
        </p:nvSpPr>
        <p:spPr/>
        <p:txBody>
          <a:bodyPr/>
          <a:lstStyle/>
          <a:p>
            <a:r>
              <a:rPr lang="en-US" b="1" dirty="0"/>
              <a:t>The Four Quadrants of Johari Window with Examples:</a:t>
            </a:r>
            <a:endParaRPr lang="en-IN" b="1" dirty="0"/>
          </a:p>
        </p:txBody>
      </p:sp>
      <p:sp>
        <p:nvSpPr>
          <p:cNvPr id="3" name="Content Placeholder 2">
            <a:extLst>
              <a:ext uri="{FF2B5EF4-FFF2-40B4-BE49-F238E27FC236}">
                <a16:creationId xmlns:a16="http://schemas.microsoft.com/office/drawing/2014/main" id="{FCD6DBCF-E578-0FD7-4813-AFDAA0B195A2}"/>
              </a:ext>
            </a:extLst>
          </p:cNvPr>
          <p:cNvSpPr>
            <a:spLocks noGrp="1"/>
          </p:cNvSpPr>
          <p:nvPr>
            <p:ph idx="1"/>
          </p:nvPr>
        </p:nvSpPr>
        <p:spPr>
          <a:xfrm>
            <a:off x="370115" y="2015732"/>
            <a:ext cx="11310256" cy="3450613"/>
          </a:xfrm>
        </p:spPr>
        <p:txBody>
          <a:bodyPr>
            <a:normAutofit fontScale="92500" lnSpcReduction="10000"/>
          </a:bodyPr>
          <a:lstStyle/>
          <a:p>
            <a:pPr marL="0" indent="0">
              <a:buNone/>
            </a:pPr>
            <a:r>
              <a:rPr lang="en-US" sz="2400" b="1" dirty="0"/>
              <a:t>1. Open Area (Known to Self &amp; Others)</a:t>
            </a:r>
          </a:p>
          <a:p>
            <a:pPr marL="0" indent="0">
              <a:buNone/>
            </a:pPr>
            <a:r>
              <a:rPr lang="en-US" sz="2400" dirty="0"/>
              <a:t>Qualities known by both you and others.</a:t>
            </a:r>
          </a:p>
          <a:p>
            <a:pPr marL="0" indent="0">
              <a:buNone/>
            </a:pPr>
            <a:r>
              <a:rPr lang="en-US" sz="2400" dirty="0"/>
              <a:t>Example: Everyone knows you are good at public speaking because you’ve led presentations confidently.</a:t>
            </a:r>
          </a:p>
          <a:p>
            <a:pPr marL="0" indent="0">
              <a:buNone/>
            </a:pPr>
            <a:r>
              <a:rPr lang="en-US" sz="2400" b="1" dirty="0"/>
              <a:t>2. Blind Area (Unknown to Self, Known to Others)</a:t>
            </a:r>
          </a:p>
          <a:p>
            <a:pPr marL="0" indent="0">
              <a:buNone/>
            </a:pPr>
            <a:r>
              <a:rPr lang="en-US" sz="2400" dirty="0"/>
              <a:t>Traits that others see but you don’t. </a:t>
            </a:r>
          </a:p>
          <a:p>
            <a:pPr marL="0" indent="0">
              <a:buNone/>
            </a:pPr>
            <a:r>
              <a:rPr lang="en-US" sz="2400" dirty="0"/>
              <a:t>Example: You keep interrupting during discussions, but you are unaware until friends point it out.</a:t>
            </a:r>
            <a:endParaRPr lang="en-IN" sz="2400" dirty="0"/>
          </a:p>
        </p:txBody>
      </p:sp>
    </p:spTree>
    <p:extLst>
      <p:ext uri="{BB962C8B-B14F-4D97-AF65-F5344CB8AC3E}">
        <p14:creationId xmlns:p14="http://schemas.microsoft.com/office/powerpoint/2010/main" val="297044468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29469F-0725-CC3C-76A8-75D626F7DB6A}"/>
              </a:ext>
            </a:extLst>
          </p:cNvPr>
          <p:cNvSpPr>
            <a:spLocks noGrp="1"/>
          </p:cNvSpPr>
          <p:nvPr>
            <p:ph type="title"/>
          </p:nvPr>
        </p:nvSpPr>
        <p:spPr/>
        <p:txBody>
          <a:bodyPr/>
          <a:lstStyle/>
          <a:p>
            <a:endParaRPr lang="en-IN"/>
          </a:p>
        </p:txBody>
      </p:sp>
      <p:sp>
        <p:nvSpPr>
          <p:cNvPr id="8" name="TextBox 7">
            <a:extLst>
              <a:ext uri="{FF2B5EF4-FFF2-40B4-BE49-F238E27FC236}">
                <a16:creationId xmlns:a16="http://schemas.microsoft.com/office/drawing/2014/main" id="{5BA20D0F-A82C-8149-727F-928818CD82E1}"/>
              </a:ext>
            </a:extLst>
          </p:cNvPr>
          <p:cNvSpPr txBox="1"/>
          <p:nvPr/>
        </p:nvSpPr>
        <p:spPr>
          <a:xfrm>
            <a:off x="228600" y="1853754"/>
            <a:ext cx="11571514" cy="3539430"/>
          </a:xfrm>
          <a:prstGeom prst="rect">
            <a:avLst/>
          </a:prstGeom>
          <a:noFill/>
        </p:spPr>
        <p:txBody>
          <a:bodyPr wrap="square">
            <a:spAutoFit/>
          </a:bodyPr>
          <a:lstStyle/>
          <a:p>
            <a:pPr algn="just"/>
            <a:r>
              <a:rPr lang="en-US" sz="2800" b="1" dirty="0"/>
              <a:t>3. Hidden Area (Known to Self, Unknown to Others)</a:t>
            </a:r>
            <a:r>
              <a:rPr lang="en-US" sz="2800" dirty="0"/>
              <a:t>Things you know about yourself but hide from others.</a:t>
            </a:r>
          </a:p>
          <a:p>
            <a:pPr algn="just"/>
            <a:r>
              <a:rPr lang="en-US" sz="2800" dirty="0"/>
              <a:t>Example: You have stage fright, but you never share this with your classmates.</a:t>
            </a:r>
          </a:p>
          <a:p>
            <a:pPr algn="just"/>
            <a:endParaRPr lang="en-US" sz="2800" dirty="0"/>
          </a:p>
          <a:p>
            <a:pPr algn="just"/>
            <a:r>
              <a:rPr lang="en-US" sz="2800" b="1" dirty="0"/>
              <a:t>4. Unknown Area (Unknown to Self &amp; Others) </a:t>
            </a:r>
            <a:r>
              <a:rPr lang="en-US" sz="2800" dirty="0"/>
              <a:t>Qualities or abilities that neither you nor others are aware of—discovered through new experiences.</a:t>
            </a:r>
          </a:p>
          <a:p>
            <a:pPr algn="just"/>
            <a:r>
              <a:rPr lang="en-US" sz="2800" dirty="0"/>
              <a:t>Example: You might be a great leader, but this is revealed only when you take charge in a new project.</a:t>
            </a:r>
            <a:endParaRPr lang="en-IN" sz="2800" dirty="0"/>
          </a:p>
        </p:txBody>
      </p:sp>
    </p:spTree>
    <p:extLst>
      <p:ext uri="{BB962C8B-B14F-4D97-AF65-F5344CB8AC3E}">
        <p14:creationId xmlns:p14="http://schemas.microsoft.com/office/powerpoint/2010/main" val="365827732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88932A-D147-B8E7-AF0C-96A7C7AD1469}"/>
              </a:ext>
            </a:extLst>
          </p:cNvPr>
          <p:cNvSpPr>
            <a:spLocks noGrp="1"/>
          </p:cNvSpPr>
          <p:nvPr>
            <p:ph type="title"/>
          </p:nvPr>
        </p:nvSpPr>
        <p:spPr>
          <a:xfrm>
            <a:off x="1294362" y="1044004"/>
            <a:ext cx="9603275" cy="1049235"/>
          </a:xfrm>
        </p:spPr>
        <p:txBody>
          <a:bodyPr>
            <a:normAutofit fontScale="90000"/>
          </a:bodyPr>
          <a:lstStyle/>
          <a:p>
            <a:r>
              <a:rPr lang="en-US" b="1" dirty="0"/>
              <a:t>How to Use Johari Window for Growth:</a:t>
            </a:r>
            <a:br>
              <a:rPr lang="en-US" b="1" dirty="0"/>
            </a:br>
            <a:endParaRPr lang="en-IN" dirty="0"/>
          </a:p>
        </p:txBody>
      </p:sp>
      <p:sp>
        <p:nvSpPr>
          <p:cNvPr id="3" name="Content Placeholder 2">
            <a:extLst>
              <a:ext uri="{FF2B5EF4-FFF2-40B4-BE49-F238E27FC236}">
                <a16:creationId xmlns:a16="http://schemas.microsoft.com/office/drawing/2014/main" id="{9A7B067C-E74A-5BC7-CC83-CD6C739790C5}"/>
              </a:ext>
            </a:extLst>
          </p:cNvPr>
          <p:cNvSpPr>
            <a:spLocks noGrp="1"/>
          </p:cNvSpPr>
          <p:nvPr>
            <p:ph idx="1"/>
          </p:nvPr>
        </p:nvSpPr>
        <p:spPr>
          <a:xfrm>
            <a:off x="685801" y="2015732"/>
            <a:ext cx="10863942" cy="3450613"/>
          </a:xfrm>
        </p:spPr>
        <p:txBody>
          <a:bodyPr>
            <a:normAutofit fontScale="92500"/>
          </a:bodyPr>
          <a:lstStyle/>
          <a:p>
            <a:r>
              <a:rPr lang="en-US" sz="2800" b="1" dirty="0"/>
              <a:t>Seek Feedback:</a:t>
            </a:r>
            <a:r>
              <a:rPr lang="en-US" sz="2800" dirty="0"/>
              <a:t> Ask friends/teachers for feedback → reduces blind spots.</a:t>
            </a:r>
          </a:p>
          <a:p>
            <a:r>
              <a:rPr lang="en-US" sz="2800" b="1" dirty="0"/>
              <a:t>Self-Disclosure:</a:t>
            </a:r>
            <a:r>
              <a:rPr lang="en-US" sz="2800" dirty="0"/>
              <a:t> Share thoughts/feelings with others → reduces hidden area.</a:t>
            </a:r>
          </a:p>
          <a:p>
            <a:r>
              <a:rPr lang="en-US" sz="2800" b="1" dirty="0"/>
              <a:t>Experiment &amp; Explore:</a:t>
            </a:r>
            <a:r>
              <a:rPr lang="en-US" sz="2800" dirty="0"/>
              <a:t> Try new roles/activities → reduces unknown area.</a:t>
            </a:r>
          </a:p>
          <a:p>
            <a:r>
              <a:rPr lang="en-US" sz="2800" b="1" dirty="0"/>
              <a:t>Collaboration:</a:t>
            </a:r>
            <a:r>
              <a:rPr lang="en-US" sz="2800" dirty="0"/>
              <a:t> Teamwork expands the open area and builds trust.</a:t>
            </a:r>
          </a:p>
          <a:p>
            <a:endParaRPr lang="en-IN" dirty="0"/>
          </a:p>
        </p:txBody>
      </p:sp>
    </p:spTree>
    <p:extLst>
      <p:ext uri="{BB962C8B-B14F-4D97-AF65-F5344CB8AC3E}">
        <p14:creationId xmlns:p14="http://schemas.microsoft.com/office/powerpoint/2010/main" val="288094031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5DF29-2C6C-B6FB-D528-2AA89F27113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019A026-2EF9-A8A3-E61B-761A93F5E237}"/>
              </a:ext>
            </a:extLst>
          </p:cNvPr>
          <p:cNvSpPr>
            <a:spLocks noGrp="1"/>
          </p:cNvSpPr>
          <p:nvPr>
            <p:ph idx="1"/>
          </p:nvPr>
        </p:nvSpPr>
        <p:spPr>
          <a:xfrm>
            <a:off x="794658" y="2015732"/>
            <a:ext cx="10940142" cy="3450613"/>
          </a:xfrm>
        </p:spPr>
        <p:txBody>
          <a:bodyPr>
            <a:normAutofit/>
          </a:bodyPr>
          <a:lstStyle/>
          <a:p>
            <a:pPr>
              <a:buNone/>
            </a:pPr>
            <a:r>
              <a:rPr lang="en-US" b="1" dirty="0"/>
              <a:t>Activity 1: EQ Reflection</a:t>
            </a:r>
          </a:p>
          <a:p>
            <a:pPr>
              <a:buFont typeface="Arial" panose="020B0604020202020204" pitchFamily="34" charset="0"/>
              <a:buChar char="•"/>
            </a:pPr>
            <a:r>
              <a:rPr lang="en-US" sz="3200" dirty="0"/>
              <a:t>Recall a situation where you lost your temper.</a:t>
            </a:r>
          </a:p>
          <a:p>
            <a:pPr>
              <a:buFont typeface="Arial" panose="020B0604020202020204" pitchFamily="34" charset="0"/>
              <a:buChar char="•"/>
            </a:pPr>
            <a:r>
              <a:rPr lang="en-US" sz="3200" i="1" dirty="0"/>
              <a:t>What triggered it? How did you react? What could have been done differently?</a:t>
            </a:r>
            <a:endParaRPr lang="en-US" sz="3200" dirty="0"/>
          </a:p>
          <a:p>
            <a:pPr>
              <a:buFont typeface="Arial" panose="020B0604020202020204" pitchFamily="34" charset="0"/>
              <a:buChar char="•"/>
            </a:pPr>
            <a:r>
              <a:rPr lang="en-US" sz="3200" dirty="0"/>
              <a:t>This shows </a:t>
            </a:r>
            <a:r>
              <a:rPr lang="en-US" sz="3200" b="1" dirty="0"/>
              <a:t>self-awareness + self-regulation</a:t>
            </a:r>
            <a:r>
              <a:rPr lang="en-US" sz="3200" dirty="0"/>
              <a:t> in action.</a:t>
            </a:r>
          </a:p>
          <a:p>
            <a:endParaRPr lang="en-IN" dirty="0"/>
          </a:p>
        </p:txBody>
      </p:sp>
    </p:spTree>
    <p:extLst>
      <p:ext uri="{BB962C8B-B14F-4D97-AF65-F5344CB8AC3E}">
        <p14:creationId xmlns:p14="http://schemas.microsoft.com/office/powerpoint/2010/main" val="158397989"/>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ppt/theme/theme4.xml><?xml version="1.0" encoding="utf-8"?>
<a:theme xmlns:a="http://schemas.openxmlformats.org/drawingml/2006/main" name="10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themeOverride>
</file>

<file path=ppt/theme/themeOverride2.xml><?xml version="1.0" encoding="utf-8"?>
<a:themeOverride xmlns:a="http://schemas.openxmlformats.org/drawingml/2006/main">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themeOverrid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E4394B84-1536-43DD-BC69-2B56A9CB37AD}">
  <we:reference id="wa200005566" version="3.0.0.3" store="en-US" storeType="OMEX"/>
  <we:alternateReferences>
    <we:reference id="wa200005566" version="3.0.0.3" store="wa200005566"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Gallery</Template>
  <TotalTime>1353</TotalTime>
  <Words>2964</Words>
  <Application>Microsoft Office PowerPoint</Application>
  <PresentationFormat>Widescreen</PresentationFormat>
  <Paragraphs>302</Paragraphs>
  <Slides>72</Slides>
  <Notes>1</Notes>
  <HiddenSlides>0</HiddenSlides>
  <MMClips>0</MMClips>
  <ScaleCrop>false</ScaleCrop>
  <HeadingPairs>
    <vt:vector size="6" baseType="variant">
      <vt:variant>
        <vt:lpstr>Fonts Used</vt:lpstr>
      </vt:variant>
      <vt:variant>
        <vt:i4>12</vt:i4>
      </vt:variant>
      <vt:variant>
        <vt:lpstr>Theme</vt:lpstr>
      </vt:variant>
      <vt:variant>
        <vt:i4>5</vt:i4>
      </vt:variant>
      <vt:variant>
        <vt:lpstr>Slide Titles</vt:lpstr>
      </vt:variant>
      <vt:variant>
        <vt:i4>72</vt:i4>
      </vt:variant>
    </vt:vector>
  </HeadingPairs>
  <TitlesOfParts>
    <vt:vector size="89" baseType="lpstr">
      <vt:lpstr>Arial</vt:lpstr>
      <vt:lpstr>Arial MT</vt:lpstr>
      <vt:lpstr>Arial Rounded MT Bold</vt:lpstr>
      <vt:lpstr>Calibri</vt:lpstr>
      <vt:lpstr>Calibri Light</vt:lpstr>
      <vt:lpstr>Gill Sans MT</vt:lpstr>
      <vt:lpstr>Helvetica</vt:lpstr>
      <vt:lpstr>Lucida Sans Unicode</vt:lpstr>
      <vt:lpstr>Times New Roman</vt:lpstr>
      <vt:lpstr>Trebuchet MS</vt:lpstr>
      <vt:lpstr>Tw Cen MT</vt:lpstr>
      <vt:lpstr>Wingdings</vt:lpstr>
      <vt:lpstr>Gallery</vt:lpstr>
      <vt:lpstr>2_Office Theme</vt:lpstr>
      <vt:lpstr>Droplet</vt:lpstr>
      <vt:lpstr>10_Office Theme</vt:lpstr>
      <vt:lpstr>Office Theme</vt:lpstr>
      <vt:lpstr>Basic Managerial Skills </vt:lpstr>
      <vt:lpstr>1. Introduction</vt:lpstr>
      <vt:lpstr>2. Types of Basic Managerial Skills</vt:lpstr>
      <vt:lpstr>What do you want to become? </vt:lpstr>
      <vt:lpstr>PowerPoint Presentation</vt:lpstr>
      <vt:lpstr>PowerPoint Presentation</vt:lpstr>
      <vt:lpstr>B. Human (Interpersonal) Skills </vt:lpstr>
      <vt:lpstr>Activity: Role-play: One student acts as a manager resolving a disagreement between two employees. </vt:lpstr>
      <vt:lpstr>PowerPoint Presentation</vt:lpstr>
      <vt:lpstr>PowerPoint Presentation</vt:lpstr>
      <vt:lpstr>C. Conceptual Skills </vt:lpstr>
      <vt:lpstr>Why Important:</vt:lpstr>
      <vt:lpstr>D. Communication Skills </vt:lpstr>
      <vt:lpstr>Types of Communication in Management:</vt:lpstr>
      <vt:lpstr>PowerPoint Presentation</vt:lpstr>
      <vt:lpstr>Watch the Body Language</vt:lpstr>
      <vt:lpstr>Public Speaking Body Postures</vt:lpstr>
      <vt:lpstr>PowerPoint Presentation</vt:lpstr>
      <vt:lpstr>PowerPoint Presentation</vt:lpstr>
      <vt:lpstr>PowerPoint Presentation</vt:lpstr>
      <vt:lpstr>PowerPoint Presentation</vt:lpstr>
      <vt:lpstr>PowerPoint Presentation</vt:lpstr>
      <vt:lpstr>Avoid negative, or closed, body language when talking to others.</vt:lpstr>
      <vt:lpstr>PowerPoint Presentation</vt:lpstr>
      <vt:lpstr>Use your body language to convey emotions while you speak.</vt:lpstr>
      <vt:lpstr>Use hand gestures when speaking to draw others in</vt:lpstr>
      <vt:lpstr>Move throughout the room to capture attention</vt:lpstr>
      <vt:lpstr>Use gestures like a thumbs up to convey a specific meaning. </vt:lpstr>
      <vt:lpstr>Maintain good posture to exude confidence</vt:lpstr>
      <vt:lpstr>Mirror another person</vt:lpstr>
      <vt:lpstr>Avoid gestures that show nervousness or insecurity</vt:lpstr>
      <vt:lpstr> Look at the person you’re talking to</vt:lpstr>
      <vt:lpstr>Use eye contact to show respect or attraction</vt:lpstr>
      <vt:lpstr>Avoid defensive body language, like scowling or not making eye contact.</vt:lpstr>
      <vt:lpstr>Stay engaged with your body language while listening to others talk.</vt:lpstr>
      <vt:lpstr>Look for nonverbal cues that show what someone is feeling.</vt:lpstr>
      <vt:lpstr>Watch for nonverbal cues that mean someone is lying</vt:lpstr>
      <vt:lpstr> Gauge someone’s interest by looking for nods or smiles</vt:lpstr>
      <vt:lpstr>E. Decision-Making Skills</vt:lpstr>
      <vt:lpstr>Steps in Decision-Making Process:</vt:lpstr>
      <vt:lpstr>Example in Business Context:</vt:lpstr>
      <vt:lpstr>Why Important:</vt:lpstr>
      <vt:lpstr>PowerPoint Presentation</vt:lpstr>
      <vt:lpstr>PowerPoint Presentation</vt:lpstr>
      <vt:lpstr>Product Launch – Task 1 for 5 MARKS</vt:lpstr>
      <vt:lpstr>F.  Time Management Skills </vt:lpstr>
      <vt:lpstr>Key Aspects of Time Management:</vt:lpstr>
      <vt:lpstr>PowerPoint Presentation</vt:lpstr>
      <vt:lpstr>categorize each task into:</vt:lpstr>
      <vt:lpstr>g. Team Building</vt:lpstr>
      <vt:lpstr>Key Elements of Team Building:</vt:lpstr>
      <vt:lpstr>Why Important for Managers:</vt:lpstr>
      <vt:lpstr>Self-Management Skills</vt:lpstr>
      <vt:lpstr>2. Emotional Quotient (EQ)</vt:lpstr>
      <vt:lpstr>PowerPoint Presentation</vt:lpstr>
      <vt:lpstr>PowerPoint Presentation</vt:lpstr>
      <vt:lpstr>PowerPoint Presentation</vt:lpstr>
      <vt:lpstr>Importance of EQ: </vt:lpstr>
      <vt:lpstr>3. Developing Self-Awareness with Johari Window </vt:lpstr>
      <vt:lpstr>What is self awareness?</vt:lpstr>
      <vt:lpstr>Self awareness</vt:lpstr>
      <vt:lpstr>Key areas of self awareness</vt:lpstr>
      <vt:lpstr>PowerPoint Presentation</vt:lpstr>
      <vt:lpstr>A hand gesture you often make, A facial  expression, Things you do that are annoying,  Things you do really well, Behavior patterns  or habits, Strengths, Weaknesses, How you  affect others</vt:lpstr>
      <vt:lpstr>JoHari Window</vt:lpstr>
      <vt:lpstr>Minimum openness- Ineffective  personality</vt:lpstr>
      <vt:lpstr>More openness- Effective  personality</vt:lpstr>
      <vt:lpstr>How to widen the OPEN corner</vt:lpstr>
      <vt:lpstr>The Four Quadrants of Johari Window with Examples:</vt:lpstr>
      <vt:lpstr>PowerPoint Presentation</vt:lpstr>
      <vt:lpstr>How to Use Johari Window for Growth: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pradeep deepu</dc:creator>
  <cp:lastModifiedBy>pradeep deepu</cp:lastModifiedBy>
  <cp:revision>43</cp:revision>
  <dcterms:created xsi:type="dcterms:W3CDTF">2025-08-10T18:03:41Z</dcterms:created>
  <dcterms:modified xsi:type="dcterms:W3CDTF">2025-09-08T16:16:10Z</dcterms:modified>
</cp:coreProperties>
</file>