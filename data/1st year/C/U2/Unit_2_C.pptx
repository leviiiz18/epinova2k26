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8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3" r:id="rId22"/>
    <p:sldId id="284" r:id="rId23"/>
    <p:sldId id="279" r:id="rId24"/>
    <p:sldId id="278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89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0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46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53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30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496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54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3600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87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953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29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28FCC-B905-4058-97A8-93DCD680CCCC}" type="datetimeFigureOut">
              <a:rPr lang="en-IN" smtClean="0"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BB9F7-D2C0-4BE2-9942-2B0E5F302E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79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7434" y="2725148"/>
            <a:ext cx="812292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Arrays, Strings, and Functions in C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96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84069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554" y="728343"/>
            <a:ext cx="12111446" cy="584662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array is a collection of elements of the same data type stored in contiguous memory locations.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may be primary data types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float, char), or user-defined types such as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pointers can be stored in an array.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an array, define the data type (like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and specify the name of the array followed by square brackets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 ]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IN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data_type</a:t>
            </a:r>
            <a:r>
              <a:rPr lang="en-IN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array_name</a:t>
            </a:r>
            <a:r>
              <a:rPr lang="en-IN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[size];</a:t>
            </a:r>
          </a:p>
          <a:p>
            <a:pPr marL="0" indent="0">
              <a:buNone/>
            </a:pPr>
            <a:endParaRPr lang="en-US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50, b = 55, c = 67, . . . </a:t>
            </a: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marks[10] = {50, 55, 67, 73, 45, 21, 39, 70, 49, 51};</a:t>
            </a:r>
            <a:endParaRPr lang="en-IN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12" y="3949472"/>
            <a:ext cx="4900203" cy="148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7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9337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the Elements of an Array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805" y="806722"/>
            <a:ext cx="11850189" cy="6051277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my_Numbers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= {10,20,30,40};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have now created a variable that holds an array of four integers.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an array element, refer to its index number.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Array indexes start with 0: [0] is the first element. [1] is the second element, etc.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statement accesses the value of the first element [0] in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myNumbers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2805" y="4300585"/>
            <a:ext cx="711490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 err="1" smtClean="0">
                <a:solidFill>
                  <a:srgbClr val="005CC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my_values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[] = {</a:t>
            </a:r>
            <a:r>
              <a:rPr lang="en-US" sz="2800" dirty="0" smtClean="0">
                <a:solidFill>
                  <a:srgbClr val="99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10,20,30,40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0" i="0" dirty="0" smtClean="0">
                <a:solidFill>
                  <a:srgbClr val="008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"%d"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0" i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my_values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800" b="0" i="0" dirty="0" smtClean="0">
                <a:solidFill>
                  <a:srgbClr val="9900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b="0" i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dirty="0" smtClean="0">
                <a:solidFill>
                  <a:srgbClr val="70809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// Output is 10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52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of Arrays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47301" y="1794056"/>
            <a:ext cx="6142122" cy="392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48" y="1861406"/>
            <a:ext cx="5319713" cy="4000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8806962" y="5723791"/>
            <a:ext cx="16031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2D-Array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992923" y="5847958"/>
            <a:ext cx="14670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1D-Array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102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in C: Initialization and Access</a:t>
            </a:r>
            <a:r>
              <a:rPr lang="en-US" b="1" dirty="0"/>
              <a:t/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873" y="1027906"/>
            <a:ext cx="5157787" cy="823912"/>
          </a:xfrm>
        </p:spPr>
        <p:txBody>
          <a:bodyPr/>
          <a:lstStyle/>
          <a:p>
            <a:r>
              <a:rPr lang="en-US" dirty="0" smtClean="0"/>
              <a:t>1-D Array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546" y="2039082"/>
            <a:ext cx="5969977" cy="474858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Declaration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array of 5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Initialization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= {10, 20, 30, 40, 50};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 = {1, 2, 3};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size determined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</a:t>
            </a: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Accessing Elements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("%d",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[0]);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first element (10)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("%d", </a:t>
            </a: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[2]);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third element (30)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27248"/>
            <a:ext cx="5183188" cy="823912"/>
          </a:xfrm>
        </p:spPr>
        <p:txBody>
          <a:bodyPr/>
          <a:lstStyle/>
          <a:p>
            <a:r>
              <a:rPr lang="en-US" dirty="0" smtClean="0"/>
              <a:t>2-D Array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9" y="1951160"/>
            <a:ext cx="5794131" cy="4590317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</a:t>
            </a:r>
          </a:p>
          <a:p>
            <a:pPr marL="0" indent="0">
              <a:buNone/>
            </a:pPr>
            <a:r>
              <a:rPr lang="fr-FR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matrix[3][3]; 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3x3 </a:t>
            </a:r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Initialization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matrix[2][3] = {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{1, 2, 3},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{4, 5, 6</a:t>
            </a:r>
            <a:r>
              <a:rPr lang="en-US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};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Accessing Elements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("%d", matrix[0][1]);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first row, second column → 2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("%d", matrix[1][2]);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second row, third column → 6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72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107" y="-81537"/>
            <a:ext cx="11532577" cy="65303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using one and two-dimensional arrays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306961"/>
            <a:ext cx="11409485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One-Dimensional Array</a:t>
            </a: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= {10, 20, 30, 40, 50};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("One-Dimensional Array Elements:\n");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 5;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[%d] = %d\n",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Two-Dimensional Array</a:t>
            </a: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matrix[2][3] = {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{1, 2, 3},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{4, 5, 6}};</a:t>
            </a:r>
          </a:p>
          <a:p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nTwo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-Dimensional Array Elements:\n");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&lt; 2;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for(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 = 0; j &lt; 3;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("matrix[%d][%d] = %d\n",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j, matrix[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][j]);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 }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51884" y="1199514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One-</a:t>
            </a:r>
            <a:r>
              <a:rPr lang="fr-FR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</a:t>
            </a: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[0] = 10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= 20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= 30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= 40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= 50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matrix[0][0] = 1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matrix[0][1] = 2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matrix[0][2] = 3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matrix[1][0] = 4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matrix[1][1] = 5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matrix[1][2] = 6</a:t>
            </a:r>
            <a:endParaRPr lang="fr-FR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3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474" y="164828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 and Initializing Strings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" y="1007018"/>
            <a:ext cx="12085320" cy="56114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C, strings are arrays of characters ending with a null character ('\0').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declare and initialize strings in multiple ways.</a:t>
            </a: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57051" y="2332581"/>
            <a:ext cx="131499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str1[20] = "Hello"; 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literal and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Initilization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str2[] = {'</a:t>
            </a:r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W','o','r','l','d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','\0'}; 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manual null terminator and Size decided automatically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 str3[20];               </a:t>
            </a:r>
            <a:r>
              <a:rPr lang="en-US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empty, can store later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 str4[];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("%s %s\n", str1, str2);</a:t>
            </a:r>
            <a:endParaRPr lang="en-IN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08966" y="5312235"/>
            <a:ext cx="220739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</a:t>
            </a:r>
            <a:r>
              <a:rPr lang="en-I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</a:p>
        </p:txBody>
      </p:sp>
    </p:spTree>
    <p:extLst>
      <p:ext uri="{BB962C8B-B14F-4D97-AF65-F5344CB8AC3E}">
        <p14:creationId xmlns:p14="http://schemas.microsoft.com/office/powerpoint/2010/main" val="27607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" y="443502"/>
            <a:ext cx="10515600" cy="85407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Strings from Terminal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057" y="1198608"/>
            <a:ext cx="10515600" cy="4351338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input from the user.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reads input but stops at space.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(unsafe, deprecated).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fgets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size,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is safer and recommended.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96389" y="3448594"/>
            <a:ext cx="875211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char name[30];</a:t>
            </a:r>
          </a:p>
          <a:p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("Enter your name: ");</a:t>
            </a:r>
          </a:p>
          <a:p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fgets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(name, </a:t>
            </a:r>
            <a:r>
              <a:rPr lang="en-IN" sz="24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(name), </a:t>
            </a:r>
            <a:r>
              <a:rPr lang="en-IN" sz="24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stdin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safer input</a:t>
            </a:r>
          </a:p>
          <a:p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("Hello, %s", name);</a:t>
            </a:r>
          </a:p>
          <a:p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105062" y="4787422"/>
            <a:ext cx="32816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name: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Ritchie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Ritchie</a:t>
            </a:r>
          </a:p>
        </p:txBody>
      </p:sp>
    </p:spTree>
    <p:extLst>
      <p:ext uri="{BB962C8B-B14F-4D97-AF65-F5344CB8AC3E}">
        <p14:creationId xmlns:p14="http://schemas.microsoft.com/office/powerpoint/2010/main" val="58732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53" y="0"/>
            <a:ext cx="10515600" cy="93215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Strings from Terminal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01353" y="1049680"/>
            <a:ext cx="1160311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name[50];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("Enter your name: ");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("%s", name);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Stops at space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("Hello %s!\n", name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clear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("Enter full name: </a:t>
            </a:r>
            <a:r>
              <a:rPr lang="en-IN" sz="24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fgets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(name, </a:t>
            </a:r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(name), </a:t>
            </a:r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stdin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reads spaces too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("Your full name is: %s", name);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IN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48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7742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Strings to Screen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389" y="1050561"/>
            <a:ext cx="11841480" cy="5541827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print strings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puts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("%s",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allows formatting.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puts(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prints the string and adds a newline automatically.</a:t>
            </a:r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00295" y="2818672"/>
            <a:ext cx="951846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[] = "C Programming";</a:t>
            </a:r>
          </a:p>
          <a:p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("Using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%s\n",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puts("Using puts: C Programming");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80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41401" y="4126133"/>
            <a:ext cx="381546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</a:p>
          <a:p>
            <a:pPr algn="just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puts: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58422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9698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 on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804" y="972185"/>
            <a:ext cx="11911149" cy="577695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characters are stored as ASCII values, you can perform arithmetic on them.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'A' has ASCII value 65, 'a' is 97.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39634" y="2953270"/>
            <a:ext cx="1050253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c = 'A';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("Next char: %c\n", c + 1);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prints 'B'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("ASCII of %c = %d\n", c, c);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I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solidFill>
                <a:srgbClr val="00B05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696812" y="3553434"/>
            <a:ext cx="256397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char: </a:t>
            </a:r>
            <a:r>
              <a:rPr lang="en-IN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ASCII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65</a:t>
            </a:r>
          </a:p>
        </p:txBody>
      </p:sp>
    </p:spTree>
    <p:extLst>
      <p:ext uri="{BB962C8B-B14F-4D97-AF65-F5344CB8AC3E}">
        <p14:creationId xmlns:p14="http://schemas.microsoft.com/office/powerpoint/2010/main" val="1673575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 on Characters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838200" y="2162465"/>
            <a:ext cx="824484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char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'A'; // ASCII value = 65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%c, ASCII = %d\n",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("Next character: %c\n",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+ 1);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'B'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("Lowercase: %c\n", </a:t>
            </a:r>
            <a:r>
              <a:rPr lang="en-IN" sz="28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+ 32);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'a'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7023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handling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805" y="1094104"/>
            <a:ext cx="12059195" cy="5515701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 programming, string handling functions are a set of library functions provided in the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 file that allow you to perform various operations on strings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Some of the functions are as follows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strstr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686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6855"/>
            <a:ext cx="10515600" cy="76348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 - </a:t>
            </a:r>
            <a:r>
              <a:rPr lang="en-I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5271" y="812139"/>
            <a:ext cx="1192643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`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()` function in C is used to calculate the length of a string (number of characters) excluding the null terminator `\0`.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takes a string as input and returns its length as a `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size_t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 value.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`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("HELLO")` returns `5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`.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&lt;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{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char alphabet[] = "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ABCDEFGHIJKLMNOPQRSTUVWXYZ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zu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IN" sz="32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strlen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(alphabet));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7212" y="5699943"/>
            <a:ext cx="22813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just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26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76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 String </a:t>
            </a:r>
            <a:r>
              <a:rPr lang="en-IN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r>
              <a:rPr lang="en-I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41556"/>
            <a:ext cx="12192000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string handling function from the 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library.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compare two strings character by character.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051" y="2167119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n-IN" sz="2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str1[] = "hello", str2[] = "world";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(str1, str2) == 0)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("Both strings are equal\n");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("Strings are not equal\n");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0766" y="5434285"/>
            <a:ext cx="58173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strcmp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(str1, str2)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two strings.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if they are equal, &lt;0 if str1 &lt; str2, &gt;0 if str1 &gt; str2.</a:t>
            </a:r>
          </a:p>
        </p:txBody>
      </p:sp>
    </p:spTree>
    <p:extLst>
      <p:ext uri="{BB962C8B-B14F-4D97-AF65-F5344CB8AC3E}">
        <p14:creationId xmlns:p14="http://schemas.microsoft.com/office/powerpoint/2010/main" val="3802706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058" y="269331"/>
            <a:ext cx="10515600" cy="1325563"/>
          </a:xfrm>
        </p:spPr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StringCopy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526" y="5442978"/>
            <a:ext cx="10515600" cy="77494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(destination, source) copies the string from source into destination.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329" y="1415203"/>
            <a:ext cx="1111540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source[] = "Hello, World!";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destination[50];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//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it is big enough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strcpy</a:t>
            </a: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(destination, source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//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source to destination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("Source: %s\n", source);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("Destination: %s\n", destination);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5110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9006"/>
            <a:ext cx="10515600" cy="775063"/>
          </a:xfrm>
        </p:spPr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strstr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892" y="984069"/>
            <a:ext cx="11702142" cy="560832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strstr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is a function in the C Standard Library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find the first occurrence of a substring within a string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2217" y="2191102"/>
            <a:ext cx="1040674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= "Welcome to C programming";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*sub = </a:t>
            </a: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strstr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"C");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find "C"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(sub != NULL)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("Substring found: %s\n", sub);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("Substring not found\n");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737905" y="5884543"/>
            <a:ext cx="427713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found: C programming</a:t>
            </a:r>
          </a:p>
        </p:txBody>
      </p:sp>
    </p:spTree>
    <p:extLst>
      <p:ext uri="{BB962C8B-B14F-4D97-AF65-F5344CB8AC3E}">
        <p14:creationId xmlns:p14="http://schemas.microsoft.com/office/powerpoint/2010/main" val="1333720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931817"/>
          </a:xfrm>
        </p:spPr>
        <p:txBody>
          <a:bodyPr/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I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String Concatenation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388" y="798012"/>
            <a:ext cx="11858898" cy="5881461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in C is used to concatenate (join) two strings.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appends the content of the source string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the destination string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destination string must have enough space to hold both strings, otherwise it causes undefined behavior.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3765" y="2981690"/>
            <a:ext cx="91527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string.h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str1[20] = "Hello ";   // destination string with enough space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str2[] = "World!";     // source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strcat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(str1, str2); 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concatenate str2 to str1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("Result: %s\n", str1);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9505" y="5899130"/>
            <a:ext cx="342858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Hello World!</a:t>
            </a:r>
          </a:p>
        </p:txBody>
      </p:sp>
    </p:spTree>
    <p:extLst>
      <p:ext uri="{BB962C8B-B14F-4D97-AF65-F5344CB8AC3E}">
        <p14:creationId xmlns:p14="http://schemas.microsoft.com/office/powerpoint/2010/main" val="1770128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9405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handling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" y="1094104"/>
            <a:ext cx="12009120" cy="57638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C, character handling functions are provided in the &lt;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ctype.h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header file. They help in checking and converting characters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toascii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Converts a character to its ASCII equivalent (removes higher bits).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toupper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Converts a lowercase letter to uppercase.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Converts an uppercase letter to lowercase.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isalpha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Checks if the character is an alphabet (A–Z, a–z).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isdigit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Checks if the character is a digit (0–9).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isalnum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Checks if the character is alphanumeric (A–Z, a–z, 0–9).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110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6098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handling functions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32807" y="967877"/>
            <a:ext cx="902208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ctype.h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'a';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("Uppercase of %c: %c\n",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toupper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("Lowercase of %c: %c\n", 'G',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tolower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('G'));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("Is %c alphabet? %d\n",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isalpha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("Is %c digit? %d\n", '5',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isdigit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('5'));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("ASCII of %c: %d\n",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toascii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890655" y="4211607"/>
            <a:ext cx="533835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a: A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 of G: g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alphabet? 1024   (non-zero → true)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5 digit? 2048      (non-zero → true)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ASCII of a: 97</a:t>
            </a:r>
          </a:p>
        </p:txBody>
      </p:sp>
    </p:spTree>
    <p:extLst>
      <p:ext uri="{BB962C8B-B14F-4D97-AF65-F5344CB8AC3E}">
        <p14:creationId xmlns:p14="http://schemas.microsoft.com/office/powerpoint/2010/main" val="2119811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31458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41556"/>
            <a:ext cx="12252960" cy="595113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Searching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in C are used to find a specific element within a data structure, typically an array.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and fundamental searching algorithms implemented in C are Linear Search and Binary Search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algorithm sequentially checks each element in the array until the target element is found or the end of the array is reached.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starts from the first element (index 0) and compares it with the target value.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match, the index is returned. If not, it moves to the next element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repeats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implement, suitable for small arrays or unsorted data. Inefficient for large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datasets.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140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74807"/>
            <a:ext cx="10515600" cy="1325563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4170" y="856357"/>
            <a:ext cx="743712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 = {10, 20, 30, 40, 50};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 = 5, key = 30, found = 0;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== key)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("Element found at position %d\n",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found = 1;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break;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(!found)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("Element not found\n");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5965369" y="487974"/>
            <a:ext cx="633984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array contains {10, 20, 30, 40, 50}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takes an input (key) to search for.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 each element one by one (linearly).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finds the element, it prints the position.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not, it prints “Element not found.”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7350033" y="5213310"/>
            <a:ext cx="495517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Output</a:t>
            </a:r>
            <a:endParaRPr lang="en-IN" b="1" dirty="0" smtClean="0"/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Enter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element to search: 30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found at position 3</a:t>
            </a:r>
          </a:p>
        </p:txBody>
      </p:sp>
    </p:spTree>
    <p:extLst>
      <p:ext uri="{BB962C8B-B14F-4D97-AF65-F5344CB8AC3E}">
        <p14:creationId xmlns:p14="http://schemas.microsoft.com/office/powerpoint/2010/main" val="2466224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377"/>
            <a:ext cx="10515600" cy="783771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62147"/>
            <a:ext cx="12191999" cy="613083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programming, a function is a structured and reusable block of code designed to carry out a specific task.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 consists of one or more functions, which are categorized into library functions and user-defined functions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types of functions in C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functions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functions</a:t>
            </a:r>
          </a:p>
          <a:p>
            <a:pPr marL="0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4414634"/>
            <a:ext cx="1198299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 compiler comes with several precompiled header files (like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etc.), which contain predefined library functions such as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pow(), </a:t>
            </a:r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others. </a:t>
            </a:r>
            <a:endParaRPr lang="en-I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these library functions in a program, the appropriate header file must be included with the #include directive.</a:t>
            </a:r>
          </a:p>
        </p:txBody>
      </p:sp>
    </p:spTree>
    <p:extLst>
      <p:ext uri="{BB962C8B-B14F-4D97-AF65-F5344CB8AC3E}">
        <p14:creationId xmlns:p14="http://schemas.microsoft.com/office/powerpoint/2010/main" val="121218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1593"/>
            <a:ext cx="10515600" cy="8802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18607"/>
            <a:ext cx="11930743" cy="5498284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Programs often become long and complex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repetition, improve readability, and allow reusability, we divide the program into functions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User-defined functions let programmers write their own specific functionalities, apart from library functions.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1" y="3704581"/>
            <a:ext cx="647917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5, b = 10;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("Sum: %d\n", a + b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7, y = 3;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("Sum: %d\n", x + y);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783978" y="344168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num1,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num2)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num1 + num2;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("Sum: %d\n", sum(5, 10));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("Sum: %d\n", sum(7, 3));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1" y="3336916"/>
            <a:ext cx="25306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Function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1979" y="2980014"/>
            <a:ext cx="21026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IN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2955672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Declaring, defining and calling C functions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017" y="1139808"/>
            <a:ext cx="11467012" cy="5409038"/>
          </a:xfr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(Prototype)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tells compiler about function name, return type, and parameters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actual code of the function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using the function in main() or another function.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760227" y="2142723"/>
            <a:ext cx="70133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parameter_list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5" name="Rectangle 4"/>
          <p:cNvSpPr/>
          <p:nvPr/>
        </p:nvSpPr>
        <p:spPr>
          <a:xfrm>
            <a:off x="2760227" y="3235847"/>
            <a:ext cx="735042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return_type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parameter_list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// function body</a:t>
            </a:r>
          </a:p>
          <a:p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3095473" y="5061624"/>
            <a:ext cx="44791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IN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(arguments);</a:t>
            </a:r>
          </a:p>
        </p:txBody>
      </p:sp>
    </p:spTree>
    <p:extLst>
      <p:ext uri="{BB962C8B-B14F-4D97-AF65-F5344CB8AC3E}">
        <p14:creationId xmlns:p14="http://schemas.microsoft.com/office/powerpoint/2010/main" val="14726665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9034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Values and Types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27752"/>
            <a:ext cx="12192000" cy="653024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may return: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float, char, double (any data type).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(no return value).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87383" y="2333685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returning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a + b;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returning float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average(float x, float y)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(x + y) / 2;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returning char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grade(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marks)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(marks &gt;= 50) return 'P';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else return 'F';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531429" y="1268963"/>
            <a:ext cx="6096000" cy="557075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dirty="0"/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Function with no return value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greet()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("Hello, welcome to C programming!\n");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 = add(10, 20);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average(10.5, 20.5);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result = grade(60);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 = %d\n", sum);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("Average = %.2f\n",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("Grade = %c\n", result);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greet();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calling void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5231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83773"/>
            <a:ext cx="10515600" cy="97536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663" y="1759133"/>
            <a:ext cx="11850189" cy="2085079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without arguments but with return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without arguments but with return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with arguments but without return values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with arguments but with return values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959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6419</TotalTime>
  <Words>2664</Words>
  <Application>Microsoft Office PowerPoint</Application>
  <PresentationFormat>Widescreen</PresentationFormat>
  <Paragraphs>377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Wingdings</vt:lpstr>
      <vt:lpstr>Office Theme</vt:lpstr>
      <vt:lpstr>Arrays, Strings, and Functions in C </vt:lpstr>
      <vt:lpstr>Arrays</vt:lpstr>
      <vt:lpstr>Access the Elements of an Array </vt:lpstr>
      <vt:lpstr>Representation of Arrays</vt:lpstr>
      <vt:lpstr>Arrays in C: Initialization and Access </vt:lpstr>
      <vt:lpstr>Program using one and two-dimensional arrays</vt:lpstr>
      <vt:lpstr>Declaring and Initializing Strings </vt:lpstr>
      <vt:lpstr>Reading Strings from Terminal </vt:lpstr>
      <vt:lpstr>Reading Strings from Terminal</vt:lpstr>
      <vt:lpstr>Writing Strings to Screen</vt:lpstr>
      <vt:lpstr>Arithmetic Operations on Characters</vt:lpstr>
      <vt:lpstr>Arithmetic Operations on Characters</vt:lpstr>
      <vt:lpstr>String handling functions</vt:lpstr>
      <vt:lpstr>String Length - strlen </vt:lpstr>
      <vt:lpstr>Strcmp -  String comparision  </vt:lpstr>
      <vt:lpstr>Strcpy - StringCopy </vt:lpstr>
      <vt:lpstr>strstr  </vt:lpstr>
      <vt:lpstr>Strcat – String Concatenation </vt:lpstr>
      <vt:lpstr>Character handling functions</vt:lpstr>
      <vt:lpstr>Character handling functions</vt:lpstr>
      <vt:lpstr>Searching </vt:lpstr>
      <vt:lpstr>Linear Search </vt:lpstr>
      <vt:lpstr>Functions</vt:lpstr>
      <vt:lpstr>User-defined functions</vt:lpstr>
      <vt:lpstr>Declaring, defining and calling C functions</vt:lpstr>
      <vt:lpstr>Return Values and Types </vt:lpstr>
      <vt:lpstr>Categories of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Arrays, Strings, and Functions in C</dc:title>
  <dc:creator>Ravi</dc:creator>
  <cp:lastModifiedBy>Ravi</cp:lastModifiedBy>
  <cp:revision>52</cp:revision>
  <dcterms:created xsi:type="dcterms:W3CDTF">2025-09-21T15:30:45Z</dcterms:created>
  <dcterms:modified xsi:type="dcterms:W3CDTF">2025-10-14T03:50:14Z</dcterms:modified>
</cp:coreProperties>
</file>