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302" r:id="rId2"/>
    <p:sldId id="303" r:id="rId3"/>
    <p:sldId id="307" r:id="rId4"/>
    <p:sldId id="308" r:id="rId5"/>
    <p:sldId id="304" r:id="rId6"/>
    <p:sldId id="305" r:id="rId7"/>
    <p:sldId id="306" r:id="rId8"/>
    <p:sldId id="316" r:id="rId9"/>
    <p:sldId id="317" r:id="rId10"/>
    <p:sldId id="31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257" r:id="rId19"/>
    <p:sldId id="258" r:id="rId20"/>
    <p:sldId id="259" r:id="rId21"/>
    <p:sldId id="276" r:id="rId22"/>
    <p:sldId id="260" r:id="rId23"/>
    <p:sldId id="261" r:id="rId24"/>
    <p:sldId id="262" r:id="rId25"/>
    <p:sldId id="263" r:id="rId26"/>
    <p:sldId id="264" r:id="rId27"/>
    <p:sldId id="265" r:id="rId28"/>
    <p:sldId id="278" r:id="rId29"/>
    <p:sldId id="279" r:id="rId30"/>
    <p:sldId id="280" r:id="rId31"/>
    <p:sldId id="281" r:id="rId32"/>
    <p:sldId id="266" r:id="rId33"/>
    <p:sldId id="267" r:id="rId34"/>
    <p:sldId id="268" r:id="rId35"/>
    <p:sldId id="269" r:id="rId36"/>
    <p:sldId id="270" r:id="rId37"/>
    <p:sldId id="271" r:id="rId38"/>
    <p:sldId id="272" r:id="rId39"/>
    <p:sldId id="273" r:id="rId40"/>
    <p:sldId id="282" r:id="rId41"/>
    <p:sldId id="288" r:id="rId42"/>
    <p:sldId id="290" r:id="rId43"/>
    <p:sldId id="289" r:id="rId44"/>
    <p:sldId id="274" r:id="rId45"/>
    <p:sldId id="275" r:id="rId46"/>
    <p:sldId id="277" r:id="rId47"/>
    <p:sldId id="283" r:id="rId48"/>
    <p:sldId id="285" r:id="rId49"/>
    <p:sldId id="284" r:id="rId50"/>
    <p:sldId id="286" r:id="rId51"/>
    <p:sldId id="287" r:id="rId52"/>
    <p:sldId id="291" r:id="rId53"/>
    <p:sldId id="292" r:id="rId54"/>
    <p:sldId id="293" r:id="rId55"/>
    <p:sldId id="294" r:id="rId56"/>
    <p:sldId id="295" r:id="rId57"/>
    <p:sldId id="296" r:id="rId58"/>
    <p:sldId id="297" r:id="rId59"/>
    <p:sldId id="299" r:id="rId60"/>
    <p:sldId id="300" r:id="rId61"/>
    <p:sldId id="298" r:id="rId6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404723" cy="1400530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Set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" y="862043"/>
            <a:ext cx="12131040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 programming, a character set is the collection of valid characters that the C compiler recognizes and can be used to write programs.</a:t>
            </a:r>
          </a:p>
          <a:p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Letters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Uppercase letters: A to Z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Lowercase letters: a to z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keywords, identifiers, variables, etc.</a:t>
            </a:r>
          </a:p>
          <a:p>
            <a:r>
              <a:rPr lang="en-US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Age;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Uses uppercase 'A' and lowercase 'g',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'e‘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Digits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to 9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numbers, constants, and as part of identifiers (but not as the first character of an identifier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num1 = 25;</a:t>
            </a:r>
            <a:endParaRPr lang="en-US" sz="2800" b="1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24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404723" cy="140053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Set 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21921" y="700265"/>
            <a:ext cx="6557554" cy="52322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Special Characters</a:t>
            </a:r>
            <a:endParaRPr lang="en-US" sz="2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operations, punctuation, and program structure.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- * / %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Arithmetic operators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 &gt; = !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Relational/logical operators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, 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Punctuation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) [ ] { }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Brackets and braces 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Whitespace Characters</a:t>
            </a:r>
            <a:endParaRPr 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Space, tab (\t), newline (\n), carriage return, form feed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separate tokens and improve readability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= 5;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Space after '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and around '='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356723" y="869625"/>
            <a:ext cx="6096000" cy="332398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Escape Sequences</a:t>
            </a:r>
            <a:endParaRPr 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characters represented with a backslash \.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Newline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Horizontal tab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\\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// Backslash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Double quote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Single quote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789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97" y="191460"/>
            <a:ext cx="9404723" cy="140053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597" y="1016598"/>
            <a:ext cx="8946541" cy="4195481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 are predefined, reserved words in C.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be used as identifiers (variable/function names).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Written in lowercase only.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has 32 standard keywords</a:t>
            </a:r>
          </a:p>
          <a:p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5780" y="3114338"/>
            <a:ext cx="7205935" cy="342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557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21920"/>
            <a:ext cx="9404723" cy="1400530"/>
          </a:xfrm>
        </p:spPr>
        <p:txBody>
          <a:bodyPr/>
          <a:lstStyle/>
          <a:p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Identifiers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0961" y="255087"/>
            <a:ext cx="12061370" cy="70788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Identifier refers to name given to entities such as variables, functions, structures etc.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Identifiers must be unique.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created to give a unique name to an entity to identify it during the execution of the program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money;</a:t>
            </a:r>
            <a:endParaRPr 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 </a:t>
            </a:r>
            <a:r>
              <a:rPr lang="en-US" sz="24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accountBalance</a:t>
            </a:r>
            <a:r>
              <a:rPr lang="en-US" sz="24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money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accountBalance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identifiers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Also, identifier names must be different from keywords. You cannot use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an identifier because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keyword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for naming identifiers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valid identifier can have letters (both uppercase and lowercase letters), digits and underscores.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letter of an identifier should be either a letter or an underscore.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cannot use keywords like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etc. as identifiers.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rule on how long an identifier can be. However, you may run into problems in some compilers if the identifier is longer than 31 characters.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9407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9796"/>
            <a:ext cx="9404723" cy="1400530"/>
          </a:xfrm>
        </p:spPr>
        <p:txBody>
          <a:bodyPr/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Tokens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87223"/>
            <a:ext cx="11902940" cy="53842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C, tokens are the smallest units of a program that have meaning to the compiler.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write code, the compiler breaks it into tokens for understanding.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Tokens in C: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Keywords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Reserved words with special meaning.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Identifiers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Names given to variables, functions, etc.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Fixed values (like 10, 3.14, 'A').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Strings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Sequence of characters inside double quotes ("Hello").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Symbols for operations (+, -, *, /, &amp;&amp;, ==).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 Symbols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Punctuation &amp; delimiters (;, {}, [], ()).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9155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86958"/>
            <a:ext cx="9404723" cy="140053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Tokens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090" y="1077558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en-IN" sz="28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IN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10</a:t>
            </a:r>
            <a:r>
              <a:rPr lang="en-IN" sz="28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keyword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identifier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→ operator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→ constant</a:t>
            </a:r>
          </a:p>
          <a:p>
            <a:pPr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→ special symbol</a:t>
            </a:r>
          </a:p>
          <a:p>
            <a:pPr marL="0" indent="0">
              <a:buNone/>
            </a:pPr>
            <a:endParaRPr lang="en-IN" sz="28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5581658" y="2391400"/>
            <a:ext cx="764612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  //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directive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10;    // Variable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float price = 99.5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("Number: %d\n",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("Price: %.2f\n", price);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03727" y="1570162"/>
            <a:ext cx="14382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1450179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495295"/>
              </p:ext>
            </p:extLst>
          </p:nvPr>
        </p:nvGraphicFramePr>
        <p:xfrm>
          <a:off x="1551063" y="493799"/>
          <a:ext cx="8368000" cy="5957602"/>
        </p:xfrm>
        <a:graphic>
          <a:graphicData uri="http://schemas.openxmlformats.org/drawingml/2006/table">
            <a:tbl>
              <a:tblPr/>
              <a:tblGrid>
                <a:gridCol w="4184000">
                  <a:extLst>
                    <a:ext uri="{9D8B030D-6E8A-4147-A177-3AD203B41FA5}">
                      <a16:colId xmlns:a16="http://schemas.microsoft.com/office/drawing/2014/main" val="3215008824"/>
                    </a:ext>
                  </a:extLst>
                </a:gridCol>
                <a:gridCol w="4184000">
                  <a:extLst>
                    <a:ext uri="{9D8B030D-6E8A-4147-A177-3AD203B41FA5}">
                      <a16:colId xmlns:a16="http://schemas.microsoft.com/office/drawing/2014/main" val="3844529266"/>
                    </a:ext>
                  </a:extLst>
                </a:gridCol>
              </a:tblGrid>
              <a:tr h="277419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Token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Type of Token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3031730"/>
                  </a:ext>
                </a:extLst>
              </a:tr>
              <a:tr h="277419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#include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Preprocessor directive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9682462"/>
                  </a:ext>
                </a:extLst>
              </a:tr>
              <a:tr h="277419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&lt;stdio.h&gt;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Header file name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4426665"/>
                  </a:ext>
                </a:extLst>
              </a:tr>
              <a:tr h="277419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Keyword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6792181"/>
                  </a:ext>
                </a:extLst>
              </a:tr>
              <a:tr h="277419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Identifier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4046628"/>
                  </a:ext>
                </a:extLst>
              </a:tr>
              <a:tr h="277419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 )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Special symbols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0874373"/>
                  </a:ext>
                </a:extLst>
              </a:tr>
              <a:tr h="277419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 }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Special symbols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507948"/>
                  </a:ext>
                </a:extLst>
              </a:tr>
              <a:tr h="277419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Identifier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1660740"/>
                  </a:ext>
                </a:extLst>
              </a:tr>
              <a:tr h="277419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7339618"/>
                  </a:ext>
                </a:extLst>
              </a:tr>
              <a:tr h="277419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Constant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7525991"/>
                  </a:ext>
                </a:extLst>
              </a:tr>
              <a:tr h="277419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Special symbol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1859466"/>
                  </a:ext>
                </a:extLst>
              </a:tr>
              <a:tr h="485482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float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Keyword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8188793"/>
                  </a:ext>
                </a:extLst>
              </a:tr>
              <a:tr h="277419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Identifier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0387804"/>
                  </a:ext>
                </a:extLst>
              </a:tr>
              <a:tr h="277419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99.5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Constant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8063202"/>
                  </a:ext>
                </a:extLst>
              </a:tr>
              <a:tr h="277419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printf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Identifier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9868221"/>
                  </a:ext>
                </a:extLst>
              </a:tr>
              <a:tr h="277419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"Number: %d\n"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 constant</a:t>
                      </a:r>
                    </a:p>
                  </a:txBody>
                  <a:tcPr marL="55943" marR="55943" marT="27972" marB="279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74912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3033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124" y="1286563"/>
            <a:ext cx="8946541" cy="5314534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variable in C is a named memory location used to store data.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value can change during program execution.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must be declared before use.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data_type</a:t>
            </a: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variable_name</a:t>
            </a:r>
            <a:r>
              <a:rPr lang="en-US" sz="28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age;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float marks;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 grade;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7141191" y="4335420"/>
            <a:ext cx="6096000" cy="206210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Initialization of Variables</a:t>
            </a:r>
            <a:endParaRPr lang="en-US"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 = 20;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 pi = 3.14;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grade = 'A';</a:t>
            </a:r>
            <a:endParaRPr lang="en-US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893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97" y="478843"/>
            <a:ext cx="9404723" cy="1400530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-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 for Naming Variables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415" y="1556529"/>
            <a:ext cx="10243956" cy="5061985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Must </a:t>
            </a: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with a letter or underscore (_).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sz="28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age, _count | 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1number)</a:t>
            </a:r>
          </a:p>
          <a:p>
            <a:pPr marL="0" indent="0">
              <a:buNone/>
            </a:pPr>
            <a:r>
              <a:rPr lang="en-US" sz="28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Can </a:t>
            </a: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 letters, digits, and underscore.</a:t>
            </a:r>
          </a:p>
          <a:p>
            <a:pPr marL="0" indent="0">
              <a:buNone/>
            </a:pPr>
            <a:r>
              <a:rPr lang="en-US" sz="28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No </a:t>
            </a: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spaces or special characters.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marks, </a:t>
            </a:r>
            <a:r>
              <a:rPr lang="en-US" sz="28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✅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total_marks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sz="28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Cannot </a:t>
            </a: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 a C keyword.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❌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float;)</a:t>
            </a:r>
          </a:p>
          <a:p>
            <a:pPr marL="0" indent="0">
              <a:buNone/>
            </a:pPr>
            <a:r>
              <a:rPr lang="en-US" sz="28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Case-sensitive </a:t>
            </a: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(Age and age are different).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0580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1" y="174043"/>
            <a:ext cx="9404723" cy="140053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Variables in C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5667" y="1152983"/>
            <a:ext cx="8946541" cy="4195481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</a:t>
            </a:r>
            <a:r>
              <a:rPr lang="en-IN" sz="28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Local Variables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inside a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or block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only within that block.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70263" y="3649748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 = 10; </a:t>
            </a: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local variable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("x = %d", x);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7019108" y="1881257"/>
            <a:ext cx="5172892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Global Variables</a:t>
            </a:r>
            <a:endParaRPr 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Declared outside all functions.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 from any function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= 20; 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global variable</a:t>
            </a:r>
            <a:endParaRPr lang="en-US" sz="2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("y = %d", y);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501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404723" cy="1400530"/>
          </a:xfrm>
        </p:spPr>
        <p:txBody>
          <a:bodyPr/>
          <a:lstStyle/>
          <a:p>
            <a:r>
              <a:rPr lang="en-IN" sz="4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44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onstants </a:t>
            </a:r>
            <a:r>
              <a:rPr lang="en-IN" sz="4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920" y="851135"/>
            <a:ext cx="12070080" cy="60068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declare a constant variable, it must be assigned with a value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MAX_VALUE = 100;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float PI = 3.14159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not to use </a:t>
            </a:r>
            <a:r>
              <a:rPr lang="en-US" sz="28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endParaRPr lang="en-US" sz="28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myNum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15; //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myNum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always be 15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myNum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10;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error: assignment of read-only variable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myNum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minutesPerHour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minutesPerHour</a:t>
            </a:r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60;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error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8678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" y="165463"/>
            <a:ext cx="9404723" cy="1400530"/>
          </a:xfrm>
        </p:spPr>
        <p:txBody>
          <a:bodyPr/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symbolic constants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" y="1034016"/>
            <a:ext cx="12131040" cy="5331950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 programming, a symbolic constant is a name that represents a constant value.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Instead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writing a number or value directly in the program, we give it a meaningful name.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readability, maintainability, and reduces errors if the value needs to be changed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later</a:t>
            </a:r>
          </a:p>
          <a:p>
            <a:pPr marL="0" indent="0" algn="just">
              <a:buNone/>
            </a:pPr>
            <a:r>
              <a:rPr lang="en-US" sz="2400" b="1" u="sng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endParaRPr lang="en-US" sz="2400" b="1" u="sng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IN" sz="2400" u="sng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#define </a:t>
            </a:r>
            <a:r>
              <a:rPr lang="en-IN" sz="2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value</a:t>
            </a:r>
          </a:p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31771" y="3441680"/>
            <a:ext cx="919625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#define PI 3.14159</a:t>
            </a:r>
          </a:p>
          <a:p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#define MAX </a:t>
            </a:r>
            <a:r>
              <a:rPr lang="en-IN" sz="24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float area, radius = 5;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area = </a:t>
            </a:r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radius * radius; 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//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 is replaced by 3.14159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("Area of Circle =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%f \n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area);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("Maximum Limit = %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 \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n", </a:t>
            </a:r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  }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6744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377" y="148045"/>
            <a:ext cx="11904617" cy="1400530"/>
          </a:xfrm>
        </p:spPr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and output with 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 -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Formatted I/O Functions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004" y="983594"/>
            <a:ext cx="11588442" cy="4195481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2400" b="1" dirty="0" err="1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4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functions are part of &lt;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 library.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– Output function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display data (text, numbers, characters, etc.) on the screen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("control string", variable1, variable2, ...);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2.scanf()</a:t>
            </a:r>
            <a:endParaRPr lang="en-US" sz="28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42004" y="4486577"/>
            <a:ext cx="822693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– Input function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take input from user.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("control string", &amp;variable1, &amp;variable2, ...);</a:t>
            </a:r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5152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503" y="174171"/>
            <a:ext cx="9404723" cy="140053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Strings and Escape Sequences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912" y="1112393"/>
            <a:ext cx="11889877" cy="5497413"/>
          </a:xfrm>
        </p:spPr>
        <p:txBody>
          <a:bodyPr/>
          <a:lstStyle/>
          <a:p>
            <a:pPr algn="just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strings = "format specifiers + escape sequences" used in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string contains format specifiers (like 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%d, %f, %</a:t>
            </a:r>
            <a:r>
              <a:rPr lang="en-US" sz="28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c, %s, %lf, %x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escape sequences.</a:t>
            </a:r>
          </a:p>
          <a:p>
            <a:pPr algn="just">
              <a:spcBef>
                <a:spcPts val="0"/>
              </a:spcBef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Escape sequences are special character combinations starting with \.</a:t>
            </a:r>
          </a:p>
          <a:p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9015386"/>
              </p:ext>
            </p:extLst>
          </p:nvPr>
        </p:nvGraphicFramePr>
        <p:xfrm>
          <a:off x="333289" y="2974861"/>
          <a:ext cx="5475328" cy="3504319"/>
        </p:xfrm>
        <a:graphic>
          <a:graphicData uri="http://schemas.openxmlformats.org/drawingml/2006/table">
            <a:tbl>
              <a:tblPr/>
              <a:tblGrid>
                <a:gridCol w="2737664">
                  <a:extLst>
                    <a:ext uri="{9D8B030D-6E8A-4147-A177-3AD203B41FA5}">
                      <a16:colId xmlns:a16="http://schemas.microsoft.com/office/drawing/2014/main" val="4268092350"/>
                    </a:ext>
                  </a:extLst>
                </a:gridCol>
                <a:gridCol w="2737664">
                  <a:extLst>
                    <a:ext uri="{9D8B030D-6E8A-4147-A177-3AD203B41FA5}">
                      <a16:colId xmlns:a16="http://schemas.microsoft.com/office/drawing/2014/main" val="1732465059"/>
                    </a:ext>
                  </a:extLst>
                </a:gridCol>
              </a:tblGrid>
              <a:tr h="500617">
                <a:tc>
                  <a:txBody>
                    <a:bodyPr/>
                    <a:lstStyle/>
                    <a:p>
                      <a:r>
                        <a:rPr lang="en-IN" sz="2400" b="1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Escape Sequence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2048347"/>
                  </a:ext>
                </a:extLst>
              </a:tr>
              <a:tr h="500617"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5094365"/>
                  </a:ext>
                </a:extLst>
              </a:tr>
              <a:tr h="500617"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Horizontal tab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5669492"/>
                  </a:ext>
                </a:extLst>
              </a:tr>
              <a:tr h="500617"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Backspace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3606826"/>
                  </a:ext>
                </a:extLst>
              </a:tr>
              <a:tr h="500617"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\\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Backslash (\)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3372980"/>
                  </a:ext>
                </a:extLst>
              </a:tr>
              <a:tr h="500617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 quote (")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361674"/>
                  </a:ext>
                </a:extLst>
              </a:tr>
              <a:tr h="500617"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\'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quote (')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2184591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659381" y="3545905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("Hello\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nWorld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\n");   // newline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("A\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tB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\n");       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//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 space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("He said, \"Hi!\"\n"); // quotes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92405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90335" y="3595190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     B       C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said, "Hi</a:t>
            </a:r>
            <a:r>
              <a:rPr lang="en-IN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!“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85832" y="2887304"/>
            <a:ext cx="178286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4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2124890" y="461602"/>
            <a:ext cx="777675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also control width &amp; precision: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%5d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prints an integer in 5 spaces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%.2f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prints float with 2 decimal places</a:t>
            </a:r>
            <a:endParaRPr lang="en-US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638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404723" cy="1400530"/>
          </a:xfrm>
        </p:spPr>
        <p:txBody>
          <a:bodyPr/>
          <a:lstStyle/>
          <a:p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Unformatted I/O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409" y="825009"/>
            <a:ext cx="11994380" cy="4195481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unformatted functions deal with single character or string input/output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56754" y="1563905"/>
            <a:ext cx="6096000" cy="427809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(a) </a:t>
            </a:r>
            <a:r>
              <a:rPr lang="en-US" sz="24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getchar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a single character from keyboard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("Enter a character: ");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getchar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r>
              <a:rPr lang="en-US" sz="24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reads single character</a:t>
            </a:r>
            <a:endParaRPr lang="en-US" b="1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("You entered: %c\n",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15497" y="1748571"/>
            <a:ext cx="6096000" cy="390876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(b) </a:t>
            </a:r>
            <a:r>
              <a:rPr lang="en-IN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putchar</a:t>
            </a:r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Prints a single character on screen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'A';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putchar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r>
              <a:rPr lang="en-IN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prints A</a:t>
            </a:r>
            <a:endParaRPr lang="en-IN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putchar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('\n'); </a:t>
            </a:r>
            <a:r>
              <a:rPr lang="en-IN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newline</a:t>
            </a:r>
            <a:endParaRPr lang="en-IN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325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Unformatted I/O Functions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46111" y="1639112"/>
            <a:ext cx="824534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puts</a:t>
            </a:r>
            <a:r>
              <a:rPr lang="en-US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4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Prints a string followed by a newline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name[] =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“NIPE";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puts(name); </a:t>
            </a:r>
            <a:r>
              <a:rPr lang="en-US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prints string</a:t>
            </a:r>
            <a:endParaRPr lang="en-US" sz="24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004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078" y="113084"/>
            <a:ext cx="9404723" cy="1400530"/>
          </a:xfrm>
        </p:spPr>
        <p:txBody>
          <a:bodyPr/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 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409" y="929513"/>
            <a:ext cx="11959545" cy="52013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performs a certain operation on operands. An operator needs one or more operands for the operation to be performed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3 types of operators in C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Unary </a:t>
            </a: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</a:t>
            </a: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Ternary </a:t>
            </a:r>
            <a:r>
              <a:rPr lang="en-IN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</a:p>
          <a:p>
            <a:pPr marL="0" indent="0">
              <a:buNone/>
            </a:pPr>
            <a:r>
              <a:rPr lang="en-IN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Unary operators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this type, the operates executes only with single operand</a:t>
            </a:r>
          </a:p>
          <a:p>
            <a:pPr marL="0" indent="0"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Ex:-  </a:t>
            </a:r>
            <a:r>
              <a:rPr lang="en-US" sz="32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++, --</a:t>
            </a:r>
            <a:endParaRPr lang="en-IN" sz="32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246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9541"/>
            <a:ext cx="9404723" cy="1400530"/>
          </a:xfrm>
        </p:spPr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operators</a:t>
            </a:r>
            <a:b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038" y="1022355"/>
            <a:ext cx="11916002" cy="5944503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inary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 is an operator that requires two operands to perform an operation and produce a result. 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Binary operators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Operators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Operators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Operators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Bitwise Operators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Operators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24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369" y="206190"/>
            <a:ext cx="11336883" cy="1400530"/>
          </a:xfrm>
        </p:spPr>
        <p:txBody>
          <a:bodyPr/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operators </a:t>
            </a:r>
            <a:r>
              <a:rPr lang="en-IN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Arithmetic </a:t>
            </a:r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368" y="1152983"/>
            <a:ext cx="12325306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operators (+, -, *, /, %). These operators perform mathematical calculations on numerical data such as addition, subtraction, multiplication, division, and finding the remainder.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3145" y="2832187"/>
            <a:ext cx="7544454" cy="333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343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operators - </a:t>
            </a:r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Arithmetic Operators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1992858"/>
              </p:ext>
            </p:extLst>
          </p:nvPr>
        </p:nvGraphicFramePr>
        <p:xfrm>
          <a:off x="0" y="1853248"/>
          <a:ext cx="11980508" cy="4584876"/>
        </p:xfrm>
        <a:graphic>
          <a:graphicData uri="http://schemas.openxmlformats.org/drawingml/2006/table">
            <a:tbl>
              <a:tblPr/>
              <a:tblGrid>
                <a:gridCol w="2995127">
                  <a:extLst>
                    <a:ext uri="{9D8B030D-6E8A-4147-A177-3AD203B41FA5}">
                      <a16:colId xmlns:a16="http://schemas.microsoft.com/office/drawing/2014/main" val="1012304672"/>
                    </a:ext>
                  </a:extLst>
                </a:gridCol>
                <a:gridCol w="2995127">
                  <a:extLst>
                    <a:ext uri="{9D8B030D-6E8A-4147-A177-3AD203B41FA5}">
                      <a16:colId xmlns:a16="http://schemas.microsoft.com/office/drawing/2014/main" val="3993406312"/>
                    </a:ext>
                  </a:extLst>
                </a:gridCol>
                <a:gridCol w="2995127">
                  <a:extLst>
                    <a:ext uri="{9D8B030D-6E8A-4147-A177-3AD203B41FA5}">
                      <a16:colId xmlns:a16="http://schemas.microsoft.com/office/drawing/2014/main" val="1326324708"/>
                    </a:ext>
                  </a:extLst>
                </a:gridCol>
                <a:gridCol w="2995127">
                  <a:extLst>
                    <a:ext uri="{9D8B030D-6E8A-4147-A177-3AD203B41FA5}">
                      <a16:colId xmlns:a16="http://schemas.microsoft.com/office/drawing/2014/main" val="3485504048"/>
                    </a:ext>
                  </a:extLst>
                </a:gridCol>
              </a:tblGrid>
              <a:tr h="1069804">
                <a:tc>
                  <a:txBody>
                    <a:bodyPr/>
                    <a:lstStyle/>
                    <a:p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 if </a:t>
                      </a:r>
                      <a:r>
                        <a:rPr lang="en-US" sz="24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= 10, b =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8772109"/>
                  </a:ext>
                </a:extLst>
              </a:tr>
              <a:tr h="611317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+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2709847"/>
                  </a:ext>
                </a:extLst>
              </a:tr>
              <a:tr h="611317">
                <a:tc>
                  <a:txBody>
                    <a:bodyPr/>
                    <a:lstStyle/>
                    <a:p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Subtraction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-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1269663"/>
                  </a:ext>
                </a:extLst>
              </a:tr>
              <a:tr h="611317">
                <a:tc>
                  <a:txBody>
                    <a:bodyPr/>
                    <a:lstStyle/>
                    <a:p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*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4112188"/>
                  </a:ext>
                </a:extLst>
              </a:tr>
              <a:tr h="611317">
                <a:tc>
                  <a:txBody>
                    <a:bodyPr/>
                    <a:lstStyle/>
                    <a:p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Division (quotient)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/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(integer division)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4323545"/>
                  </a:ext>
                </a:extLst>
              </a:tr>
              <a:tr h="1069804">
                <a:tc>
                  <a:txBody>
                    <a:bodyPr/>
                    <a:lstStyle/>
                    <a:p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Modulus (remainder)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%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064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6938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24"/>
            <a:ext cx="9404723" cy="1400530"/>
          </a:xfrm>
        </p:spPr>
        <p:txBody>
          <a:bodyPr/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operators </a:t>
            </a:r>
            <a:r>
              <a:rPr lang="en-IN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40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</a:t>
            </a:r>
            <a:r>
              <a:rPr lang="en-US" sz="4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endParaRPr lang="en-IN" sz="4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345" y="572460"/>
            <a:ext cx="11916002" cy="5532248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operators/Comparison operators in C are commonly used to check the relationship between the two variables.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operators are used to compare two operands and return a boolean value (true or false). They are used in a 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8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oolean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004" y="2428915"/>
            <a:ext cx="10273004" cy="4429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125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6136" y="316947"/>
            <a:ext cx="12278136" cy="1400530"/>
          </a:xfrm>
        </p:spPr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operators - </a:t>
            </a:r>
            <a:r>
              <a:rPr lang="en-US" sz="4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</a:t>
            </a:r>
            <a:r>
              <a:rPr lang="en-US" sz="44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Operators(</a:t>
            </a:r>
            <a:r>
              <a:rPr lang="en-US" sz="3200" b="1" dirty="0" err="1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Comparision</a:t>
            </a:r>
            <a:r>
              <a:rPr lang="en-US" sz="32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Operators</a:t>
            </a:r>
            <a:r>
              <a:rPr lang="en-US" sz="44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709" y="1950098"/>
            <a:ext cx="6372959" cy="490790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655" y="2561120"/>
            <a:ext cx="2977859" cy="319450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677120" y="1816133"/>
            <a:ext cx="20489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36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526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03" y="173933"/>
            <a:ext cx="10214721" cy="1400530"/>
          </a:xfrm>
        </p:spPr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</a:t>
            </a:r>
            <a:r>
              <a:rPr lang="en-IN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 – </a:t>
            </a:r>
            <a:r>
              <a:rPr lang="en-IN" sz="44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Logical operators</a:t>
            </a:r>
            <a:endParaRPr lang="en-IN" sz="4400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274" y="1132551"/>
            <a:ext cx="12105725" cy="5222212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operators are used to combine two or more boolean expressions. We can form a compound Boolean expression by combining Boolean expression with these operators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2106" y="2805893"/>
            <a:ext cx="7953021" cy="3940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310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operators – </a:t>
            </a:r>
            <a:r>
              <a:rPr lang="en-IN" sz="4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Logical operators</a:t>
            </a:r>
            <a:endParaRPr lang="en-IN" dirty="0">
              <a:solidFill>
                <a:srgbClr val="FFFF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767" y="1508015"/>
            <a:ext cx="8006271" cy="5070066"/>
          </a:xfrm>
        </p:spPr>
      </p:pic>
    </p:spTree>
    <p:extLst>
      <p:ext uri="{BB962C8B-B14F-4D97-AF65-F5344CB8AC3E}">
        <p14:creationId xmlns:p14="http://schemas.microsoft.com/office/powerpoint/2010/main" val="1837370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4807"/>
            <a:ext cx="11693215" cy="1400530"/>
          </a:xfrm>
        </p:spPr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operators </a:t>
            </a:r>
            <a:r>
              <a:rPr lang="en-IN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44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operators</a:t>
            </a:r>
            <a:endParaRPr lang="en-IN" sz="4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86168599"/>
              </p:ext>
            </p:extLst>
          </p:nvPr>
        </p:nvGraphicFramePr>
        <p:xfrm>
          <a:off x="573427" y="2145501"/>
          <a:ext cx="11119788" cy="4583175"/>
        </p:xfrm>
        <a:graphic>
          <a:graphicData uri="http://schemas.openxmlformats.org/drawingml/2006/table">
            <a:tbl>
              <a:tblPr/>
              <a:tblGrid>
                <a:gridCol w="2779947">
                  <a:extLst>
                    <a:ext uri="{9D8B030D-6E8A-4147-A177-3AD203B41FA5}">
                      <a16:colId xmlns:a16="http://schemas.microsoft.com/office/drawing/2014/main" val="979596694"/>
                    </a:ext>
                  </a:extLst>
                </a:gridCol>
                <a:gridCol w="2779947">
                  <a:extLst>
                    <a:ext uri="{9D8B030D-6E8A-4147-A177-3AD203B41FA5}">
                      <a16:colId xmlns:a16="http://schemas.microsoft.com/office/drawing/2014/main" val="2884219241"/>
                    </a:ext>
                  </a:extLst>
                </a:gridCol>
                <a:gridCol w="2779947">
                  <a:extLst>
                    <a:ext uri="{9D8B030D-6E8A-4147-A177-3AD203B41FA5}">
                      <a16:colId xmlns:a16="http://schemas.microsoft.com/office/drawing/2014/main" val="2061528543"/>
                    </a:ext>
                  </a:extLst>
                </a:gridCol>
                <a:gridCol w="2779947">
                  <a:extLst>
                    <a:ext uri="{9D8B030D-6E8A-4147-A177-3AD203B41FA5}">
                      <a16:colId xmlns:a16="http://schemas.microsoft.com/office/drawing/2014/main" val="424242415"/>
                    </a:ext>
                  </a:extLst>
                </a:gridCol>
              </a:tblGrid>
              <a:tr h="492729">
                <a:tc>
                  <a:txBody>
                    <a:bodyPr/>
                    <a:lstStyle/>
                    <a:p>
                      <a:r>
                        <a:rPr lang="en-IN" sz="28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Equivalent 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4866595"/>
                  </a:ext>
                </a:extLst>
              </a:tr>
              <a:tr h="492729"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= b;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0579894"/>
                  </a:ext>
                </a:extLst>
              </a:tr>
              <a:tr h="492729"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and assign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+= b;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= a + b;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7739017"/>
                  </a:ext>
                </a:extLst>
              </a:tr>
              <a:tr h="862276"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Subtract and assign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-= b;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= a - b;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1576515"/>
                  </a:ext>
                </a:extLst>
              </a:tr>
              <a:tr h="862276"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Multiply and assign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*= b;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= a * b;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3797"/>
                  </a:ext>
                </a:extLst>
              </a:tr>
              <a:tr h="492729"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Divide and assign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/= b;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= a / b;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6665826"/>
                  </a:ext>
                </a:extLst>
              </a:tr>
              <a:tr h="862276"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Modulus and assign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%= b;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= a % b;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2231420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4644" y="945172"/>
            <a:ext cx="1211735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C, assignment operators are used to assign values to variables. The basic assignment operator is =, and there are also compound assignment operators that combine an arithmetic operation with assignment.</a:t>
            </a:r>
          </a:p>
        </p:txBody>
      </p:sp>
    </p:spTree>
    <p:extLst>
      <p:ext uri="{BB962C8B-B14F-4D97-AF65-F5344CB8AC3E}">
        <p14:creationId xmlns:p14="http://schemas.microsoft.com/office/powerpoint/2010/main" val="4010906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906"/>
            <a:ext cx="9404723" cy="1400530"/>
          </a:xfrm>
        </p:spPr>
        <p:txBody>
          <a:bodyPr/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operators - </a:t>
            </a:r>
            <a:r>
              <a:rPr lang="en-US" sz="4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Assignment operators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13" y="718170"/>
            <a:ext cx="11222428" cy="64943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= 10, b = 5</a:t>
            </a:r>
            <a:r>
              <a:rPr lang="en-IN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("Initial value of a: %d\n", a</a:t>
            </a:r>
            <a:r>
              <a:rPr lang="en-IN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1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 += b;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a = a + b</a:t>
            </a:r>
          </a:p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("After a += b: %d\n", a</a:t>
            </a:r>
            <a:r>
              <a:rPr lang="en-IN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1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*= 2;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a = a * 2</a:t>
            </a:r>
          </a:p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("After a *= 2: %d\n", a</a:t>
            </a:r>
            <a:r>
              <a:rPr lang="en-IN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IN" sz="21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 -= 5; </a:t>
            </a:r>
            <a:r>
              <a:rPr lang="en-IN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 a = a - 5</a:t>
            </a:r>
          </a:p>
          <a:p>
            <a:pPr marL="0" indent="0">
              <a:buNone/>
            </a:pPr>
            <a:r>
              <a:rPr lang="en-IN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("After a -= 5: %d\n", a);</a:t>
            </a:r>
          </a:p>
          <a:p>
            <a:pPr marL="0" indent="0">
              <a:buNone/>
            </a:pPr>
            <a:r>
              <a:rPr lang="en-IN" sz="21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 /= 2; </a:t>
            </a:r>
            <a:r>
              <a:rPr lang="en-IN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 a = a / 2</a:t>
            </a:r>
          </a:p>
          <a:p>
            <a:pPr marL="0" indent="0">
              <a:buNone/>
            </a:pPr>
            <a:r>
              <a:rPr lang="en-IN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1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("After a /= 2: %d\n", a);</a:t>
            </a:r>
          </a:p>
          <a:p>
            <a:pPr marL="0" indent="0">
              <a:buNone/>
            </a:pPr>
            <a:r>
              <a:rPr lang="en-IN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</a:p>
          <a:p>
            <a:pPr marL="0" indent="0">
              <a:buNone/>
            </a:pPr>
            <a:r>
              <a:rPr lang="en-IN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441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98297"/>
            <a:ext cx="9404723" cy="1400530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Bitwise Operators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0" y="518500"/>
            <a:ext cx="11707618" cy="5650261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Bitwise operators perform operations bit by bit on integers (binary representation).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work faster and directly manipulate the bits (0s and 1s) of a number.</a:t>
            </a:r>
          </a:p>
          <a:p>
            <a:endParaRPr lang="en-IN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178034"/>
              </p:ext>
            </p:extLst>
          </p:nvPr>
        </p:nvGraphicFramePr>
        <p:xfrm>
          <a:off x="71137" y="1521569"/>
          <a:ext cx="8494364" cy="5441616"/>
        </p:xfrm>
        <a:graphic>
          <a:graphicData uri="http://schemas.openxmlformats.org/drawingml/2006/table">
            <a:tbl>
              <a:tblPr/>
              <a:tblGrid>
                <a:gridCol w="2123591">
                  <a:extLst>
                    <a:ext uri="{9D8B030D-6E8A-4147-A177-3AD203B41FA5}">
                      <a16:colId xmlns:a16="http://schemas.microsoft.com/office/drawing/2014/main" val="2455933811"/>
                    </a:ext>
                  </a:extLst>
                </a:gridCol>
                <a:gridCol w="2123591">
                  <a:extLst>
                    <a:ext uri="{9D8B030D-6E8A-4147-A177-3AD203B41FA5}">
                      <a16:colId xmlns:a16="http://schemas.microsoft.com/office/drawing/2014/main" val="2692985016"/>
                    </a:ext>
                  </a:extLst>
                </a:gridCol>
                <a:gridCol w="2123591">
                  <a:extLst>
                    <a:ext uri="{9D8B030D-6E8A-4147-A177-3AD203B41FA5}">
                      <a16:colId xmlns:a16="http://schemas.microsoft.com/office/drawing/2014/main" val="2179782931"/>
                    </a:ext>
                  </a:extLst>
                </a:gridCol>
                <a:gridCol w="2123591">
                  <a:extLst>
                    <a:ext uri="{9D8B030D-6E8A-4147-A177-3AD203B41FA5}">
                      <a16:colId xmlns:a16="http://schemas.microsoft.com/office/drawing/2014/main" val="511331002"/>
                    </a:ext>
                  </a:extLst>
                </a:gridCol>
              </a:tblGrid>
              <a:tr h="354902"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</a:p>
                  </a:txBody>
                  <a:tcPr marL="80688" marR="80688" marT="40344" marB="40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80688" marR="80688" marT="40344" marB="40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b="1" dirty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80688" marR="80688" marT="40344" marB="40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 smtClean="0">
                          <a:solidFill>
                            <a:srgbClr val="FFFF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  <a:endParaRPr lang="en-IN" sz="2000" b="1" dirty="0">
                        <a:solidFill>
                          <a:srgbClr val="FFFF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688" marR="80688" marT="40344" marB="40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9530173"/>
                  </a:ext>
                </a:extLst>
              </a:tr>
              <a:tr h="635518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</a:t>
                      </a:r>
                    </a:p>
                  </a:txBody>
                  <a:tcPr marL="80688" marR="80688" marT="40344" marB="40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</a:p>
                  </a:txBody>
                  <a:tcPr marL="80688" marR="80688" marT="40344" marB="40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Sets each bit to 1 if both bits are 1</a:t>
                      </a:r>
                    </a:p>
                  </a:txBody>
                  <a:tcPr marL="80688" marR="80688" marT="40344" marB="40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I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&amp; B)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688" marR="80688" marT="40344" marB="40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0059700"/>
                  </a:ext>
                </a:extLst>
              </a:tr>
              <a:tr h="354902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|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688" marR="80688" marT="40344" marB="40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688" marR="80688" marT="40344" marB="40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</a:t>
                      </a:r>
                    </a:p>
                  </a:txBody>
                  <a:tcPr marL="80688" marR="80688" marT="40344" marB="40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(A | B)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688" marR="80688" marT="40344" marB="40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5062459"/>
                  </a:ext>
                </a:extLst>
              </a:tr>
              <a:tr h="916134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^</a:t>
                      </a:r>
                    </a:p>
                  </a:txBody>
                  <a:tcPr marL="80688" marR="80688" marT="40344" marB="40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XOR (Exclusive)</a:t>
                      </a:r>
                    </a:p>
                  </a:txBody>
                  <a:tcPr marL="80688" marR="80688" marT="40344" marB="40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Sets each bit to 1 if only one of the bits is 1 (not both)</a:t>
                      </a:r>
                    </a:p>
                  </a:txBody>
                  <a:tcPr marL="80688" marR="80688" marT="40344" marB="40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(A ^ B)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688" marR="80688" marT="40344" marB="40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9981702"/>
                  </a:ext>
                </a:extLst>
              </a:tr>
              <a:tr h="916134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</a:p>
                  </a:txBody>
                  <a:tcPr marL="80688" marR="80688" marT="40344" marB="40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(1's comp)</a:t>
                      </a:r>
                    </a:p>
                  </a:txBody>
                  <a:tcPr marL="80688" marR="80688" marT="40344" marB="40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Inverts all bits (1 becomes 0, 0 becomes 1)</a:t>
                      </a:r>
                    </a:p>
                  </a:txBody>
                  <a:tcPr marL="80688" marR="80688" marT="40344" marB="40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~A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688" marR="80688" marT="40344" marB="40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1795227"/>
                  </a:ext>
                </a:extLst>
              </a:tr>
              <a:tr h="635518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&lt;&lt;</a:t>
                      </a:r>
                    </a:p>
                  </a:txBody>
                  <a:tcPr marL="80688" marR="80688" marT="40344" marB="40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Left Shift</a:t>
                      </a:r>
                    </a:p>
                  </a:txBody>
                  <a:tcPr marL="80688" marR="80688" marT="40344" marB="40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Shifts bits to the left, fills with 0s</a:t>
                      </a:r>
                    </a:p>
                  </a:txBody>
                  <a:tcPr marL="80688" marR="80688" marT="40344" marB="40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&lt;&lt; 2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688" marR="80688" marT="40344" marB="40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3505960"/>
                  </a:ext>
                </a:extLst>
              </a:tr>
              <a:tr h="1196751"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&gt;&gt;</a:t>
                      </a:r>
                    </a:p>
                  </a:txBody>
                  <a:tcPr marL="80688" marR="80688" marT="40344" marB="40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Right Shift</a:t>
                      </a:r>
                    </a:p>
                  </a:txBody>
                  <a:tcPr marL="80688" marR="80688" marT="40344" marB="40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Shifts bits to the right, fills with 0s (for unsigned numbers)</a:t>
                      </a:r>
                    </a:p>
                  </a:txBody>
                  <a:tcPr marL="80688" marR="80688" marT="40344" marB="40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&gt;&gt; 2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0688" marR="80688" marT="40344" marB="4034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4220871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092750" y="2887739"/>
            <a:ext cx="439782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&amp;: both bits must be 1.</a:t>
            </a: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|: either bit must be 1.</a:t>
            </a: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^: exactly one bit is 1.</a:t>
            </a: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~: flips all bits.</a:t>
            </a: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&lt;&lt;: multiply by 2 for each shift.</a:t>
            </a:r>
            <a:endParaRPr lang="en-US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&gt;&gt;: divide by 2 for each shift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570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404723" cy="140053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Bitwise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 - </a:t>
            </a:r>
            <a:r>
              <a:rPr lang="en-US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endParaRPr lang="en-IN" b="1" dirty="0">
              <a:solidFill>
                <a:srgbClr val="FFFF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80999" y="1167265"/>
            <a:ext cx="8642723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5 (binary: 0101)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3 (binary: 0011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0101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0011 (3)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----</a:t>
            </a:r>
          </a:p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0001 = </a:t>
            </a:r>
            <a:r>
              <a:rPr lang="en-US" sz="2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&amp; b = 1</a:t>
            </a:r>
            <a:endParaRPr lang="en-US" sz="2400" b="1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71322" y="1400530"/>
            <a:ext cx="663717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32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32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r>
              <a:rPr lang="en-US" sz="32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= 5, b = 3;</a:t>
            </a:r>
          </a:p>
          <a:p>
            <a:r>
              <a:rPr lang="en-US" sz="32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("a &amp; b = %d\n", a &amp; b);</a:t>
            </a:r>
          </a:p>
          <a:p>
            <a:r>
              <a:rPr lang="en-US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</a:p>
          <a:p>
            <a:r>
              <a:rPr lang="en-US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85715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Bitwise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 | , ^ (OR,XOR)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74171" y="2495280"/>
            <a:ext cx="6096000" cy="38472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printf("a | b = %d\n", a | b</a:t>
            </a:r>
            <a:r>
              <a:rPr lang="pt-BR" sz="28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pt-B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Binary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0101 (5</a:t>
            </a:r>
            <a:r>
              <a:rPr lang="pt-B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0011 (3)</a:t>
            </a: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</a:p>
          <a:p>
            <a:r>
              <a:rPr lang="pt-BR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0111 = </a:t>
            </a:r>
            <a:r>
              <a:rPr lang="pt-BR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  <a:p>
            <a:endParaRPr lang="pt-B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| b = </a:t>
            </a:r>
            <a:r>
              <a:rPr lang="pt-BR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97216" y="2495280"/>
            <a:ext cx="6096000" cy="34778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printf("a ^ b = %d\n", a ^ b</a:t>
            </a:r>
            <a:r>
              <a:rPr lang="pt-BR" sz="28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pt-B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Binary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0101 (5)</a:t>
            </a: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0011 (3)</a:t>
            </a: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---</a:t>
            </a:r>
          </a:p>
          <a:p>
            <a:r>
              <a:rPr lang="pt-B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0110 = </a:t>
            </a:r>
            <a:r>
              <a:rPr lang="pt-BR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^ b = 6</a:t>
            </a:r>
          </a:p>
        </p:txBody>
      </p:sp>
    </p:spTree>
    <p:extLst>
      <p:ext uri="{BB962C8B-B14F-4D97-AF65-F5344CB8AC3E}">
        <p14:creationId xmlns:p14="http://schemas.microsoft.com/office/powerpoint/2010/main" val="2252564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Bitwise Operators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07572" y="2039860"/>
            <a:ext cx="6096000" cy="2985433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pt-B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printf("a &lt;&lt; 1 = %d\n", a &lt;&lt; 1</a:t>
            </a:r>
            <a:r>
              <a:rPr lang="pt-BR" sz="32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pt-B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Binary</a:t>
            </a:r>
            <a:endParaRPr lang="pt-BR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0101 &lt;&lt; 1 = 1010 = </a:t>
            </a:r>
            <a:r>
              <a:rPr lang="pt-B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&lt;&lt; 1 = </a:t>
            </a:r>
            <a:r>
              <a:rPr lang="pt-B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52862" y="2347637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printf("a &gt;&gt; 1 = %d\n", a &gt;&gt; 1</a:t>
            </a:r>
            <a:r>
              <a:rPr lang="pt-BR" sz="32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endParaRPr lang="pt-BR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2400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Binary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0101 &gt;&gt; 1 = 0010 = </a:t>
            </a:r>
            <a:r>
              <a:rPr lang="pt-B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&gt;&gt; 1 = 2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926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11" y="144808"/>
            <a:ext cx="9404723" cy="1400530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Ternary Operator - </a:t>
            </a:r>
            <a:r>
              <a:rPr lang="en-US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911" y="1007889"/>
            <a:ext cx="12003089" cy="5924756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ternary operator (?:) in C is a type of conditional operator. The term "ternary" implies that the operator has three operands.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ternary operator is often used to put multiple conditional (if-else) statements in a more compact manner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 of Ternary Operator in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</a:p>
          <a:p>
            <a:pPr marL="0" indent="0">
              <a:buNone/>
            </a:pPr>
            <a:r>
              <a:rPr lang="en-IN" sz="28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 </a:t>
            </a:r>
            <a:r>
              <a:rPr lang="en-IN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exp2 : </a:t>
            </a:r>
            <a:r>
              <a:rPr lang="en-IN" sz="28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exp3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three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operands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−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− A Boolean expression evaluating to true or false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− Returned by the ? operator when exp1 is true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exp3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− Returned by the ? operator when exp1 is false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4135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Ternary Operator - </a:t>
            </a:r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633041"/>
            <a:ext cx="12342101" cy="41954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pPr marL="0" indent="0">
              <a:buNone/>
            </a:pPr>
            <a:r>
              <a:rPr lang="en-US" sz="3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10;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% 2 == 0) ? </a:t>
            </a:r>
            <a:r>
              <a:rPr lang="en-US" sz="32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("%d is Even \n", a) : </a:t>
            </a:r>
            <a:r>
              <a:rPr lang="en-US" sz="3200" b="1" dirty="0" err="1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("%d is Odd \n", a); </a:t>
            </a:r>
            <a:endParaRPr lang="en-US" sz="3200" b="1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0; 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041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43" y="303428"/>
            <a:ext cx="11996869" cy="1400530"/>
          </a:xfrm>
        </p:spPr>
        <p:txBody>
          <a:bodyPr/>
          <a:lstStyle/>
          <a:p>
            <a:r>
              <a:rPr lang="en-IN" sz="4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44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ecision-making statements (Conditional statements)</a:t>
            </a:r>
            <a:endParaRPr lang="en-IN" sz="4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43" y="1922289"/>
            <a:ext cx="11909782" cy="5047678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 programming,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 statements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to control the flow of execution based on certain conditions.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 allow the program to make choices and execute different blocks of code depending on whether a condition is true or false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the following 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 and operators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 the decision-making statements of a C program − 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800" b="1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goto</a:t>
            </a: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?: operator</a:t>
            </a: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 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statements.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896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12758"/>
            <a:ext cx="12192000" cy="1400530"/>
          </a:xfrm>
        </p:spPr>
        <p:txBody>
          <a:bodyPr/>
          <a:lstStyle/>
          <a:p>
            <a:r>
              <a:rPr lang="en-IN" sz="4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 statements (Conditional statements)</a:t>
            </a:r>
            <a:endParaRPr lang="en-IN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882962"/>
              </p:ext>
            </p:extLst>
          </p:nvPr>
        </p:nvGraphicFramePr>
        <p:xfrm>
          <a:off x="139960" y="1013024"/>
          <a:ext cx="11280708" cy="56842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0177">
                  <a:extLst>
                    <a:ext uri="{9D8B030D-6E8A-4147-A177-3AD203B41FA5}">
                      <a16:colId xmlns:a16="http://schemas.microsoft.com/office/drawing/2014/main" val="668074760"/>
                    </a:ext>
                  </a:extLst>
                </a:gridCol>
                <a:gridCol w="2820177">
                  <a:extLst>
                    <a:ext uri="{9D8B030D-6E8A-4147-A177-3AD203B41FA5}">
                      <a16:colId xmlns:a16="http://schemas.microsoft.com/office/drawing/2014/main" val="3358689525"/>
                    </a:ext>
                  </a:extLst>
                </a:gridCol>
                <a:gridCol w="2820177">
                  <a:extLst>
                    <a:ext uri="{9D8B030D-6E8A-4147-A177-3AD203B41FA5}">
                      <a16:colId xmlns:a16="http://schemas.microsoft.com/office/drawing/2014/main" val="1014875570"/>
                    </a:ext>
                  </a:extLst>
                </a:gridCol>
                <a:gridCol w="2820177">
                  <a:extLst>
                    <a:ext uri="{9D8B030D-6E8A-4147-A177-3AD203B41FA5}">
                      <a16:colId xmlns:a16="http://schemas.microsoft.com/office/drawing/2014/main" val="4063321349"/>
                    </a:ext>
                  </a:extLst>
                </a:gridCol>
              </a:tblGrid>
              <a:tr h="443510"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Statement</a:t>
                      </a:r>
                    </a:p>
                  </a:txBody>
                  <a:tcPr marL="53792" marR="53792" marT="26896" marB="26896"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Syntax Overview</a:t>
                      </a:r>
                    </a:p>
                  </a:txBody>
                  <a:tcPr marL="53792" marR="53792" marT="26896" marB="26896" anchor="ctr"/>
                </a:tc>
                <a:tc>
                  <a:txBody>
                    <a:bodyPr/>
                    <a:lstStyle/>
                    <a:p>
                      <a:r>
                        <a:rPr lang="en-IN" sz="2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L="53792" marR="53792" marT="26896" marB="26896" anchor="ctr"/>
                </a:tc>
                <a:tc>
                  <a:txBody>
                    <a:bodyPr/>
                    <a:lstStyle/>
                    <a:p>
                      <a:r>
                        <a:rPr lang="en-IN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 Case Example</a:t>
                      </a:r>
                    </a:p>
                  </a:txBody>
                  <a:tcPr marL="53792" marR="53792" marT="26896" marB="26896" anchor="ctr"/>
                </a:tc>
                <a:extLst>
                  <a:ext uri="{0D108BD9-81ED-4DB2-BD59-A6C34878D82A}">
                    <a16:rowId xmlns:a16="http://schemas.microsoft.com/office/drawing/2014/main" val="3410794288"/>
                  </a:ext>
                </a:extLst>
              </a:tr>
              <a:tr h="593614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</a:t>
                      </a:r>
                    </a:p>
                  </a:txBody>
                  <a:tcPr marL="53792" marR="53792" marT="26896" marB="26896"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(condition) { ... }</a:t>
                      </a:r>
                    </a:p>
                  </a:txBody>
                  <a:tcPr marL="53792" marR="53792" marT="26896" marB="26896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Executes a block </a:t>
                      </a: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 if the condition is true</a:t>
                      </a:r>
                      <a:endParaRPr lang="en-US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92" marR="53792" marT="26896" marB="26896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if a number is positive</a:t>
                      </a:r>
                    </a:p>
                  </a:txBody>
                  <a:tcPr marL="53792" marR="53792" marT="26896" marB="26896" anchor="ctr"/>
                </a:tc>
                <a:extLst>
                  <a:ext uri="{0D108BD9-81ED-4DB2-BD59-A6C34878D82A}">
                    <a16:rowId xmlns:a16="http://schemas.microsoft.com/office/drawing/2014/main" val="3968988663"/>
                  </a:ext>
                </a:extLst>
              </a:tr>
              <a:tr h="866354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if-else</a:t>
                      </a:r>
                    </a:p>
                  </a:txBody>
                  <a:tcPr marL="53792" marR="53792" marT="26896" marB="26896"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(condition) { ... } </a:t>
                      </a:r>
                      <a:endParaRPr lang="en-IN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else 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 ... }</a:t>
                      </a:r>
                    </a:p>
                  </a:txBody>
                  <a:tcPr marL="53792" marR="53792" marT="26896" marB="26896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Chooses between </a:t>
                      </a: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two paths</a:t>
                      </a: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based on a condition</a:t>
                      </a:r>
                    </a:p>
                  </a:txBody>
                  <a:tcPr marL="53792" marR="53792" marT="26896" marB="26896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if a number is even or odd</a:t>
                      </a:r>
                    </a:p>
                  </a:txBody>
                  <a:tcPr marL="53792" marR="53792" marT="26896" marB="26896" anchor="ctr"/>
                </a:tc>
                <a:extLst>
                  <a:ext uri="{0D108BD9-81ED-4DB2-BD59-A6C34878D82A}">
                    <a16:rowId xmlns:a16="http://schemas.microsoft.com/office/drawing/2014/main" val="3320008389"/>
                  </a:ext>
                </a:extLst>
              </a:tr>
              <a:tr h="1063206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if-else if (ladder)</a:t>
                      </a:r>
                    </a:p>
                  </a:txBody>
                  <a:tcPr marL="53792" marR="53792" marT="26896" marB="26896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(c1) {...} </a:t>
                      </a:r>
                      <a:endParaRPr lang="en-US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else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(c2) </a:t>
                      </a:r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{...}</a:t>
                      </a:r>
                    </a:p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else { ... }</a:t>
                      </a:r>
                    </a:p>
                  </a:txBody>
                  <a:tcPr marL="53792" marR="53792" marT="26896" marB="26896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Evaluates </a:t>
                      </a:r>
                      <a:r>
                        <a:rPr lang="en-US" sz="20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conditions</a:t>
                      </a:r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sequence; executes the first true one</a:t>
                      </a:r>
                    </a:p>
                  </a:txBody>
                  <a:tcPr marL="53792" marR="53792" marT="26896" marB="26896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Grading system based on marks</a:t>
                      </a:r>
                    </a:p>
                  </a:txBody>
                  <a:tcPr marL="53792" marR="53792" marT="26896" marB="26896" anchor="ctr"/>
                </a:tc>
                <a:extLst>
                  <a:ext uri="{0D108BD9-81ED-4DB2-BD59-A6C34878D82A}">
                    <a16:rowId xmlns:a16="http://schemas.microsoft.com/office/drawing/2014/main" val="3287432840"/>
                  </a:ext>
                </a:extLst>
              </a:tr>
              <a:tr h="1139094">
                <a:tc>
                  <a:txBody>
                    <a:bodyPr/>
                    <a:lstStyle/>
                    <a:p>
                      <a:r>
                        <a:rPr lang="en-IN" sz="2400" b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nested if</a:t>
                      </a:r>
                    </a:p>
                  </a:txBody>
                  <a:tcPr marL="53792" marR="53792" marT="26896" marB="26896"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(c1) </a:t>
                      </a:r>
                      <a:endParaRPr lang="en-IN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 I</a:t>
                      </a:r>
                    </a:p>
                    <a:p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 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(c2) </a:t>
                      </a:r>
                      <a:endParaRPr lang="en-IN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 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... } }</a:t>
                      </a:r>
                    </a:p>
                  </a:txBody>
                  <a:tcPr marL="53792" marR="53792" marT="26896" marB="26896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if statement 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inside another if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used for 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dependent decisions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92" marR="53792" marT="26896" marB="26896" anchor="ctr"/>
                </a:tc>
                <a:tc>
                  <a:txBody>
                    <a:bodyPr/>
                    <a:lstStyle/>
                    <a:p>
                      <a:r>
                        <a:rPr lang="en-US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Login: Check username, then password</a:t>
                      </a:r>
                    </a:p>
                  </a:txBody>
                  <a:tcPr marL="53792" marR="53792" marT="26896" marB="26896" anchor="ctr"/>
                </a:tc>
                <a:extLst>
                  <a:ext uri="{0D108BD9-81ED-4DB2-BD59-A6C34878D82A}">
                    <a16:rowId xmlns:a16="http://schemas.microsoft.com/office/drawing/2014/main" val="3484705002"/>
                  </a:ext>
                </a:extLst>
              </a:tr>
              <a:tr h="1235345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switch</a:t>
                      </a:r>
                    </a:p>
                  </a:txBody>
                  <a:tcPr marL="53792" marR="53792" marT="26896" marB="26896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switch(expr) { </a:t>
                      </a:r>
                      <a:endParaRPr lang="en-US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case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v1: ... break; ... default: ... </a:t>
                      </a:r>
                      <a:endParaRPr lang="en-US" sz="20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3792" marR="53792" marT="26896" marB="26896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Compares a variable to 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constant values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more efficient than many if-else blocks</a:t>
                      </a:r>
                    </a:p>
                  </a:txBody>
                  <a:tcPr marL="53792" marR="53792" marT="26896" marB="26896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Day of week, menu selection</a:t>
                      </a:r>
                    </a:p>
                  </a:txBody>
                  <a:tcPr marL="53792" marR="53792" marT="26896" marB="26896" anchor="ctr"/>
                </a:tc>
                <a:extLst>
                  <a:ext uri="{0D108BD9-81ED-4DB2-BD59-A6C34878D82A}">
                    <a16:rowId xmlns:a16="http://schemas.microsoft.com/office/drawing/2014/main" val="1716207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0393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241" y="294098"/>
            <a:ext cx="9404723" cy="1400530"/>
          </a:xfrm>
        </p:spPr>
        <p:txBody>
          <a:bodyPr/>
          <a:lstStyle/>
          <a:p>
            <a:r>
              <a:rPr lang="en-IN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Statement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49" y="1241154"/>
            <a:ext cx="11474353" cy="517830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Executes a block of code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if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condition is true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0" indent="0">
              <a:buNone/>
            </a:pPr>
            <a:r>
              <a:rPr lang="en-US" sz="28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(condition)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code to execute if condition is true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0" indent="0">
              <a:buNone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age = 20;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(age &gt;= 18)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("You are eligible to vote.\n");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5826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572" y="322090"/>
            <a:ext cx="9404723" cy="1400530"/>
          </a:xfrm>
        </p:spPr>
        <p:txBody>
          <a:bodyPr/>
          <a:lstStyle/>
          <a:p>
            <a:r>
              <a:rPr lang="en-US" sz="4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if...else statement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572" y="1129188"/>
            <a:ext cx="11984428" cy="57288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Executes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block if the condition is true, otherwise executes another block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(condition) </a:t>
            </a:r>
            <a:endParaRPr lang="en-US" sz="2800" b="1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code if condition is true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 </a:t>
            </a:r>
            <a:endParaRPr lang="en-US" sz="2800" b="1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code if condition is false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6746033" y="2030783"/>
            <a:ext cx="6096000" cy="440120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 = 5;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(number % 2 == 0) </a:t>
            </a:r>
            <a:endParaRPr lang="en-US" sz="2800" b="1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("Even number\n");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 </a:t>
            </a: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("Odd number\n");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540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404723" cy="1400530"/>
          </a:xfrm>
        </p:spPr>
        <p:txBody>
          <a:bodyPr/>
          <a:lstStyle/>
          <a:p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if...else if...</a:t>
            </a:r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605" y="700264"/>
            <a:ext cx="12096395" cy="6157735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...else if...else ladder is used to evaluate multiple conditions sequentially.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soon as one condition is true, its corresponding block of code is executed, and the rest are skipped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>
              <a:buNone/>
            </a:pPr>
            <a:r>
              <a:rPr lang="en-US" sz="24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endParaRPr lang="en-US" sz="24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(condition1)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block of code if condition1 is true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 if (condition2)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block of code if condition2 is true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 if (condition3)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block of code if condition3 is true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block of code if none of the above conditions are true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729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9054" y="79493"/>
            <a:ext cx="9404723" cy="1400530"/>
          </a:xfrm>
        </p:spPr>
        <p:txBody>
          <a:bodyPr/>
          <a:lstStyle/>
          <a:p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if...else if...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783" y="-158438"/>
            <a:ext cx="8946541" cy="7016437"/>
          </a:xfrm>
        </p:spPr>
        <p:txBody>
          <a:bodyPr>
            <a:normAutofit fontScale="85000" lnSpcReduction="20000"/>
          </a:bodyPr>
          <a:lstStyle/>
          <a:p>
            <a:endParaRPr lang="en-IN" dirty="0"/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pPr marL="0" indent="0">
              <a:buNone/>
            </a:pP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marks = 78;</a:t>
            </a:r>
          </a:p>
          <a:p>
            <a:pPr marL="0" indent="0">
              <a:buNone/>
            </a:pPr>
            <a:r>
              <a:rPr lang="en-IN" sz="26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(marks &gt;= 90)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("Grade A\n");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IN" sz="26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 if (marks &gt;= 75)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("Grade B\n");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IN" sz="26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 if (marks &gt;= 60)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("Grade C\n");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IN" sz="26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 if (marks &gt;= 40)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("Grade D\n");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IN" sz="26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 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pPr marL="0" indent="0">
              <a:buNone/>
            </a:pPr>
            <a:r>
              <a:rPr lang="en-IN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("Fail\n");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</a:p>
          <a:p>
            <a:pPr marL="0" indent="0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2406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295" y="154138"/>
            <a:ext cx="9404723" cy="1400530"/>
          </a:xfrm>
        </p:spPr>
        <p:txBody>
          <a:bodyPr/>
          <a:lstStyle/>
          <a:p>
            <a:r>
              <a:rPr lang="en-IN" sz="4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nested 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3295" y="1073204"/>
            <a:ext cx="11044068" cy="4805082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A nested if means placing one if (or if-else) inside another if or else block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536510" y="1914869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IN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</a:t>
            </a:r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A is true</a:t>
            </a:r>
          </a:p>
          <a:p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 (</a:t>
            </a:r>
            <a:r>
              <a:rPr lang="en-IN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conditionB</a:t>
            </a:r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// B is true (given A already true)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else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// B is false (given A already true)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else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A is false</a:t>
            </a:r>
          </a:p>
          <a:p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294" y="5878286"/>
            <a:ext cx="11230681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inner test only runs if the outer test passed (or failed, depending on where you nest it).</a:t>
            </a:r>
            <a:endParaRPr lang="en-IN" sz="2800" b="1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632510" y="3022865"/>
            <a:ext cx="628572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Evaluate outer condition 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false, skip its whole block.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true, enter block and evaluate the inner condition.</a:t>
            </a:r>
            <a:endParaRPr lang="en-US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686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404723" cy="1400530"/>
          </a:xfrm>
        </p:spPr>
        <p:txBody>
          <a:bodyPr/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Nested if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2928" y="839938"/>
            <a:ext cx="10858533" cy="581278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number;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a number: ");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("%d", &amp;number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if (number &gt; 0) {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First condition: positive number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if (number % 2 == 0) {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("The number is positive and even.\n");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} else {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("The number is positive but odd.\n");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4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948195" y="2391756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 else {</a:t>
            </a:r>
          </a:p>
          <a:p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("The number is not positive.\n");</a:t>
            </a:r>
          </a:p>
          <a:p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</a:p>
          <a:p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40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480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3306" y="185097"/>
            <a:ext cx="8770776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Largest of 3 numbers</a:t>
            </a:r>
            <a:endParaRPr lang="en-IN" sz="2000" b="1" dirty="0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&lt;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a, b, c;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("Enter three numbers: ");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%d %d", &amp;a, &amp;b, &amp;c);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(a &gt; b) {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(a &gt; c) {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("The largest number is %d\n", a);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 else {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("The largest number is %d\n", c);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 else {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(b &gt; c) {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("The largest number is %d\n", b);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 else {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("The largest number is %d\n", c);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}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19339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258" y="956571"/>
            <a:ext cx="9404723" cy="1400530"/>
          </a:xfrm>
        </p:spPr>
        <p:txBody>
          <a:bodyPr/>
          <a:lstStyle/>
          <a:p>
            <a:pPr marL="0" indent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258" y="2052918"/>
            <a:ext cx="11597950" cy="419548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school athletics competition, three students — John,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Meena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Arjun — participated in a 100-meter race. The time (in seconds) each took to complete the race is recorded. Write a program to determine who was not the fastest (i.e., who took the longest time).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856511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404723" cy="1400530"/>
          </a:xfrm>
        </p:spPr>
        <p:txBody>
          <a:bodyPr/>
          <a:lstStyle/>
          <a:p>
            <a:r>
              <a:rPr lang="en-US" sz="40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 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496" y="877260"/>
            <a:ext cx="12099504" cy="58221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you want to compare a variable against multiple values (cases</a:t>
            </a:r>
            <a:r>
              <a:rPr lang="en-US" sz="3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buNone/>
            </a:pPr>
            <a:r>
              <a:rPr lang="en-US" sz="2400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Syntax</a:t>
            </a:r>
            <a:endParaRPr lang="en-US" sz="24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 (expression)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value1:</a:t>
            </a:r>
            <a:endParaRPr lang="en-US"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code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  <a:endParaRPr lang="en-US"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value2:</a:t>
            </a:r>
            <a:endParaRPr lang="en-US"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code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  <a:endParaRPr lang="en-US"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default:</a:t>
            </a:r>
            <a:endParaRPr lang="en-US"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default code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0704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1677" y="-97788"/>
            <a:ext cx="9404723" cy="1400530"/>
          </a:xfrm>
        </p:spPr>
        <p:txBody>
          <a:bodyPr/>
          <a:lstStyle/>
          <a:p>
            <a:r>
              <a:rPr lang="en-US" sz="44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 statement</a:t>
            </a:r>
            <a:endParaRPr lang="en-IN" sz="4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243" y="1416421"/>
            <a:ext cx="10746565" cy="5626176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&lt;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grade = 'B';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(grade) {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'A':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("Excellent!\n");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'B':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("Good!\n");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6107095" y="1659016"/>
            <a:ext cx="643190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'C': </a:t>
            </a:r>
          </a:p>
          <a:p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("Fair!\n");</a:t>
            </a:r>
          </a:p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</a:p>
          <a:p>
            <a:r>
              <a:rPr lang="en-IN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default:</a:t>
            </a:r>
          </a:p>
          <a:p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("Invalid grade\n");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30316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404723" cy="1400530"/>
          </a:xfrm>
        </p:spPr>
        <p:txBody>
          <a:bodyPr/>
          <a:lstStyle/>
          <a:p>
            <a:r>
              <a:rPr lang="en-US" sz="4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Switch 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784" y="821276"/>
            <a:ext cx="11032959" cy="560751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op = '</a:t>
            </a:r>
            <a:r>
              <a:rPr lang="en-IN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';</a:t>
            </a:r>
          </a:p>
          <a:p>
            <a:pPr marL="0" indent="0"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= 5, b = 3;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(op) {</a:t>
            </a:r>
          </a:p>
          <a:p>
            <a:pPr marL="0" indent="0">
              <a:buNone/>
            </a:pPr>
            <a:r>
              <a:rPr lang="en-IN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'+':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("Sum: %d\n", a + b); 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</a:p>
          <a:p>
            <a:pPr marL="0" indent="0">
              <a:buNone/>
            </a:pPr>
            <a:r>
              <a:rPr lang="en-IN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'-':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("Difference: %d\n", a - b); 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</a:p>
          <a:p>
            <a:pPr marL="0" indent="0">
              <a:buNone/>
            </a:pPr>
            <a:r>
              <a:rPr lang="en-IN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'*':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("Product: %d\n", a * b); 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</a:p>
          <a:p>
            <a:pPr marL="0" indent="0">
              <a:buNone/>
            </a:pPr>
            <a:r>
              <a:rPr lang="en-IN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'/':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("Quotient: %d\n", a / b); </a:t>
            </a:r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</a:p>
          <a:p>
            <a:pPr marL="0" indent="0">
              <a:buNone/>
            </a:pPr>
            <a:r>
              <a:rPr lang="en-IN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("Invalid operator\n");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3296816" y="1026550"/>
            <a:ext cx="889518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switch when checking a single variable against many constant values.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if-else ladder when you need to check ranges, relational conditions, or multiple variables.</a:t>
            </a:r>
          </a:p>
        </p:txBody>
      </p:sp>
    </p:spTree>
    <p:extLst>
      <p:ext uri="{BB962C8B-B14F-4D97-AF65-F5344CB8AC3E}">
        <p14:creationId xmlns:p14="http://schemas.microsoft.com/office/powerpoint/2010/main" val="2265562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404723" cy="1400530"/>
          </a:xfrm>
        </p:spPr>
        <p:txBody>
          <a:bodyPr/>
          <a:lstStyle/>
          <a:p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IN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 Loops / Iterative Statements</a:t>
            </a:r>
            <a:r>
              <a:rPr lang="en-IN" b="1" dirty="0"/>
              <a:t/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936" y="989228"/>
            <a:ext cx="12087063" cy="5682160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 programming, loops are used to execute a block of code repeatedly as long as a certain condition is true.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Loops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reduce code redundancy and make programs more efficient and readable.</a:t>
            </a:r>
          </a:p>
          <a:p>
            <a:pPr marL="0" indent="0" algn="just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Loops in C</a:t>
            </a:r>
          </a:p>
          <a:p>
            <a:pPr marL="0" indent="0" algn="just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provides three types of looping statements: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loop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do-while loop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loop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8496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26368" y="1637752"/>
            <a:ext cx="853751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 (){</a:t>
            </a:r>
          </a:p>
          <a:p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= 1;</a:t>
            </a:r>
          </a:p>
          <a:p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("a: %d\n", a);</a:t>
            </a:r>
          </a:p>
          <a:p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a++;</a:t>
            </a:r>
          </a:p>
          <a:p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("a: %d\n", a);</a:t>
            </a:r>
          </a:p>
          <a:p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a++;</a:t>
            </a:r>
          </a:p>
          <a:p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IN" sz="28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8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39070" y="1705671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("a: %d\n", a);</a:t>
            </a:r>
          </a:p>
          <a:p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a++;</a:t>
            </a:r>
          </a:p>
          <a:p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("a: %d\n", a);</a:t>
            </a:r>
          </a:p>
          <a:p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a++;</a:t>
            </a:r>
          </a:p>
          <a:p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("a: %d\n", a);</a:t>
            </a:r>
          </a:p>
          <a:p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return 0;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930360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404723" cy="1400530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loops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259" y="858600"/>
            <a:ext cx="11884900" cy="5924755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loop</a:t>
            </a:r>
            <a:endParaRPr lang="en-US" sz="32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Repeats a statement or group of statements while a given condition is true. It tests the condition before executing the loop body.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0" y="2786678"/>
            <a:ext cx="911858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(condition) {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Code to execute</a:t>
            </a:r>
          </a:p>
          <a:p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Increment or decrement operators</a:t>
            </a:r>
          </a:p>
          <a:p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checks the condition before executing the loop body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condition is false initially, the loop may never run.</a:t>
            </a:r>
          </a:p>
        </p:txBody>
      </p:sp>
    </p:spTree>
    <p:extLst>
      <p:ext uri="{BB962C8B-B14F-4D97-AF65-F5344CB8AC3E}">
        <p14:creationId xmlns:p14="http://schemas.microsoft.com/office/powerpoint/2010/main" val="2245053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404723" cy="1400530"/>
          </a:xfrm>
        </p:spPr>
        <p:txBody>
          <a:bodyPr/>
          <a:lstStyle/>
          <a:p>
            <a:r>
              <a:rPr lang="en-US" sz="4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loop</a:t>
            </a:r>
            <a:r>
              <a:rPr lang="en-US" sz="4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45" y="951906"/>
            <a:ext cx="11894231" cy="5775465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//Program to print 5 natural numbers</a:t>
            </a:r>
          </a:p>
          <a:p>
            <a:pPr marL="0" indent="0">
              <a:buNone/>
            </a:pPr>
            <a:r>
              <a:rPr lang="en-US" sz="28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 &lt;</a:t>
            </a:r>
            <a:r>
              <a:rPr lang="en-US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US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while (</a:t>
            </a:r>
            <a:r>
              <a:rPr lang="en-US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&lt;= 5) {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("Count: %d\n", </a:t>
            </a:r>
            <a:r>
              <a:rPr lang="en-US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863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404723" cy="1400530"/>
          </a:xfrm>
        </p:spPr>
        <p:txBody>
          <a:bodyPr/>
          <a:lstStyle/>
          <a:p>
            <a:r>
              <a:rPr lang="en-US" sz="4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loop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34665"/>
            <a:ext cx="11073137" cy="609270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 of first N natural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24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n, </a:t>
            </a:r>
            <a:r>
              <a:rPr lang="en-US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1, sum = 0;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("Enter a number: ");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("%d", &amp;n</a:t>
            </a:r>
            <a:r>
              <a:rPr lang="en-US" sz="24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while(</a:t>
            </a:r>
            <a:r>
              <a:rPr lang="en-US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&lt;= n) {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sum += </a:t>
            </a:r>
            <a:r>
              <a:rPr lang="en-US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("Sum = %d", sum);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2028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9290" y="74645"/>
            <a:ext cx="9404723" cy="140053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290" y="998558"/>
            <a:ext cx="11924522" cy="58594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 in C is a control structure used to execute a block of code repeatedly for a specified number of times.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syntax is: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(initialization; condition; increment/decrement) {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code to be executed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initialization part is executed only once, and is usually used to initialize the loop counter variable.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condition is evaluated before each iteration. If it evaluates to true, the loop continues. If it evaluates to false, the loop ends.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Increment/Decrement: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increment/decrement part is executed after each iteration, and is used to update the loop counter variable.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3244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Loop in C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161" y="1493081"/>
            <a:ext cx="10364010" cy="4973033"/>
          </a:xfrm>
        </p:spPr>
        <p:txBody>
          <a:bodyPr/>
          <a:lstStyle/>
          <a:p>
            <a:pPr marL="0" indent="0">
              <a:buNone/>
            </a:pPr>
            <a:r>
              <a:rPr lang="en-IN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IN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pPr marL="0" indent="0">
              <a:buNone/>
            </a:pPr>
            <a:r>
              <a:rPr lang="en-IN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IN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(</a:t>
            </a:r>
            <a:r>
              <a:rPr lang="en-IN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IN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5; </a:t>
            </a:r>
            <a:r>
              <a:rPr lang="en-IN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</a:p>
          <a:p>
            <a:pPr marL="0" indent="0">
              <a:buNone/>
            </a:pPr>
            <a:r>
              <a:rPr lang="en-IN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("%d\n", </a:t>
            </a:r>
            <a:r>
              <a:rPr lang="en-IN" sz="32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IN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IN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</a:p>
          <a:p>
            <a:pPr marL="0" indent="0">
              <a:buNone/>
            </a:pPr>
            <a:r>
              <a:rPr lang="en-IN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9153330" y="2381458"/>
            <a:ext cx="270276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2400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4562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404723" cy="1400530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o-while loop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14" y="793285"/>
            <a:ext cx="12124386" cy="618601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do-while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Loop in C is a control structure used to execute a block of code repeatedly for a specified number of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times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basic syntax is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{</a:t>
            </a: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code to be executed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while (condition);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to be executed: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inside the loop is executed at least once, regardless of the condition.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condition is evaluated after each iteration. If it evaluates to true, the loop continues. If it evaluates to false, the loop ends.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key difference between the For Loop and the Do-While Loop is that the Do-While Loop executes the code at least once before checking 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</a:p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whereas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For Loop checks the condition before executing the code.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1531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8871" y="247445"/>
            <a:ext cx="9404723" cy="1400530"/>
          </a:xfrm>
        </p:spPr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do-while loop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847" y="1437097"/>
            <a:ext cx="8946541" cy="41954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800" dirty="0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sz="28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pPr marL="0" indent="0">
              <a:buNone/>
            </a:pP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0;</a:t>
            </a:r>
          </a:p>
          <a:p>
            <a:pPr marL="0" indent="0">
              <a:buNone/>
            </a:pP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do {</a:t>
            </a:r>
          </a:p>
          <a:p>
            <a:pPr marL="0" indent="0">
              <a:buNone/>
            </a:pP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("%d\n", </a:t>
            </a:r>
            <a:r>
              <a:rPr lang="en-IN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++;</a:t>
            </a:r>
          </a:p>
          <a:p>
            <a:pPr marL="0" indent="0">
              <a:buNone/>
            </a:pP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 while (</a:t>
            </a:r>
            <a:r>
              <a:rPr lang="en-IN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5);</a:t>
            </a:r>
          </a:p>
          <a:p>
            <a:pPr marL="0" indent="0">
              <a:buNone/>
            </a:pP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</a:p>
          <a:p>
            <a:pPr marL="0" indent="0">
              <a:buNone/>
            </a:pP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8649477" y="2116782"/>
            <a:ext cx="270276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2400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49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3731"/>
            <a:ext cx="9404723" cy="1400530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Loops – Example code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7755" y="782456"/>
            <a:ext cx="475239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1;</a:t>
            </a:r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(</a:t>
            </a:r>
            <a:r>
              <a:rPr lang="en-IN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&lt;= 10) {</a:t>
            </a:r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("5 x %d = %d\n", </a:t>
            </a:r>
            <a:r>
              <a:rPr lang="en-IN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5 * </a:t>
            </a:r>
            <a:r>
              <a:rPr lang="en-IN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++;</a:t>
            </a:r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37186" y="901056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  <a:endParaRPr lang="en-IN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1;</a:t>
            </a:r>
            <a:endParaRPr lang="en-IN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{</a:t>
            </a:r>
            <a:endParaRPr lang="en-IN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("5 x %d = %d\n", </a:t>
            </a:r>
            <a:r>
              <a:rPr lang="en-IN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5 * </a:t>
            </a:r>
            <a:r>
              <a:rPr lang="en-IN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++;</a:t>
            </a:r>
            <a:endParaRPr lang="en-IN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 while (</a:t>
            </a:r>
            <a:r>
              <a:rPr lang="en-IN" sz="2400" dirty="0" err="1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&lt;= 10);</a:t>
            </a:r>
            <a:endParaRPr lang="en-IN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  <a:endParaRPr lang="en-IN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dirty="0">
              <a:solidFill>
                <a:srgbClr val="FFC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385667" y="3698669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1;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&lt;= 10;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("5 x %d = %d\n",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 *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058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274" y="223935"/>
            <a:ext cx="9404723" cy="1400530"/>
          </a:xfrm>
        </p:spPr>
        <p:txBody>
          <a:bodyPr/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274" y="1017220"/>
            <a:ext cx="11476653" cy="561684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break is used to terminate the loop prematurely.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Works in for, while, and do-while loops.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Also used in switch-case statements.</a:t>
            </a:r>
          </a:p>
          <a:p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63421" y="2887682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sz="2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 </a:t>
            </a:r>
            <a:endParaRPr lang="en-IN" sz="2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sz="2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(</a:t>
            </a:r>
            <a:r>
              <a:rPr lang="en-IN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IN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10; </a:t>
            </a:r>
            <a:r>
              <a:rPr lang="en-IN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  <a:endParaRPr lang="en-IN" sz="2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IN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== 4) {</a:t>
            </a:r>
            <a:endParaRPr lang="en-IN" sz="2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  <a:endParaRPr lang="en-IN" sz="2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("%d\n", </a:t>
            </a:r>
            <a:r>
              <a:rPr lang="en-IN" sz="2800" dirty="0" err="1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sz="2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IN" sz="2000" dirty="0">
              <a:solidFill>
                <a:srgbClr val="FFFF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857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404723" cy="1400530"/>
          </a:xfrm>
        </p:spPr>
        <p:txBody>
          <a:bodyPr/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  <a:endParaRPr lang="en-IN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44" y="634664"/>
            <a:ext cx="10438656" cy="613002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Stop printing when number is divisible by 7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&lt;= 20;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% 7 == 0) {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("Found a number divisible by 7: %d. Breaking the loop.\n",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("Number: %d\n",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0;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413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404723" cy="1400530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Statement</a:t>
            </a: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44" y="839938"/>
            <a:ext cx="11875570" cy="5840779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statement breaks one iteration (in the loop), if a specified condition occurs, and continues with the next iteration in the loop.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1125894" y="2121923"/>
            <a:ext cx="6096000" cy="4555093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IN" sz="1400" dirty="0">
              <a:latin typeface="Arial" panose="020B0604020202020204" pitchFamily="34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0;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10;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{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if (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6)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IN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continue;</a:t>
            </a:r>
            <a:endParaRPr lang="en-IN" sz="2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}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("%d\n",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skips the value of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IN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862732" y="2640192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sz="2400" b="1" dirty="0" smtClean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  <a:p>
            <a:r>
              <a:rPr lang="en-I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 smtClean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083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72229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– with while loop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2684106" y="1493414"/>
            <a:ext cx="6096000" cy="495520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while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10)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6)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++;</a:t>
            </a:r>
          </a:p>
          <a:p>
            <a:r>
              <a:rPr lang="en-IN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continue;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("%d\n",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return 0;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67952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Programs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6863" y="1577057"/>
            <a:ext cx="10914517" cy="488905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in C to print numbers from 1 to 10 using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 3 types of loops.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in C Print even numbers from 1 to 50.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in C Print numbers from 10 to 1 (reverse order).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in C Print squares of first 10 natural numbers.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in C Take input until user enters a positive number.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in C Print the sum of odd numbers between 1 and 20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0248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14033</TotalTime>
  <Words>4820</Words>
  <Application>Microsoft Office PowerPoint</Application>
  <PresentationFormat>Widescreen</PresentationFormat>
  <Paragraphs>877</Paragraphs>
  <Slides>61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7" baseType="lpstr">
      <vt:lpstr>Arial</vt:lpstr>
      <vt:lpstr>Century Gothic</vt:lpstr>
      <vt:lpstr>Times New Roman</vt:lpstr>
      <vt:lpstr>Wingdings</vt:lpstr>
      <vt:lpstr>Wingdings 3</vt:lpstr>
      <vt:lpstr>Ion</vt:lpstr>
      <vt:lpstr>Character Set </vt:lpstr>
      <vt:lpstr>Character Set </vt:lpstr>
      <vt:lpstr>Keywords in C</vt:lpstr>
      <vt:lpstr>C Identifiers </vt:lpstr>
      <vt:lpstr>C Tokens </vt:lpstr>
      <vt:lpstr>C Tokens</vt:lpstr>
      <vt:lpstr>PowerPoint Presentation</vt:lpstr>
      <vt:lpstr>Variables</vt:lpstr>
      <vt:lpstr>Variables - Rules for Naming Variables </vt:lpstr>
      <vt:lpstr>Types of Variables in C</vt:lpstr>
      <vt:lpstr>Constants in C</vt:lpstr>
      <vt:lpstr>Defining symbolic constants</vt:lpstr>
      <vt:lpstr>Input and output with C - Formatted I/O Functions</vt:lpstr>
      <vt:lpstr>Control Strings and Escape Sequences</vt:lpstr>
      <vt:lpstr>PowerPoint Presentation</vt:lpstr>
      <vt:lpstr>Unformatted I/O Functions</vt:lpstr>
      <vt:lpstr>Unformatted I/O Functions</vt:lpstr>
      <vt:lpstr>Operators </vt:lpstr>
      <vt:lpstr>Binary operators </vt:lpstr>
      <vt:lpstr>Binary operators - Arithmetic Operators </vt:lpstr>
      <vt:lpstr>Binary operators - Arithmetic Operators</vt:lpstr>
      <vt:lpstr>Binary operators - Relational Operators</vt:lpstr>
      <vt:lpstr>Binary operators - Relational Operators(Comparision Operators)</vt:lpstr>
      <vt:lpstr>Binary operators – Logical operators</vt:lpstr>
      <vt:lpstr>Binary operators – Logical operators</vt:lpstr>
      <vt:lpstr>Binary operators - Assignment operators</vt:lpstr>
      <vt:lpstr>Binary operators - Assignment operators</vt:lpstr>
      <vt:lpstr>Bitwise Operators</vt:lpstr>
      <vt:lpstr>Bitwise Operators - &amp; </vt:lpstr>
      <vt:lpstr>Bitwise Operators | , ^ (OR,XOR)</vt:lpstr>
      <vt:lpstr>Bitwise Operators</vt:lpstr>
      <vt:lpstr>Ternary Operator - ?</vt:lpstr>
      <vt:lpstr>Ternary Operator - ?</vt:lpstr>
      <vt:lpstr>Decision-making statements (Conditional statements)</vt:lpstr>
      <vt:lpstr>Decision-making statements (Conditional statements)</vt:lpstr>
      <vt:lpstr>If Statement </vt:lpstr>
      <vt:lpstr>if...else statement </vt:lpstr>
      <vt:lpstr>if...else if...</vt:lpstr>
      <vt:lpstr>if...else if...</vt:lpstr>
      <vt:lpstr>nested if</vt:lpstr>
      <vt:lpstr>Nested if</vt:lpstr>
      <vt:lpstr>PowerPoint Presentation</vt:lpstr>
      <vt:lpstr>Scenario:</vt:lpstr>
      <vt:lpstr>Switch statement</vt:lpstr>
      <vt:lpstr>Switch statement</vt:lpstr>
      <vt:lpstr>Switch statement</vt:lpstr>
      <vt:lpstr>C – Loops / Iterative Statements </vt:lpstr>
      <vt:lpstr>PowerPoint Presentation</vt:lpstr>
      <vt:lpstr>Types of loops</vt:lpstr>
      <vt:lpstr>while loop </vt:lpstr>
      <vt:lpstr>while loop</vt:lpstr>
      <vt:lpstr>for Loop in C</vt:lpstr>
      <vt:lpstr>for Loop in C</vt:lpstr>
      <vt:lpstr>do-while loop</vt:lpstr>
      <vt:lpstr>do-while loop</vt:lpstr>
      <vt:lpstr>Loops – Example code</vt:lpstr>
      <vt:lpstr>break</vt:lpstr>
      <vt:lpstr>break</vt:lpstr>
      <vt:lpstr>Continue Statement </vt:lpstr>
      <vt:lpstr>Continue Statement – with while loop</vt:lpstr>
      <vt:lpstr>Practice Programs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</dc:creator>
  <cp:lastModifiedBy>Ravi</cp:lastModifiedBy>
  <cp:revision>109</cp:revision>
  <dcterms:created xsi:type="dcterms:W3CDTF">2025-07-27T15:30:36Z</dcterms:created>
  <dcterms:modified xsi:type="dcterms:W3CDTF">2025-09-01T17:11:29Z</dcterms:modified>
</cp:coreProperties>
</file>