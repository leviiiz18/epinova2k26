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78"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4660"/>
  </p:normalViewPr>
  <p:slideViewPr>
    <p:cSldViewPr snapToGrid="0">
      <p:cViewPr varScale="1">
        <p:scale>
          <a:sx n="84" d="100"/>
          <a:sy n="84" d="100"/>
        </p:scale>
        <p:origin x="6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6D461F-12E0-401D-8542-114EA5D04703}" type="datetimeFigureOut">
              <a:rPr lang="en-IN" smtClean="0"/>
              <a:t>21-08-2026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E4A8F5-BC81-45D2-9A30-267B5ED92258}" type="slidenum">
              <a:rPr lang="en-IN" smtClean="0"/>
              <a:t>‹#›</a:t>
            </a:fld>
            <a:endParaRPr lang="en-IN"/>
          </a:p>
        </p:txBody>
      </p:sp>
    </p:spTree>
    <p:extLst>
      <p:ext uri="{BB962C8B-B14F-4D97-AF65-F5344CB8AC3E}">
        <p14:creationId xmlns:p14="http://schemas.microsoft.com/office/powerpoint/2010/main" val="1203964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E4A8F5-BC81-45D2-9A30-267B5ED92258}" type="slidenum">
              <a:rPr lang="en-IN" smtClean="0"/>
              <a:t>18</a:t>
            </a:fld>
            <a:endParaRPr lang="en-IN"/>
          </a:p>
        </p:txBody>
      </p:sp>
    </p:spTree>
    <p:extLst>
      <p:ext uri="{BB962C8B-B14F-4D97-AF65-F5344CB8AC3E}">
        <p14:creationId xmlns:p14="http://schemas.microsoft.com/office/powerpoint/2010/main" val="16274960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620365F9-3FD2-4B3D-851E-6E8F6670AFD6}" type="datetimeFigureOut">
              <a:rPr lang="en-IN" smtClean="0"/>
              <a:t>21-08-2026</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3F3DAFD6-4A26-4225-A26A-232D950E4A6F}" type="slidenum">
              <a:rPr lang="en-IN" smtClean="0"/>
              <a:t>‹#›</a:t>
            </a:fld>
            <a:endParaRPr lang="en-IN"/>
          </a:p>
        </p:txBody>
      </p:sp>
    </p:spTree>
    <p:extLst>
      <p:ext uri="{BB962C8B-B14F-4D97-AF65-F5344CB8AC3E}">
        <p14:creationId xmlns:p14="http://schemas.microsoft.com/office/powerpoint/2010/main" val="92155137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0365F9-3FD2-4B3D-851E-6E8F6670AFD6}" type="datetimeFigureOut">
              <a:rPr lang="en-IN" smtClean="0"/>
              <a:t>21-08-2026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F3DAFD6-4A26-4225-A26A-232D950E4A6F}" type="slidenum">
              <a:rPr lang="en-IN" smtClean="0"/>
              <a:t>‹#›</a:t>
            </a:fld>
            <a:endParaRPr lang="en-IN"/>
          </a:p>
        </p:txBody>
      </p:sp>
    </p:spTree>
    <p:extLst>
      <p:ext uri="{BB962C8B-B14F-4D97-AF65-F5344CB8AC3E}">
        <p14:creationId xmlns:p14="http://schemas.microsoft.com/office/powerpoint/2010/main" val="1193679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620365F9-3FD2-4B3D-851E-6E8F6670AFD6}" type="datetimeFigureOut">
              <a:rPr lang="en-IN" smtClean="0"/>
              <a:t>21-08-2026</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3F3DAFD6-4A26-4225-A26A-232D950E4A6F}" type="slidenum">
              <a:rPr lang="en-IN" smtClean="0"/>
              <a:t>‹#›</a:t>
            </a:fld>
            <a:endParaRPr lang="en-IN"/>
          </a:p>
        </p:txBody>
      </p:sp>
    </p:spTree>
    <p:extLst>
      <p:ext uri="{BB962C8B-B14F-4D97-AF65-F5344CB8AC3E}">
        <p14:creationId xmlns:p14="http://schemas.microsoft.com/office/powerpoint/2010/main" val="197357452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0365F9-3FD2-4B3D-851E-6E8F6670AFD6}"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3DAFD6-4A26-4225-A26A-232D950E4A6F}" type="slidenum">
              <a:rPr lang="en-IN" smtClean="0"/>
              <a:t>‹#›</a:t>
            </a:fld>
            <a:endParaRPr lang="en-IN"/>
          </a:p>
        </p:txBody>
      </p:sp>
    </p:spTree>
    <p:extLst>
      <p:ext uri="{BB962C8B-B14F-4D97-AF65-F5344CB8AC3E}">
        <p14:creationId xmlns:p14="http://schemas.microsoft.com/office/powerpoint/2010/main" val="2139162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0365F9-3FD2-4B3D-851E-6E8F6670AFD6}" type="datetimeFigureOut">
              <a:rPr lang="en-IN" smtClean="0"/>
              <a:t>21-08-2026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F3DAFD6-4A26-4225-A26A-232D950E4A6F}" type="slidenum">
              <a:rPr lang="en-IN" smtClean="0"/>
              <a:t>‹#›</a:t>
            </a:fld>
            <a:endParaRPr lang="en-IN"/>
          </a:p>
        </p:txBody>
      </p:sp>
    </p:spTree>
    <p:extLst>
      <p:ext uri="{BB962C8B-B14F-4D97-AF65-F5344CB8AC3E}">
        <p14:creationId xmlns:p14="http://schemas.microsoft.com/office/powerpoint/2010/main" val="1464671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0365F9-3FD2-4B3D-851E-6E8F6670AFD6}" type="datetimeFigureOut">
              <a:rPr lang="en-IN" smtClean="0"/>
              <a:t>21-08-2026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F3DAFD6-4A26-4225-A26A-232D950E4A6F}" type="slidenum">
              <a:rPr lang="en-IN" smtClean="0"/>
              <a:t>‹#›</a:t>
            </a:fld>
            <a:endParaRPr lang="en-IN"/>
          </a:p>
        </p:txBody>
      </p:sp>
    </p:spTree>
    <p:extLst>
      <p:ext uri="{BB962C8B-B14F-4D97-AF65-F5344CB8AC3E}">
        <p14:creationId xmlns:p14="http://schemas.microsoft.com/office/powerpoint/2010/main" val="1132998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365F9-3FD2-4B3D-851E-6E8F6670AFD6}" type="datetimeFigureOut">
              <a:rPr lang="en-IN" smtClean="0"/>
              <a:t>21-08-2026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F3DAFD6-4A26-4225-A26A-232D950E4A6F}" type="slidenum">
              <a:rPr lang="en-IN" smtClean="0"/>
              <a:t>‹#›</a:t>
            </a:fld>
            <a:endParaRPr lang="en-IN"/>
          </a:p>
        </p:txBody>
      </p:sp>
    </p:spTree>
    <p:extLst>
      <p:ext uri="{BB962C8B-B14F-4D97-AF65-F5344CB8AC3E}">
        <p14:creationId xmlns:p14="http://schemas.microsoft.com/office/powerpoint/2010/main" val="3537648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620365F9-3FD2-4B3D-851E-6E8F6670AFD6}" type="datetimeFigureOut">
              <a:rPr lang="en-IN" smtClean="0"/>
              <a:t>21-08-2026</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3F3DAFD6-4A26-4225-A26A-232D950E4A6F}"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19563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620365F9-3FD2-4B3D-851E-6E8F6670AFD6}" type="datetimeFigureOut">
              <a:rPr lang="en-IN" smtClean="0"/>
              <a:t>21-08-2026</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3F3DAFD6-4A26-4225-A26A-232D950E4A6F}"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31550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0365F9-3FD2-4B3D-851E-6E8F6670AFD6}"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3DAFD6-4A26-4225-A26A-232D950E4A6F}" type="slidenum">
              <a:rPr lang="en-IN" smtClean="0"/>
              <a:t>‹#›</a:t>
            </a:fld>
            <a:endParaRPr lang="en-IN"/>
          </a:p>
        </p:txBody>
      </p:sp>
    </p:spTree>
    <p:extLst>
      <p:ext uri="{BB962C8B-B14F-4D97-AF65-F5344CB8AC3E}">
        <p14:creationId xmlns:p14="http://schemas.microsoft.com/office/powerpoint/2010/main" val="1504516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0365F9-3FD2-4B3D-851E-6E8F6670AFD6}"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3DAFD6-4A26-4225-A26A-232D950E4A6F}" type="slidenum">
              <a:rPr lang="en-IN" smtClean="0"/>
              <a:t>‹#›</a:t>
            </a:fld>
            <a:endParaRPr lang="en-IN"/>
          </a:p>
        </p:txBody>
      </p:sp>
    </p:spTree>
    <p:extLst>
      <p:ext uri="{BB962C8B-B14F-4D97-AF65-F5344CB8AC3E}">
        <p14:creationId xmlns:p14="http://schemas.microsoft.com/office/powerpoint/2010/main" val="283393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620365F9-3FD2-4B3D-851E-6E8F6670AFD6}" type="datetimeFigureOut">
              <a:rPr lang="en-IN" smtClean="0"/>
              <a:t>21-08-2026</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F3DAFD6-4A26-4225-A26A-232D950E4A6F}" type="slidenum">
              <a:rPr lang="en-IN" smtClean="0"/>
              <a:t>‹#›</a:t>
            </a:fld>
            <a:endParaRPr lang="en-IN"/>
          </a:p>
        </p:txBody>
      </p:sp>
    </p:spTree>
    <p:extLst>
      <p:ext uri="{BB962C8B-B14F-4D97-AF65-F5344CB8AC3E}">
        <p14:creationId xmlns:p14="http://schemas.microsoft.com/office/powerpoint/2010/main" val="38807037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localhost/vulnerable-sql/index.php?username='%20OR%20'1'='1"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localhost/vulnerable-sql/index.php?username=admin'%20--%20&amp;password=anythi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C6B24-1564-5A31-B221-D16C0EB736E9}"/>
              </a:ext>
            </a:extLst>
          </p:cNvPr>
          <p:cNvSpPr>
            <a:spLocks noGrp="1"/>
          </p:cNvSpPr>
          <p:nvPr>
            <p:ph type="ctrTitle"/>
          </p:nvPr>
        </p:nvSpPr>
        <p:spPr/>
        <p:txBody>
          <a:bodyPr/>
          <a:lstStyle/>
          <a:p>
            <a:r>
              <a:rPr lang="en-IN" b="1" dirty="0">
                <a:solidFill>
                  <a:schemeClr val="tx1"/>
                </a:solidFill>
              </a:rPr>
              <a:t>SECURE CODING</a:t>
            </a:r>
          </a:p>
        </p:txBody>
      </p:sp>
      <p:sp>
        <p:nvSpPr>
          <p:cNvPr id="3" name="Subtitle 2">
            <a:extLst>
              <a:ext uri="{FF2B5EF4-FFF2-40B4-BE49-F238E27FC236}">
                <a16:creationId xmlns:a16="http://schemas.microsoft.com/office/drawing/2014/main" id="{7B0A3CE5-2045-EE07-A29A-2F9229F7A19B}"/>
              </a:ext>
            </a:extLst>
          </p:cNvPr>
          <p:cNvSpPr>
            <a:spLocks noGrp="1"/>
          </p:cNvSpPr>
          <p:nvPr>
            <p:ph type="subTitle" idx="1"/>
          </p:nvPr>
        </p:nvSpPr>
        <p:spPr/>
        <p:txBody>
          <a:bodyPr>
            <a:normAutofit fontScale="92500" lnSpcReduction="10000"/>
          </a:bodyPr>
          <a:lstStyle/>
          <a:p>
            <a:r>
              <a:rPr lang="en-IN" sz="2800" b="1" dirty="0"/>
              <a:t>Unit I - INTRODUCTION</a:t>
            </a:r>
          </a:p>
        </p:txBody>
      </p:sp>
    </p:spTree>
    <p:extLst>
      <p:ext uri="{BB962C8B-B14F-4D97-AF65-F5344CB8AC3E}">
        <p14:creationId xmlns:p14="http://schemas.microsoft.com/office/powerpoint/2010/main" val="3321381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0CDB-23D8-87AB-D06D-FFAC896E2FE0}"/>
              </a:ext>
            </a:extLst>
          </p:cNvPr>
          <p:cNvSpPr>
            <a:spLocks noGrp="1"/>
          </p:cNvSpPr>
          <p:nvPr>
            <p:ph type="title"/>
          </p:nvPr>
        </p:nvSpPr>
        <p:spPr/>
        <p:txBody>
          <a:bodyPr/>
          <a:lstStyle/>
          <a:p>
            <a:r>
              <a:rPr lang="en-IN" b="1" dirty="0">
                <a:solidFill>
                  <a:schemeClr val="tx1"/>
                </a:solidFill>
              </a:rPr>
              <a:t>SECURITY</a:t>
            </a:r>
          </a:p>
        </p:txBody>
      </p:sp>
      <p:sp>
        <p:nvSpPr>
          <p:cNvPr id="3" name="Content Placeholder 2">
            <a:extLst>
              <a:ext uri="{FF2B5EF4-FFF2-40B4-BE49-F238E27FC236}">
                <a16:creationId xmlns:a16="http://schemas.microsoft.com/office/drawing/2014/main" id="{3392F6F9-8C33-9503-DD63-C9C0F8996DDE}"/>
              </a:ext>
            </a:extLst>
          </p:cNvPr>
          <p:cNvSpPr>
            <a:spLocks noGrp="1"/>
          </p:cNvSpPr>
          <p:nvPr>
            <p:ph idx="1"/>
          </p:nvPr>
        </p:nvSpPr>
        <p:spPr/>
        <p:txBody>
          <a:bodyPr>
            <a:normAutofit lnSpcReduction="10000"/>
          </a:bodyPr>
          <a:lstStyle/>
          <a:p>
            <a:pPr marL="0" indent="0" algn="just">
              <a:buNone/>
            </a:pPr>
            <a:r>
              <a:rPr lang="en-US" sz="2000" b="1" dirty="0"/>
              <a:t>Security</a:t>
            </a:r>
            <a:r>
              <a:rPr lang="en-US" sz="2000" dirty="0"/>
              <a:t> generally refers to the </a:t>
            </a:r>
            <a:r>
              <a:rPr lang="en-US" sz="2000" b="1" dirty="0"/>
              <a:t>state of being free from danger or threat.</a:t>
            </a:r>
            <a:r>
              <a:rPr lang="en-US" sz="2000" dirty="0"/>
              <a:t> </a:t>
            </a:r>
          </a:p>
          <a:p>
            <a:pPr marL="0" indent="0" algn="just">
              <a:buNone/>
            </a:pPr>
            <a:endParaRPr lang="en-US" sz="2000" dirty="0"/>
          </a:p>
          <a:p>
            <a:pPr marL="0" indent="0" algn="just">
              <a:buNone/>
            </a:pPr>
            <a:r>
              <a:rPr lang="en-US" sz="2000" b="1" dirty="0"/>
              <a:t>Types: </a:t>
            </a:r>
          </a:p>
          <a:p>
            <a:pPr marL="514350" indent="-514350" algn="just">
              <a:buAutoNum type="arabicPeriod"/>
            </a:pPr>
            <a:r>
              <a:rPr lang="en-IN" sz="2000" dirty="0"/>
              <a:t>Network Security</a:t>
            </a:r>
          </a:p>
          <a:p>
            <a:pPr marL="514350" indent="-514350" algn="just">
              <a:buAutoNum type="arabicPeriod"/>
            </a:pPr>
            <a:r>
              <a:rPr lang="en-IN" sz="2000" dirty="0"/>
              <a:t>Information Security</a:t>
            </a:r>
          </a:p>
          <a:p>
            <a:pPr marL="514350" indent="-514350" algn="just">
              <a:buAutoNum type="arabicPeriod"/>
            </a:pPr>
            <a:r>
              <a:rPr lang="en-IN" sz="2000" dirty="0"/>
              <a:t>Endpoint Security</a:t>
            </a:r>
          </a:p>
          <a:p>
            <a:pPr marL="514350" indent="-514350" algn="just">
              <a:buAutoNum type="arabicPeriod"/>
            </a:pPr>
            <a:r>
              <a:rPr lang="en-IN" sz="2000" dirty="0"/>
              <a:t>Application Security</a:t>
            </a:r>
          </a:p>
          <a:p>
            <a:pPr marL="514350" indent="-514350" algn="just">
              <a:buAutoNum type="arabicPeriod"/>
            </a:pPr>
            <a:r>
              <a:rPr lang="en-IN" sz="2000" dirty="0"/>
              <a:t>Physical Security</a:t>
            </a:r>
          </a:p>
          <a:p>
            <a:pPr marL="514350" indent="-514350" algn="just">
              <a:buAutoNum type="arabicPeriod"/>
            </a:pPr>
            <a:r>
              <a:rPr lang="en-IN" sz="2000" dirty="0"/>
              <a:t>Wireless Security</a:t>
            </a:r>
          </a:p>
          <a:p>
            <a:pPr marL="514350" indent="-514350" algn="just">
              <a:buAutoNum type="arabicPeriod"/>
            </a:pPr>
            <a:r>
              <a:rPr lang="en-IN" sz="2000" dirty="0"/>
              <a:t>Internet Security</a:t>
            </a:r>
            <a:endParaRPr lang="en-US" sz="2000" dirty="0"/>
          </a:p>
        </p:txBody>
      </p:sp>
    </p:spTree>
    <p:extLst>
      <p:ext uri="{BB962C8B-B14F-4D97-AF65-F5344CB8AC3E}">
        <p14:creationId xmlns:p14="http://schemas.microsoft.com/office/powerpoint/2010/main" val="2765187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AD49A-92B7-1D18-6259-905A2AE6B21C}"/>
              </a:ext>
            </a:extLst>
          </p:cNvPr>
          <p:cNvSpPr>
            <a:spLocks noGrp="1"/>
          </p:cNvSpPr>
          <p:nvPr>
            <p:ph type="title"/>
          </p:nvPr>
        </p:nvSpPr>
        <p:spPr/>
        <p:txBody>
          <a:bodyPr/>
          <a:lstStyle/>
          <a:p>
            <a:r>
              <a:rPr lang="en-IN" b="1" dirty="0">
                <a:solidFill>
                  <a:schemeClr val="tx1"/>
                </a:solidFill>
              </a:rPr>
              <a:t>What is Secure Coding?</a:t>
            </a:r>
          </a:p>
        </p:txBody>
      </p:sp>
      <p:sp>
        <p:nvSpPr>
          <p:cNvPr id="3" name="Content Placeholder 2">
            <a:extLst>
              <a:ext uri="{FF2B5EF4-FFF2-40B4-BE49-F238E27FC236}">
                <a16:creationId xmlns:a16="http://schemas.microsoft.com/office/drawing/2014/main" id="{E6880AA2-D7C8-230D-9D30-2010C4BA5148}"/>
              </a:ext>
            </a:extLst>
          </p:cNvPr>
          <p:cNvSpPr>
            <a:spLocks noGrp="1"/>
          </p:cNvSpPr>
          <p:nvPr>
            <p:ph idx="1"/>
          </p:nvPr>
        </p:nvSpPr>
        <p:spPr/>
        <p:txBody>
          <a:bodyPr>
            <a:normAutofit/>
          </a:bodyPr>
          <a:lstStyle/>
          <a:p>
            <a:pPr marL="0" indent="0" algn="just">
              <a:buNone/>
            </a:pPr>
            <a:r>
              <a:rPr lang="en-US" sz="2400" dirty="0"/>
              <a:t>Secure coding is the practice of writing software with security in mind, aiming to prevent vulnerabilities and minimize the risk of cyberattacks.</a:t>
            </a:r>
          </a:p>
          <a:p>
            <a:pPr marL="0" indent="0" algn="just">
              <a:buNone/>
            </a:pPr>
            <a:endParaRPr lang="en-US" sz="2400" dirty="0"/>
          </a:p>
          <a:p>
            <a:pPr marL="0" indent="0" algn="just">
              <a:buNone/>
            </a:pPr>
            <a:r>
              <a:rPr lang="en-US" sz="2400" b="1" dirty="0"/>
              <a:t>Why is it important?</a:t>
            </a:r>
          </a:p>
          <a:p>
            <a:pPr marL="0" indent="0" algn="just">
              <a:buNone/>
            </a:pPr>
            <a:r>
              <a:rPr lang="en-US" sz="2400" dirty="0"/>
              <a:t>It will reduce </a:t>
            </a:r>
            <a:r>
              <a:rPr lang="en-IN" sz="2400" dirty="0"/>
              <a:t>vulnerabilities and protect data.</a:t>
            </a:r>
          </a:p>
        </p:txBody>
      </p:sp>
    </p:spTree>
    <p:extLst>
      <p:ext uri="{BB962C8B-B14F-4D97-AF65-F5344CB8AC3E}">
        <p14:creationId xmlns:p14="http://schemas.microsoft.com/office/powerpoint/2010/main" val="1067859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5E8BA-E33F-08EF-80ED-43C337795205}"/>
              </a:ext>
            </a:extLst>
          </p:cNvPr>
          <p:cNvSpPr>
            <a:spLocks noGrp="1"/>
          </p:cNvSpPr>
          <p:nvPr>
            <p:ph type="title"/>
          </p:nvPr>
        </p:nvSpPr>
        <p:spPr/>
        <p:txBody>
          <a:bodyPr/>
          <a:lstStyle/>
          <a:p>
            <a:r>
              <a:rPr lang="en-IN" b="1" dirty="0">
                <a:solidFill>
                  <a:schemeClr val="tx1"/>
                </a:solidFill>
              </a:rPr>
              <a:t>CIA Triad</a:t>
            </a:r>
          </a:p>
        </p:txBody>
      </p:sp>
      <p:pic>
        <p:nvPicPr>
          <p:cNvPr id="4" name="Content Placeholder 3">
            <a:extLst>
              <a:ext uri="{FF2B5EF4-FFF2-40B4-BE49-F238E27FC236}">
                <a16:creationId xmlns:a16="http://schemas.microsoft.com/office/drawing/2014/main" id="{7C35D332-D87E-64F5-3108-1BFF9CA97011}"/>
              </a:ext>
            </a:extLst>
          </p:cNvPr>
          <p:cNvPicPr>
            <a:picLocks noGrp="1" noChangeAspect="1"/>
          </p:cNvPicPr>
          <p:nvPr>
            <p:ph idx="1"/>
          </p:nvPr>
        </p:nvPicPr>
        <p:blipFill>
          <a:blip r:embed="rId2"/>
          <a:stretch>
            <a:fillRect/>
          </a:stretch>
        </p:blipFill>
        <p:spPr>
          <a:xfrm>
            <a:off x="9668725" y="214961"/>
            <a:ext cx="2191056" cy="2086266"/>
          </a:xfrm>
          <a:prstGeom prst="rect">
            <a:avLst/>
          </a:prstGeom>
        </p:spPr>
      </p:pic>
      <p:sp>
        <p:nvSpPr>
          <p:cNvPr id="6" name="TextBox 5">
            <a:extLst>
              <a:ext uri="{FF2B5EF4-FFF2-40B4-BE49-F238E27FC236}">
                <a16:creationId xmlns:a16="http://schemas.microsoft.com/office/drawing/2014/main" id="{B50B1416-B687-2A69-1608-2204F50E6975}"/>
              </a:ext>
            </a:extLst>
          </p:cNvPr>
          <p:cNvSpPr txBox="1"/>
          <p:nvPr/>
        </p:nvSpPr>
        <p:spPr>
          <a:xfrm>
            <a:off x="908384" y="2014194"/>
            <a:ext cx="10375232" cy="5565947"/>
          </a:xfrm>
          <a:prstGeom prst="rect">
            <a:avLst/>
          </a:prstGeom>
          <a:noFill/>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CONFIDENTIALITY: </a:t>
            </a:r>
            <a:r>
              <a:rPr lang="en-US" sz="2400" dirty="0">
                <a:latin typeface="Times New Roman" panose="02020603050405020304" pitchFamily="18" charset="0"/>
                <a:cs typeface="Times New Roman" panose="02020603050405020304" pitchFamily="18" charset="0"/>
              </a:rPr>
              <a:t>Confidentiality ensures that information is accessible only to authorized individuals or entities. Encryption, access controls, and data classification are common methods used to enforce confidentiality.</a:t>
            </a:r>
          </a:p>
          <a:p>
            <a:pPr algn="just">
              <a:lnSpc>
                <a:spcPct val="150000"/>
              </a:lnSpc>
            </a:pP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INTEGRITY: </a:t>
            </a:r>
            <a:r>
              <a:rPr lang="en-US" sz="2400" dirty="0">
                <a:latin typeface="Times New Roman" panose="02020603050405020304" pitchFamily="18" charset="0"/>
                <a:cs typeface="Times New Roman" panose="02020603050405020304" pitchFamily="18" charset="0"/>
              </a:rPr>
              <a:t>Integrity ensures the accuracy, consistency, and trustworthiness of data and systems. It focuses on protecting data from unauthorized modification, deletion, or corruption. Techniques such as data validation, checksums, and digital signatures are used to maintain data integrity</a:t>
            </a:r>
            <a:r>
              <a:rPr lang="en-US" sz="2400" b="1" dirty="0">
                <a:latin typeface="Times New Roman" panose="02020603050405020304" pitchFamily="18" charset="0"/>
                <a:cs typeface="Times New Roman" panose="02020603050405020304" pitchFamily="18" charset="0"/>
              </a:rPr>
              <a:t>.</a:t>
            </a:r>
          </a:p>
          <a:p>
            <a:pPr algn="just">
              <a:lnSpc>
                <a:spcPct val="150000"/>
              </a:lnSpc>
            </a:pPr>
            <a:endParaRPr lang="en-US" sz="2400" b="1" dirty="0">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2932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159FB-15C8-6F14-D2B5-72B31E3F30F8}"/>
              </a:ext>
            </a:extLst>
          </p:cNvPr>
          <p:cNvSpPr>
            <a:spLocks noGrp="1"/>
          </p:cNvSpPr>
          <p:nvPr>
            <p:ph type="title"/>
          </p:nvPr>
        </p:nvSpPr>
        <p:spPr/>
        <p:txBody>
          <a:bodyPr/>
          <a:lstStyle/>
          <a:p>
            <a:r>
              <a:rPr lang="en-IN" b="1" dirty="0">
                <a:solidFill>
                  <a:schemeClr val="tx1"/>
                </a:solidFill>
              </a:rPr>
              <a:t>CIA Triad</a:t>
            </a:r>
            <a:endParaRPr lang="en-IN" dirty="0">
              <a:solidFill>
                <a:schemeClr val="tx1"/>
              </a:solidFill>
            </a:endParaRPr>
          </a:p>
        </p:txBody>
      </p:sp>
      <p:sp>
        <p:nvSpPr>
          <p:cNvPr id="3" name="Content Placeholder 2">
            <a:extLst>
              <a:ext uri="{FF2B5EF4-FFF2-40B4-BE49-F238E27FC236}">
                <a16:creationId xmlns:a16="http://schemas.microsoft.com/office/drawing/2014/main" id="{570EA716-B72F-93B9-8E28-A4DD3746B88B}"/>
              </a:ext>
            </a:extLst>
          </p:cNvPr>
          <p:cNvSpPr>
            <a:spLocks noGrp="1"/>
          </p:cNvSpPr>
          <p:nvPr>
            <p:ph idx="1"/>
          </p:nvPr>
        </p:nvSpPr>
        <p:spPr>
          <a:xfrm>
            <a:off x="725905" y="2451391"/>
            <a:ext cx="10515600" cy="3433763"/>
          </a:xfrm>
        </p:spPr>
        <p:txBody>
          <a:bodyPr>
            <a:normAutofit/>
          </a:bodyPr>
          <a:lstStyle/>
          <a:p>
            <a:pPr marL="0" indent="0" algn="just">
              <a:lnSpc>
                <a:spcPct val="150000"/>
              </a:lnSpc>
              <a:buNone/>
            </a:pPr>
            <a:r>
              <a:rPr lang="en-US" sz="2400" b="1" dirty="0">
                <a:latin typeface="Times New Roman" panose="02020603050405020304" pitchFamily="18" charset="0"/>
                <a:cs typeface="Times New Roman" panose="02020603050405020304" pitchFamily="18" charset="0"/>
              </a:rPr>
              <a:t>AVAILABILITY: </a:t>
            </a:r>
            <a:r>
              <a:rPr lang="en-US" sz="2400" dirty="0">
                <a:latin typeface="Times New Roman" panose="02020603050405020304" pitchFamily="18" charset="0"/>
                <a:cs typeface="Times New Roman" panose="02020603050405020304" pitchFamily="18" charset="0"/>
              </a:rPr>
              <a:t>Availability ensures that authorized users have timely access to the information and resources they need. It involves preventing disruptions, system failures, or denial-of-service (DoS) attacks that could render systems or data inaccessible. </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p>
        </p:txBody>
      </p:sp>
      <p:pic>
        <p:nvPicPr>
          <p:cNvPr id="4" name="Content Placeholder 3">
            <a:extLst>
              <a:ext uri="{FF2B5EF4-FFF2-40B4-BE49-F238E27FC236}">
                <a16:creationId xmlns:a16="http://schemas.microsoft.com/office/drawing/2014/main" id="{66EE6380-AB7F-8EAD-6624-A86E5C994E08}"/>
              </a:ext>
            </a:extLst>
          </p:cNvPr>
          <p:cNvPicPr>
            <a:picLocks noChangeAspect="1"/>
          </p:cNvPicPr>
          <p:nvPr/>
        </p:nvPicPr>
        <p:blipFill>
          <a:blip r:embed="rId2"/>
          <a:stretch>
            <a:fillRect/>
          </a:stretch>
        </p:blipFill>
        <p:spPr>
          <a:xfrm>
            <a:off x="9668725" y="214961"/>
            <a:ext cx="2191056" cy="2086266"/>
          </a:xfrm>
          <a:prstGeom prst="rect">
            <a:avLst/>
          </a:prstGeom>
        </p:spPr>
      </p:pic>
    </p:spTree>
    <p:extLst>
      <p:ext uri="{BB962C8B-B14F-4D97-AF65-F5344CB8AC3E}">
        <p14:creationId xmlns:p14="http://schemas.microsoft.com/office/powerpoint/2010/main" val="373329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96546-B09A-DBEF-BB40-BB592EC69386}"/>
              </a:ext>
            </a:extLst>
          </p:cNvPr>
          <p:cNvSpPr>
            <a:spLocks noGrp="1"/>
          </p:cNvSpPr>
          <p:nvPr>
            <p:ph type="title"/>
          </p:nvPr>
        </p:nvSpPr>
        <p:spPr/>
        <p:txBody>
          <a:bodyPr/>
          <a:lstStyle/>
          <a:p>
            <a:r>
              <a:rPr lang="en-IN" b="1" dirty="0">
                <a:solidFill>
                  <a:schemeClr val="tx1"/>
                </a:solidFill>
              </a:rPr>
              <a:t>VIRUS:</a:t>
            </a:r>
            <a:endParaRPr lang="en-IN" dirty="0">
              <a:solidFill>
                <a:schemeClr val="tx1"/>
              </a:solidFill>
            </a:endParaRPr>
          </a:p>
        </p:txBody>
      </p:sp>
      <p:sp>
        <p:nvSpPr>
          <p:cNvPr id="3" name="Content Placeholder 2">
            <a:extLst>
              <a:ext uri="{FF2B5EF4-FFF2-40B4-BE49-F238E27FC236}">
                <a16:creationId xmlns:a16="http://schemas.microsoft.com/office/drawing/2014/main" id="{1C5542CE-79A4-BA64-37C0-4BF5B721AA48}"/>
              </a:ext>
            </a:extLst>
          </p:cNvPr>
          <p:cNvSpPr>
            <a:spLocks noGrp="1"/>
          </p:cNvSpPr>
          <p:nvPr>
            <p:ph idx="1"/>
          </p:nvPr>
        </p:nvSpPr>
        <p:spPr/>
        <p:txBody>
          <a:bodyPr>
            <a:normAutofit lnSpcReduction="10000"/>
          </a:bodyPr>
          <a:lstStyle/>
          <a:p>
            <a:pPr marL="0" indent="0" algn="just">
              <a:buNone/>
            </a:pPr>
            <a:r>
              <a:rPr lang="en-IN" sz="2400" dirty="0"/>
              <a:t>A virus is a piece of self-replicating code that attaches itself to legitimate programs or files. It executes only when the infected host is run, and often causes corruption or destruction of data.</a:t>
            </a:r>
          </a:p>
          <a:p>
            <a:pPr marL="0" indent="0" algn="just">
              <a:buNone/>
            </a:pPr>
            <a:endParaRPr lang="en-IN" sz="2400" dirty="0"/>
          </a:p>
          <a:p>
            <a:pPr marL="0" indent="0" algn="just">
              <a:buNone/>
            </a:pPr>
            <a:r>
              <a:rPr lang="en-IN" sz="2400" b="1" dirty="0"/>
              <a:t>Types of Viruses</a:t>
            </a:r>
            <a:r>
              <a:rPr lang="en-IN" sz="2400" dirty="0"/>
              <a:t>:</a:t>
            </a:r>
          </a:p>
          <a:p>
            <a:pPr marL="342900" lvl="0" indent="-342900" algn="just">
              <a:buFont typeface="+mj-lt"/>
              <a:buAutoNum type="arabicPeriod"/>
            </a:pPr>
            <a:r>
              <a:rPr lang="en-IN" sz="2400" dirty="0"/>
              <a:t>File Infector Virus</a:t>
            </a:r>
          </a:p>
          <a:p>
            <a:pPr marL="342900" lvl="0" indent="-342900" algn="just">
              <a:buFont typeface="+mj-lt"/>
              <a:buAutoNum type="arabicPeriod"/>
            </a:pPr>
            <a:r>
              <a:rPr lang="en-IN" sz="2400" dirty="0"/>
              <a:t>Macro Virus</a:t>
            </a:r>
          </a:p>
          <a:p>
            <a:pPr marL="342900" lvl="0" indent="-342900" algn="just">
              <a:buFont typeface="+mj-lt"/>
              <a:buAutoNum type="arabicPeriod"/>
            </a:pPr>
            <a:r>
              <a:rPr lang="en-IN" sz="2400" dirty="0"/>
              <a:t>Boot Sector Virus</a:t>
            </a:r>
          </a:p>
          <a:p>
            <a:pPr marL="342900" lvl="0" indent="-342900" algn="just">
              <a:buFont typeface="+mj-lt"/>
              <a:buAutoNum type="arabicPeriod"/>
            </a:pPr>
            <a:r>
              <a:rPr lang="en-IN" sz="2400" dirty="0"/>
              <a:t>Polymorphic Virus</a:t>
            </a:r>
          </a:p>
        </p:txBody>
      </p:sp>
    </p:spTree>
    <p:extLst>
      <p:ext uri="{BB962C8B-B14F-4D97-AF65-F5344CB8AC3E}">
        <p14:creationId xmlns:p14="http://schemas.microsoft.com/office/powerpoint/2010/main" val="3695374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71555-D519-C37C-5EE8-E3F3FA54A460}"/>
              </a:ext>
            </a:extLst>
          </p:cNvPr>
          <p:cNvSpPr>
            <a:spLocks noGrp="1"/>
          </p:cNvSpPr>
          <p:nvPr>
            <p:ph type="title"/>
          </p:nvPr>
        </p:nvSpPr>
        <p:spPr/>
        <p:txBody>
          <a:bodyPr/>
          <a:lstStyle/>
          <a:p>
            <a:r>
              <a:rPr lang="en-IN" b="1" dirty="0">
                <a:solidFill>
                  <a:schemeClr val="tx1"/>
                </a:solidFill>
              </a:rPr>
              <a:t>WORM:</a:t>
            </a:r>
            <a:endParaRPr lang="en-IN" dirty="0">
              <a:solidFill>
                <a:schemeClr val="tx1"/>
              </a:solidFill>
            </a:endParaRPr>
          </a:p>
        </p:txBody>
      </p:sp>
      <p:sp>
        <p:nvSpPr>
          <p:cNvPr id="3" name="Content Placeholder 2">
            <a:extLst>
              <a:ext uri="{FF2B5EF4-FFF2-40B4-BE49-F238E27FC236}">
                <a16:creationId xmlns:a16="http://schemas.microsoft.com/office/drawing/2014/main" id="{79A6213C-CF11-B18C-90D6-665D8DFDF35C}"/>
              </a:ext>
            </a:extLst>
          </p:cNvPr>
          <p:cNvSpPr>
            <a:spLocks noGrp="1"/>
          </p:cNvSpPr>
          <p:nvPr>
            <p:ph idx="1"/>
          </p:nvPr>
        </p:nvSpPr>
        <p:spPr/>
        <p:txBody>
          <a:bodyPr>
            <a:normAutofit/>
          </a:bodyPr>
          <a:lstStyle/>
          <a:p>
            <a:pPr marL="0" indent="0" algn="just">
              <a:buNone/>
            </a:pPr>
            <a:r>
              <a:rPr lang="en-IN" sz="2400" dirty="0"/>
              <a:t>A </a:t>
            </a:r>
            <a:r>
              <a:rPr lang="en-IN" sz="2400" b="1" dirty="0"/>
              <a:t>worm</a:t>
            </a:r>
            <a:r>
              <a:rPr lang="en-IN" sz="2400" dirty="0"/>
              <a:t> is a </a:t>
            </a:r>
            <a:r>
              <a:rPr lang="en-IN" sz="2400" b="1" dirty="0"/>
              <a:t>standalone malware</a:t>
            </a:r>
            <a:r>
              <a:rPr lang="en-IN" sz="2400" dirty="0"/>
              <a:t> that </a:t>
            </a:r>
            <a:r>
              <a:rPr lang="en-IN" sz="2400" b="1" dirty="0"/>
              <a:t>self-replicates and spreads automatically</a:t>
            </a:r>
            <a:r>
              <a:rPr lang="en-IN" sz="2400" dirty="0"/>
              <a:t>, usually over a network, </a:t>
            </a:r>
            <a:r>
              <a:rPr lang="en-IN" sz="2400" b="1" dirty="0"/>
              <a:t>without user interaction</a:t>
            </a:r>
            <a:r>
              <a:rPr lang="en-IN" sz="2400" dirty="0"/>
              <a:t>.</a:t>
            </a:r>
          </a:p>
          <a:p>
            <a:pPr marL="0" indent="0" algn="just">
              <a:buNone/>
            </a:pPr>
            <a:endParaRPr lang="en-IN" sz="2400" dirty="0"/>
          </a:p>
          <a:p>
            <a:pPr marL="0" indent="0" algn="just">
              <a:buNone/>
            </a:pPr>
            <a:r>
              <a:rPr lang="en-IN" sz="2400" b="1" dirty="0"/>
              <a:t>Examples</a:t>
            </a:r>
            <a:r>
              <a:rPr lang="en-IN" sz="2400" dirty="0"/>
              <a:t>: </a:t>
            </a:r>
            <a:r>
              <a:rPr lang="en-US" sz="2400" dirty="0"/>
              <a:t>One famous example is the </a:t>
            </a:r>
            <a:r>
              <a:rPr lang="en-US" sz="2400" b="1" dirty="0"/>
              <a:t>"ILOVEYOU" worm</a:t>
            </a:r>
            <a:r>
              <a:rPr lang="en-US" sz="2400" dirty="0"/>
              <a:t> from the year 2000. It spread through email with the subject line "ILOVEYOU." When people opened the attached file, the worm sent itself to all their email contacts, spreading rapidly and causing significant damage by overwriting files on infected computers.</a:t>
            </a:r>
            <a:endParaRPr lang="en-IN" sz="2400" dirty="0"/>
          </a:p>
          <a:p>
            <a:pPr marL="0" indent="0" algn="just">
              <a:buNone/>
            </a:pPr>
            <a:endParaRPr lang="en-IN" sz="2400" dirty="0"/>
          </a:p>
        </p:txBody>
      </p:sp>
    </p:spTree>
    <p:extLst>
      <p:ext uri="{BB962C8B-B14F-4D97-AF65-F5344CB8AC3E}">
        <p14:creationId xmlns:p14="http://schemas.microsoft.com/office/powerpoint/2010/main" val="1392351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1AA87-F17B-02A4-3949-6001C4E4DE02}"/>
              </a:ext>
            </a:extLst>
          </p:cNvPr>
          <p:cNvSpPr>
            <a:spLocks noGrp="1"/>
          </p:cNvSpPr>
          <p:nvPr>
            <p:ph type="title"/>
          </p:nvPr>
        </p:nvSpPr>
        <p:spPr/>
        <p:txBody>
          <a:bodyPr/>
          <a:lstStyle/>
          <a:p>
            <a:r>
              <a:rPr lang="en-IN" b="1" dirty="0">
                <a:solidFill>
                  <a:schemeClr val="tx1"/>
                </a:solidFill>
              </a:rPr>
              <a:t>Trojan Horse (Trojan): </a:t>
            </a:r>
            <a:endParaRPr lang="en-IN" dirty="0">
              <a:solidFill>
                <a:schemeClr val="tx1"/>
              </a:solidFill>
            </a:endParaRPr>
          </a:p>
        </p:txBody>
      </p:sp>
      <p:sp>
        <p:nvSpPr>
          <p:cNvPr id="3" name="Content Placeholder 2">
            <a:extLst>
              <a:ext uri="{FF2B5EF4-FFF2-40B4-BE49-F238E27FC236}">
                <a16:creationId xmlns:a16="http://schemas.microsoft.com/office/drawing/2014/main" id="{EBB52054-B6F7-C6EA-4749-5DC3504368FA}"/>
              </a:ext>
            </a:extLst>
          </p:cNvPr>
          <p:cNvSpPr>
            <a:spLocks noGrp="1"/>
          </p:cNvSpPr>
          <p:nvPr>
            <p:ph idx="1"/>
          </p:nvPr>
        </p:nvSpPr>
        <p:spPr/>
        <p:txBody>
          <a:bodyPr>
            <a:normAutofit/>
          </a:bodyPr>
          <a:lstStyle/>
          <a:p>
            <a:pPr marL="0" indent="0" algn="just">
              <a:buNone/>
            </a:pPr>
            <a:r>
              <a:rPr lang="en-IN" sz="2400" dirty="0"/>
              <a:t>A </a:t>
            </a:r>
            <a:r>
              <a:rPr lang="en-IN" sz="2400" b="1" dirty="0"/>
              <a:t>Trojan</a:t>
            </a:r>
            <a:r>
              <a:rPr lang="en-IN" sz="2400" dirty="0"/>
              <a:t> is </a:t>
            </a:r>
            <a:r>
              <a:rPr lang="en-IN" sz="2400" b="1" dirty="0"/>
              <a:t>malware disguised as legitimate software</a:t>
            </a:r>
            <a:r>
              <a:rPr lang="en-IN" sz="2400" dirty="0"/>
              <a:t>. It does </a:t>
            </a:r>
            <a:r>
              <a:rPr lang="en-IN" sz="2400" b="1" dirty="0"/>
              <a:t>not self-replicate</a:t>
            </a:r>
            <a:r>
              <a:rPr lang="en-IN" sz="2400" dirty="0"/>
              <a:t>, but it tricks users into installing it.</a:t>
            </a:r>
            <a:r>
              <a:rPr lang="en-IN" sz="2400" b="1" dirty="0"/>
              <a:t> </a:t>
            </a:r>
            <a:r>
              <a:rPr lang="en-IN" sz="2400" dirty="0"/>
              <a:t>Typically spread via phishing, fake downloads, or malicious attachments.</a:t>
            </a:r>
          </a:p>
          <a:p>
            <a:pPr marL="0" indent="0" algn="just">
              <a:buNone/>
            </a:pPr>
            <a:r>
              <a:rPr lang="en-IN" sz="2400" b="1" dirty="0"/>
              <a:t>Types of Trojans</a:t>
            </a:r>
            <a:r>
              <a:rPr lang="en-IN" sz="2400" dirty="0"/>
              <a:t>:</a:t>
            </a:r>
          </a:p>
          <a:p>
            <a:pPr lvl="0" algn="just"/>
            <a:r>
              <a:rPr lang="en-IN" sz="2400" b="1" dirty="0"/>
              <a:t>Banking Trojans</a:t>
            </a:r>
            <a:r>
              <a:rPr lang="en-IN" sz="2400" dirty="0"/>
              <a:t> – steal credentials.</a:t>
            </a:r>
          </a:p>
          <a:p>
            <a:pPr lvl="0" algn="just"/>
            <a:r>
              <a:rPr lang="en-IN" sz="2400" b="1" dirty="0"/>
              <a:t>Downloader Trojans</a:t>
            </a:r>
            <a:r>
              <a:rPr lang="en-IN" sz="2400" dirty="0"/>
              <a:t> – download other malware after installation.</a:t>
            </a:r>
          </a:p>
          <a:p>
            <a:pPr marL="0" indent="0" algn="just">
              <a:buNone/>
            </a:pPr>
            <a:endParaRPr lang="en-IN" sz="2400" dirty="0"/>
          </a:p>
        </p:txBody>
      </p:sp>
    </p:spTree>
    <p:extLst>
      <p:ext uri="{BB962C8B-B14F-4D97-AF65-F5344CB8AC3E}">
        <p14:creationId xmlns:p14="http://schemas.microsoft.com/office/powerpoint/2010/main" val="1344455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6D45D-D922-79F6-1744-1B72DA51F756}"/>
              </a:ext>
            </a:extLst>
          </p:cNvPr>
          <p:cNvSpPr>
            <a:spLocks noGrp="1"/>
          </p:cNvSpPr>
          <p:nvPr>
            <p:ph type="title"/>
          </p:nvPr>
        </p:nvSpPr>
        <p:spPr/>
        <p:txBody>
          <a:bodyPr>
            <a:normAutofit/>
          </a:bodyPr>
          <a:lstStyle/>
          <a:p>
            <a:r>
              <a:rPr lang="en-IN" b="1" dirty="0">
                <a:solidFill>
                  <a:schemeClr val="tx1"/>
                </a:solidFill>
              </a:rPr>
              <a:t>SECURITY CONCEPTS:</a:t>
            </a:r>
            <a:endParaRPr lang="en-IN" dirty="0">
              <a:solidFill>
                <a:schemeClr val="tx1"/>
              </a:solidFill>
            </a:endParaRPr>
          </a:p>
        </p:txBody>
      </p:sp>
      <p:sp>
        <p:nvSpPr>
          <p:cNvPr id="3" name="Content Placeholder 2">
            <a:extLst>
              <a:ext uri="{FF2B5EF4-FFF2-40B4-BE49-F238E27FC236}">
                <a16:creationId xmlns:a16="http://schemas.microsoft.com/office/drawing/2014/main" id="{4DECC255-8FD2-A43A-DC04-822AA8D0BCDB}"/>
              </a:ext>
            </a:extLst>
          </p:cNvPr>
          <p:cNvSpPr>
            <a:spLocks noGrp="1"/>
          </p:cNvSpPr>
          <p:nvPr>
            <p:ph idx="1"/>
          </p:nvPr>
        </p:nvSpPr>
        <p:spPr>
          <a:xfrm>
            <a:off x="1066800" y="2103120"/>
            <a:ext cx="10467474" cy="4281638"/>
          </a:xfrm>
        </p:spPr>
        <p:txBody>
          <a:bodyPr>
            <a:normAutofit/>
          </a:bodyPr>
          <a:lstStyle/>
          <a:p>
            <a:pPr marL="0" indent="0" algn="just">
              <a:buNone/>
            </a:pPr>
            <a:r>
              <a:rPr lang="en-IN" sz="2400" b="1" dirty="0"/>
              <a:t>1. Vulnerability:</a:t>
            </a:r>
            <a:r>
              <a:rPr lang="en-IN" sz="2400" dirty="0"/>
              <a:t> A vulnerability is a </a:t>
            </a:r>
            <a:r>
              <a:rPr lang="en-IN" sz="2400" b="1" dirty="0"/>
              <a:t>weakness or flaw</a:t>
            </a:r>
            <a:r>
              <a:rPr lang="en-IN" sz="2400" dirty="0"/>
              <a:t> in a system or application that can be exploited to compromise confidentiality, integrity, or availability.</a:t>
            </a:r>
          </a:p>
          <a:p>
            <a:pPr marL="0" indent="0" algn="just">
              <a:buNone/>
            </a:pPr>
            <a:r>
              <a:rPr lang="en-IN" sz="2400" b="1" dirty="0"/>
              <a:t>2. Threat: </a:t>
            </a:r>
            <a:r>
              <a:rPr lang="en-IN" sz="2400" dirty="0"/>
              <a:t>A threat is any potential danger that may exploit a vulnerability to harm the system. </a:t>
            </a:r>
          </a:p>
          <a:p>
            <a:pPr marL="0" indent="0" algn="just">
              <a:buNone/>
            </a:pPr>
            <a:r>
              <a:rPr lang="en-IN" sz="2400" b="1" dirty="0"/>
              <a:t>Types</a:t>
            </a:r>
            <a:r>
              <a:rPr lang="en-IN" sz="2400" dirty="0"/>
              <a:t>:</a:t>
            </a:r>
          </a:p>
          <a:p>
            <a:pPr lvl="0" algn="just"/>
            <a:r>
              <a:rPr lang="en-IN" sz="2400" dirty="0"/>
              <a:t>Spoofing identity </a:t>
            </a:r>
          </a:p>
          <a:p>
            <a:pPr lvl="0" algn="just"/>
            <a:r>
              <a:rPr lang="en-IN" sz="2400" dirty="0"/>
              <a:t>Information disclosure</a:t>
            </a:r>
          </a:p>
          <a:p>
            <a:pPr lvl="0" algn="just"/>
            <a:r>
              <a:rPr lang="en-IN" sz="2400" dirty="0"/>
              <a:t>Denial of service </a:t>
            </a:r>
          </a:p>
          <a:p>
            <a:pPr lvl="0" algn="just"/>
            <a:r>
              <a:rPr lang="en-IN" sz="2400" dirty="0"/>
              <a:t>Elevation of privilege </a:t>
            </a:r>
          </a:p>
        </p:txBody>
      </p:sp>
    </p:spTree>
    <p:extLst>
      <p:ext uri="{BB962C8B-B14F-4D97-AF65-F5344CB8AC3E}">
        <p14:creationId xmlns:p14="http://schemas.microsoft.com/office/powerpoint/2010/main" val="44527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8D592-8EED-7C5C-428F-29DDF874AD50}"/>
              </a:ext>
            </a:extLst>
          </p:cNvPr>
          <p:cNvSpPr>
            <a:spLocks noGrp="1"/>
          </p:cNvSpPr>
          <p:nvPr>
            <p:ph type="title"/>
          </p:nvPr>
        </p:nvSpPr>
        <p:spPr/>
        <p:txBody>
          <a:bodyPr/>
          <a:lstStyle/>
          <a:p>
            <a:r>
              <a:rPr lang="en-IN" b="1" dirty="0">
                <a:solidFill>
                  <a:schemeClr val="tx1"/>
                </a:solidFill>
              </a:rPr>
              <a:t>SECURITY CONCEPTS:</a:t>
            </a:r>
            <a:endParaRPr lang="en-IN" dirty="0">
              <a:solidFill>
                <a:schemeClr val="tx1"/>
              </a:solidFill>
            </a:endParaRPr>
          </a:p>
        </p:txBody>
      </p:sp>
      <p:sp>
        <p:nvSpPr>
          <p:cNvPr id="3" name="Content Placeholder 2">
            <a:extLst>
              <a:ext uri="{FF2B5EF4-FFF2-40B4-BE49-F238E27FC236}">
                <a16:creationId xmlns:a16="http://schemas.microsoft.com/office/drawing/2014/main" id="{AF5FC1FC-2C3C-7ADC-5581-487D00EEDDEB}"/>
              </a:ext>
            </a:extLst>
          </p:cNvPr>
          <p:cNvSpPr>
            <a:spLocks noGrp="1"/>
          </p:cNvSpPr>
          <p:nvPr>
            <p:ph idx="1"/>
          </p:nvPr>
        </p:nvSpPr>
        <p:spPr/>
        <p:txBody>
          <a:bodyPr>
            <a:normAutofit fontScale="92500"/>
          </a:bodyPr>
          <a:lstStyle/>
          <a:p>
            <a:pPr marL="0" indent="0" algn="just">
              <a:buNone/>
            </a:pPr>
            <a:r>
              <a:rPr lang="en-IN" sz="2400" b="1" dirty="0"/>
              <a:t>3. Attack:</a:t>
            </a:r>
            <a:r>
              <a:rPr lang="en-IN" sz="2400" dirty="0"/>
              <a:t> An attack is the actual action taken to exploit a vulnerability.</a:t>
            </a:r>
          </a:p>
          <a:p>
            <a:pPr marL="0" indent="0" algn="just">
              <a:buNone/>
            </a:pPr>
            <a:r>
              <a:rPr lang="en-IN" sz="2400" b="1" dirty="0"/>
              <a:t>Types</a:t>
            </a:r>
            <a:r>
              <a:rPr lang="en-IN" sz="2400" dirty="0"/>
              <a:t>:</a:t>
            </a:r>
          </a:p>
          <a:p>
            <a:pPr lvl="0" algn="just"/>
            <a:r>
              <a:rPr lang="en-IN" sz="2400" b="1" dirty="0"/>
              <a:t>Active Attack</a:t>
            </a:r>
            <a:r>
              <a:rPr lang="en-IN" sz="2400" dirty="0"/>
              <a:t>: Modifies or damages data/systems.</a:t>
            </a:r>
          </a:p>
          <a:p>
            <a:pPr lvl="0" algn="just"/>
            <a:r>
              <a:rPr lang="en-IN" sz="2400" b="1" dirty="0"/>
              <a:t>Passive Attack</a:t>
            </a:r>
            <a:r>
              <a:rPr lang="en-IN" sz="2400" dirty="0"/>
              <a:t>: Eavesdrops on communication without altering it.</a:t>
            </a:r>
          </a:p>
          <a:p>
            <a:pPr marL="0" indent="0" algn="just">
              <a:buNone/>
            </a:pPr>
            <a:r>
              <a:rPr lang="en-IN" sz="2400" dirty="0"/>
              <a:t> </a:t>
            </a:r>
          </a:p>
          <a:p>
            <a:pPr marL="0" indent="0" algn="just">
              <a:buNone/>
            </a:pPr>
            <a:r>
              <a:rPr lang="en-IN" sz="2400" b="1" dirty="0"/>
              <a:t>4. Exploit: </a:t>
            </a:r>
            <a:r>
              <a:rPr lang="en-IN" sz="2400" dirty="0"/>
              <a:t>An exploit is a piece of code, technique, or script that takes advantage of a vulnerability to perform an attack. The trick or path used to attack.</a:t>
            </a:r>
          </a:p>
          <a:p>
            <a:pPr marL="0" indent="0" algn="just">
              <a:buNone/>
            </a:pPr>
            <a:endParaRPr lang="en-IN" sz="2400" dirty="0"/>
          </a:p>
          <a:p>
            <a:pPr marL="0" indent="0">
              <a:buNone/>
            </a:pPr>
            <a:r>
              <a:rPr lang="en-IN" sz="2400" b="1" dirty="0"/>
              <a:t>5. Risk: </a:t>
            </a:r>
            <a:r>
              <a:rPr lang="en-IN" sz="2400" dirty="0"/>
              <a:t>Risk is the potential impact of a threat exploiting a vulnerability.</a:t>
            </a:r>
          </a:p>
          <a:p>
            <a:pPr marL="0" indent="0">
              <a:buNone/>
            </a:pPr>
            <a:endParaRPr lang="en-IN" sz="2400" dirty="0"/>
          </a:p>
        </p:txBody>
      </p:sp>
    </p:spTree>
    <p:extLst>
      <p:ext uri="{BB962C8B-B14F-4D97-AF65-F5344CB8AC3E}">
        <p14:creationId xmlns:p14="http://schemas.microsoft.com/office/powerpoint/2010/main" val="4253264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94F7E-217F-4CE2-9621-AECF1919CDD1}"/>
              </a:ext>
            </a:extLst>
          </p:cNvPr>
          <p:cNvSpPr>
            <a:spLocks noGrp="1"/>
          </p:cNvSpPr>
          <p:nvPr>
            <p:ph type="title"/>
          </p:nvPr>
        </p:nvSpPr>
        <p:spPr/>
        <p:txBody>
          <a:bodyPr>
            <a:normAutofit/>
          </a:bodyPr>
          <a:lstStyle/>
          <a:p>
            <a:r>
              <a:rPr lang="en-IN" b="1" dirty="0">
                <a:solidFill>
                  <a:schemeClr val="tx1"/>
                </a:solidFill>
              </a:rPr>
              <a:t>MALWARE TERMINOLOGY</a:t>
            </a:r>
            <a:endParaRPr lang="en-IN" dirty="0">
              <a:solidFill>
                <a:schemeClr val="tx1"/>
              </a:solidFill>
            </a:endParaRPr>
          </a:p>
        </p:txBody>
      </p:sp>
      <p:sp>
        <p:nvSpPr>
          <p:cNvPr id="3" name="Content Placeholder 2">
            <a:extLst>
              <a:ext uri="{FF2B5EF4-FFF2-40B4-BE49-F238E27FC236}">
                <a16:creationId xmlns:a16="http://schemas.microsoft.com/office/drawing/2014/main" id="{BE55B3E8-2781-630D-C3B6-BAAB9C336C58}"/>
              </a:ext>
            </a:extLst>
          </p:cNvPr>
          <p:cNvSpPr>
            <a:spLocks noGrp="1"/>
          </p:cNvSpPr>
          <p:nvPr>
            <p:ph idx="1"/>
          </p:nvPr>
        </p:nvSpPr>
        <p:spPr/>
        <p:txBody>
          <a:bodyPr>
            <a:normAutofit/>
          </a:bodyPr>
          <a:lstStyle/>
          <a:p>
            <a:pPr marL="0" indent="0" algn="just">
              <a:buNone/>
            </a:pPr>
            <a:r>
              <a:rPr lang="en-IN" sz="2400" dirty="0"/>
              <a:t>Malware is malicious software and refers to any software that is designed to cause harm to computer systems, networks, or users.</a:t>
            </a:r>
          </a:p>
          <a:p>
            <a:pPr marL="0" indent="0" algn="just">
              <a:buNone/>
            </a:pPr>
            <a:endParaRPr lang="en-IN" sz="2400" dirty="0"/>
          </a:p>
          <a:p>
            <a:pPr marL="457200" indent="-457200" algn="just">
              <a:buAutoNum type="arabicPeriod"/>
            </a:pPr>
            <a:r>
              <a:rPr lang="en-IN" sz="2400" b="1" dirty="0"/>
              <a:t>Rootkits: </a:t>
            </a:r>
            <a:r>
              <a:rPr lang="en-IN" sz="2400" dirty="0"/>
              <a:t>A rootkit is a type of malware designed to hide its presence and give attackers full control of a system at the root (admin) level. It modifies system files, drivers, or the kernel to stay hidden and run silently.</a:t>
            </a:r>
          </a:p>
          <a:p>
            <a:pPr marL="0" indent="0" algn="just">
              <a:buNone/>
            </a:pPr>
            <a:endParaRPr lang="en-IN" sz="2400" dirty="0"/>
          </a:p>
          <a:p>
            <a:pPr marL="0" indent="0" algn="just">
              <a:buNone/>
            </a:pPr>
            <a:r>
              <a:rPr lang="en-IN" sz="2400" b="1" dirty="0"/>
              <a:t>2. Trapdoors (Backdoors): </a:t>
            </a:r>
            <a:r>
              <a:rPr lang="en-IN" sz="2400" dirty="0"/>
              <a:t>A trapdoor or backdoor is a hidden method of bypassing normal authentication to access a system.</a:t>
            </a:r>
          </a:p>
          <a:p>
            <a:pPr marL="0" indent="0" algn="just">
              <a:buNone/>
            </a:pPr>
            <a:endParaRPr lang="en-IN" sz="2400" dirty="0"/>
          </a:p>
        </p:txBody>
      </p:sp>
    </p:spTree>
    <p:extLst>
      <p:ext uri="{BB962C8B-B14F-4D97-AF65-F5344CB8AC3E}">
        <p14:creationId xmlns:p14="http://schemas.microsoft.com/office/powerpoint/2010/main" val="3693904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5BCF9-49BC-12C3-F0A5-915D3CD4F80D}"/>
              </a:ext>
            </a:extLst>
          </p:cNvPr>
          <p:cNvSpPr>
            <a:spLocks noGrp="1"/>
          </p:cNvSpPr>
          <p:nvPr>
            <p:ph type="title"/>
          </p:nvPr>
        </p:nvSpPr>
        <p:spPr/>
        <p:txBody>
          <a:bodyPr/>
          <a:lstStyle/>
          <a:p>
            <a:r>
              <a:rPr lang="en-IN" b="1" dirty="0">
                <a:solidFill>
                  <a:schemeClr val="tx1"/>
                </a:solidFill>
              </a:rPr>
              <a:t>MALWARE TERMINOLOGY</a:t>
            </a:r>
            <a:endParaRPr lang="en-IN" dirty="0">
              <a:solidFill>
                <a:schemeClr val="tx1"/>
              </a:solidFill>
            </a:endParaRPr>
          </a:p>
        </p:txBody>
      </p:sp>
      <p:sp>
        <p:nvSpPr>
          <p:cNvPr id="3" name="Content Placeholder 2">
            <a:extLst>
              <a:ext uri="{FF2B5EF4-FFF2-40B4-BE49-F238E27FC236}">
                <a16:creationId xmlns:a16="http://schemas.microsoft.com/office/drawing/2014/main" id="{0CE025C2-2FAB-A6DE-F958-736D82005490}"/>
              </a:ext>
            </a:extLst>
          </p:cNvPr>
          <p:cNvSpPr>
            <a:spLocks noGrp="1"/>
          </p:cNvSpPr>
          <p:nvPr>
            <p:ph idx="1"/>
          </p:nvPr>
        </p:nvSpPr>
        <p:spPr/>
        <p:txBody>
          <a:bodyPr>
            <a:normAutofit fontScale="92500"/>
          </a:bodyPr>
          <a:lstStyle/>
          <a:p>
            <a:pPr marL="0" indent="0" algn="just">
              <a:buNone/>
            </a:pPr>
            <a:r>
              <a:rPr lang="en-IN" sz="2400" b="1" dirty="0"/>
              <a:t>3. Botnets: </a:t>
            </a:r>
            <a:r>
              <a:rPr lang="en-IN" sz="2400" dirty="0"/>
              <a:t>A botnet is a network of infected devices (bots or zombies) controlled remotely by an attacker, called a botmaster.</a:t>
            </a:r>
          </a:p>
          <a:p>
            <a:pPr marL="0" indent="0" algn="just">
              <a:buNone/>
            </a:pPr>
            <a:r>
              <a:rPr lang="en-IN" sz="2400" b="1" dirty="0"/>
              <a:t>Malware infects a computer → joins the botnet → waits for commands.</a:t>
            </a:r>
            <a:endParaRPr lang="en-IN" sz="2400" dirty="0"/>
          </a:p>
          <a:p>
            <a:pPr marL="0" indent="0" algn="just">
              <a:buNone/>
            </a:pPr>
            <a:endParaRPr lang="en-IN" sz="2400" b="1" dirty="0"/>
          </a:p>
          <a:p>
            <a:pPr marL="0" indent="0" algn="just">
              <a:buNone/>
            </a:pPr>
            <a:r>
              <a:rPr lang="en-IN" sz="2400" b="1" dirty="0"/>
              <a:t>4. Keyloggers</a:t>
            </a:r>
            <a:r>
              <a:rPr lang="en-IN" sz="2400" dirty="0"/>
              <a:t>:</a:t>
            </a:r>
            <a:r>
              <a:rPr lang="en-IN" sz="2400" b="1" dirty="0"/>
              <a:t> </a:t>
            </a:r>
            <a:r>
              <a:rPr lang="en-IN" sz="2400" dirty="0"/>
              <a:t>A </a:t>
            </a:r>
            <a:r>
              <a:rPr lang="en-IN" sz="2400" b="1" dirty="0"/>
              <a:t>keylogger</a:t>
            </a:r>
            <a:r>
              <a:rPr lang="en-IN" sz="2400" dirty="0"/>
              <a:t> is malware that </a:t>
            </a:r>
            <a:r>
              <a:rPr lang="en-IN" sz="2400" b="1" dirty="0"/>
              <a:t>records keystrokes</a:t>
            </a:r>
            <a:r>
              <a:rPr lang="en-IN" sz="2400" dirty="0"/>
              <a:t> typed by the user, capturing sensitive information like</a:t>
            </a:r>
            <a:r>
              <a:rPr lang="en-IN" sz="2400" b="1" dirty="0"/>
              <a:t> </a:t>
            </a:r>
            <a:r>
              <a:rPr lang="en-IN" sz="2400" dirty="0"/>
              <a:t>Passwords</a:t>
            </a:r>
            <a:r>
              <a:rPr lang="en-IN" sz="2400" b="1" dirty="0"/>
              <a:t>, </a:t>
            </a:r>
            <a:r>
              <a:rPr lang="en-IN" sz="2400" dirty="0"/>
              <a:t>Bank account numbers, and Personal messages.</a:t>
            </a:r>
          </a:p>
          <a:p>
            <a:pPr marL="0" indent="0" algn="just">
              <a:buNone/>
            </a:pPr>
            <a:endParaRPr lang="en-IN" sz="2400" b="1" dirty="0"/>
          </a:p>
          <a:p>
            <a:pPr marL="0" indent="0" algn="just">
              <a:buNone/>
            </a:pPr>
            <a:r>
              <a:rPr lang="en-IN" sz="2400" b="1" dirty="0"/>
              <a:t>5. Honeypots: </a:t>
            </a:r>
            <a:r>
              <a:rPr lang="en-IN" sz="2400" dirty="0"/>
              <a:t>A </a:t>
            </a:r>
            <a:r>
              <a:rPr lang="en-IN" sz="2400" b="1" dirty="0"/>
              <a:t>honeypot</a:t>
            </a:r>
            <a:r>
              <a:rPr lang="en-IN" sz="2400" dirty="0"/>
              <a:t> is </a:t>
            </a:r>
            <a:r>
              <a:rPr lang="en-IN" sz="2400" b="1" dirty="0"/>
              <a:t>not malware</a:t>
            </a:r>
            <a:r>
              <a:rPr lang="en-IN" sz="2400" dirty="0"/>
              <a:t> — it’s a </a:t>
            </a:r>
            <a:r>
              <a:rPr lang="en-IN" sz="2400" b="1" dirty="0"/>
              <a:t>security tool</a:t>
            </a:r>
            <a:r>
              <a:rPr lang="en-IN" sz="2400" dirty="0"/>
              <a:t> used by defenders.</a:t>
            </a:r>
          </a:p>
          <a:p>
            <a:pPr marL="0" indent="0" algn="just">
              <a:buNone/>
            </a:pPr>
            <a:endParaRPr lang="en-IN" sz="2400" dirty="0"/>
          </a:p>
        </p:txBody>
      </p:sp>
    </p:spTree>
    <p:extLst>
      <p:ext uri="{BB962C8B-B14F-4D97-AF65-F5344CB8AC3E}">
        <p14:creationId xmlns:p14="http://schemas.microsoft.com/office/powerpoint/2010/main" val="3333961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D1996-FDB4-1936-AF19-F41AEBCA30BC}"/>
              </a:ext>
            </a:extLst>
          </p:cNvPr>
          <p:cNvSpPr>
            <a:spLocks noGrp="1"/>
          </p:cNvSpPr>
          <p:nvPr>
            <p:ph type="title"/>
          </p:nvPr>
        </p:nvSpPr>
        <p:spPr/>
        <p:txBody>
          <a:bodyPr>
            <a:normAutofit/>
          </a:bodyPr>
          <a:lstStyle/>
          <a:p>
            <a:r>
              <a:rPr lang="en-IN" sz="3600" b="1" dirty="0">
                <a:solidFill>
                  <a:schemeClr val="tx1"/>
                </a:solidFill>
              </a:rPr>
              <a:t>ACTIVE VS PASSIVE SECURITY ATTACKS</a:t>
            </a:r>
            <a:endParaRPr lang="en-IN" sz="3600" dirty="0">
              <a:solidFill>
                <a:schemeClr val="tx1"/>
              </a:solidFill>
            </a:endParaRPr>
          </a:p>
        </p:txBody>
      </p:sp>
      <p:sp>
        <p:nvSpPr>
          <p:cNvPr id="3" name="Content Placeholder 2">
            <a:extLst>
              <a:ext uri="{FF2B5EF4-FFF2-40B4-BE49-F238E27FC236}">
                <a16:creationId xmlns:a16="http://schemas.microsoft.com/office/drawing/2014/main" id="{D2AB29D5-376D-29B9-ED9B-7B8CFE87961C}"/>
              </a:ext>
            </a:extLst>
          </p:cNvPr>
          <p:cNvSpPr>
            <a:spLocks noGrp="1"/>
          </p:cNvSpPr>
          <p:nvPr>
            <p:ph idx="1"/>
          </p:nvPr>
        </p:nvSpPr>
        <p:spPr/>
        <p:txBody>
          <a:bodyPr>
            <a:normAutofit/>
          </a:bodyPr>
          <a:lstStyle/>
          <a:p>
            <a:pPr marL="0" indent="0" algn="just">
              <a:buNone/>
            </a:pPr>
            <a:r>
              <a:rPr lang="en-IN" sz="2400" b="1" dirty="0"/>
              <a:t>Active Security Attacks: </a:t>
            </a:r>
            <a:r>
              <a:rPr lang="en-IN" sz="2400" dirty="0"/>
              <a:t>In an </a:t>
            </a:r>
            <a:r>
              <a:rPr lang="en-IN" sz="2400" b="1" dirty="0"/>
              <a:t>active attack</a:t>
            </a:r>
            <a:r>
              <a:rPr lang="en-IN" sz="2400" dirty="0"/>
              <a:t>, the attacker </a:t>
            </a:r>
            <a:r>
              <a:rPr lang="en-IN" sz="2400" b="1" dirty="0"/>
              <a:t>modifies, disrupts, or damages</a:t>
            </a:r>
            <a:r>
              <a:rPr lang="en-IN" sz="2400" dirty="0"/>
              <a:t> the system or data. The attacker </a:t>
            </a:r>
            <a:r>
              <a:rPr lang="en-IN" sz="2400" b="1" dirty="0"/>
              <a:t>acts and causes change or damage</a:t>
            </a:r>
            <a:r>
              <a:rPr lang="en-IN" sz="2400" dirty="0"/>
              <a:t>.</a:t>
            </a:r>
          </a:p>
          <a:p>
            <a:pPr marL="0" indent="0" algn="just">
              <a:buNone/>
            </a:pPr>
            <a:r>
              <a:rPr lang="en-IN" sz="2400" b="1" dirty="0"/>
              <a:t>Examples: </a:t>
            </a:r>
            <a:r>
              <a:rPr lang="en-IN" sz="2400" dirty="0"/>
              <a:t>DoS attack, Man-in-the-Middle (MitM), Malware injection.</a:t>
            </a:r>
          </a:p>
          <a:p>
            <a:pPr marL="0" indent="0" algn="just">
              <a:buNone/>
            </a:pPr>
            <a:r>
              <a:rPr lang="en-IN" sz="2400" dirty="0"/>
              <a:t> </a:t>
            </a:r>
          </a:p>
          <a:p>
            <a:pPr marL="0" indent="0" algn="just">
              <a:buNone/>
            </a:pPr>
            <a:r>
              <a:rPr lang="en-IN" sz="2400" b="1" dirty="0"/>
              <a:t>Passive Security Attacks: </a:t>
            </a:r>
            <a:r>
              <a:rPr lang="en-IN" sz="2400" dirty="0"/>
              <a:t>In a </a:t>
            </a:r>
            <a:r>
              <a:rPr lang="en-IN" sz="2400" b="1" dirty="0"/>
              <a:t>passive attack</a:t>
            </a:r>
            <a:r>
              <a:rPr lang="en-IN" sz="2400" dirty="0"/>
              <a:t>, the attacker </a:t>
            </a:r>
            <a:r>
              <a:rPr lang="en-IN" sz="2400" b="1" dirty="0"/>
              <a:t>only observes or listens</a:t>
            </a:r>
            <a:r>
              <a:rPr lang="en-IN" sz="2400" dirty="0"/>
              <a:t> to communications or data without modifying anything.</a:t>
            </a:r>
          </a:p>
          <a:p>
            <a:pPr marL="0" indent="0" algn="just">
              <a:buNone/>
            </a:pPr>
            <a:r>
              <a:rPr lang="en-IN" sz="2400" b="1" dirty="0"/>
              <a:t>Examples:</a:t>
            </a:r>
            <a:r>
              <a:rPr lang="en-IN" sz="2400" dirty="0"/>
              <a:t> Eavesdropping, Traffic analysis.</a:t>
            </a:r>
          </a:p>
        </p:txBody>
      </p:sp>
    </p:spTree>
    <p:extLst>
      <p:ext uri="{BB962C8B-B14F-4D97-AF65-F5344CB8AC3E}">
        <p14:creationId xmlns:p14="http://schemas.microsoft.com/office/powerpoint/2010/main" val="3940609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8BD9B-D27B-B730-A3E5-9FD49504B676}"/>
              </a:ext>
            </a:extLst>
          </p:cNvPr>
          <p:cNvSpPr>
            <a:spLocks noGrp="1"/>
          </p:cNvSpPr>
          <p:nvPr>
            <p:ph type="title"/>
          </p:nvPr>
        </p:nvSpPr>
        <p:spPr/>
        <p:txBody>
          <a:bodyPr>
            <a:normAutofit/>
          </a:bodyPr>
          <a:lstStyle/>
          <a:p>
            <a:r>
              <a:rPr lang="en-IN" b="1" dirty="0">
                <a:solidFill>
                  <a:schemeClr val="tx1"/>
                </a:solidFill>
              </a:rPr>
              <a:t>IP SPOOFING</a:t>
            </a:r>
            <a:endParaRPr lang="en-IN" dirty="0">
              <a:solidFill>
                <a:schemeClr val="tx1"/>
              </a:solidFill>
            </a:endParaRPr>
          </a:p>
        </p:txBody>
      </p:sp>
      <p:sp>
        <p:nvSpPr>
          <p:cNvPr id="3" name="Content Placeholder 2">
            <a:extLst>
              <a:ext uri="{FF2B5EF4-FFF2-40B4-BE49-F238E27FC236}">
                <a16:creationId xmlns:a16="http://schemas.microsoft.com/office/drawing/2014/main" id="{503D64D2-2CEF-9FD4-C436-0A944805875E}"/>
              </a:ext>
            </a:extLst>
          </p:cNvPr>
          <p:cNvSpPr>
            <a:spLocks noGrp="1"/>
          </p:cNvSpPr>
          <p:nvPr>
            <p:ph idx="1"/>
          </p:nvPr>
        </p:nvSpPr>
        <p:spPr/>
        <p:txBody>
          <a:bodyPr>
            <a:normAutofit lnSpcReduction="10000"/>
          </a:bodyPr>
          <a:lstStyle/>
          <a:p>
            <a:pPr lvl="0" algn="just"/>
            <a:r>
              <a:rPr lang="en-IN" sz="3200" dirty="0"/>
              <a:t>In IP spoofing, an attacker manipulates the source IP address in the packet header to make it appear as if it’s coming from a trusted source. </a:t>
            </a:r>
          </a:p>
          <a:p>
            <a:pPr lvl="0" algn="just"/>
            <a:r>
              <a:rPr lang="en-IN" sz="3200" dirty="0"/>
              <a:t>This tricks the target into accepting the packets, thinking they are from a legitimate sender. </a:t>
            </a:r>
          </a:p>
          <a:p>
            <a:pPr lvl="0" algn="just"/>
            <a:r>
              <a:rPr lang="en-IN" sz="3200" dirty="0"/>
              <a:t>The attacker can then bypass access controls, authentication mechanisms, or even redirect traffic to unintended destinations.</a:t>
            </a:r>
          </a:p>
          <a:p>
            <a:pPr marL="0" indent="0" algn="just">
              <a:buNone/>
            </a:pPr>
            <a:endParaRPr lang="en-IN" sz="3200" dirty="0"/>
          </a:p>
        </p:txBody>
      </p:sp>
    </p:spTree>
    <p:extLst>
      <p:ext uri="{BB962C8B-B14F-4D97-AF65-F5344CB8AC3E}">
        <p14:creationId xmlns:p14="http://schemas.microsoft.com/office/powerpoint/2010/main" val="550640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9A83E-51E5-EE9D-E7A8-0BCF9F7D2136}"/>
              </a:ext>
            </a:extLst>
          </p:cNvPr>
          <p:cNvSpPr>
            <a:spLocks noGrp="1"/>
          </p:cNvSpPr>
          <p:nvPr>
            <p:ph type="title"/>
          </p:nvPr>
        </p:nvSpPr>
        <p:spPr/>
        <p:txBody>
          <a:bodyPr>
            <a:normAutofit/>
          </a:bodyPr>
          <a:lstStyle/>
          <a:p>
            <a:r>
              <a:rPr lang="en-IN" b="1" dirty="0">
                <a:solidFill>
                  <a:schemeClr val="tx1"/>
                </a:solidFill>
              </a:rPr>
              <a:t>TEARDROP ATTACK</a:t>
            </a:r>
            <a:endParaRPr lang="en-IN" dirty="0">
              <a:solidFill>
                <a:schemeClr val="tx1"/>
              </a:solidFill>
            </a:endParaRPr>
          </a:p>
        </p:txBody>
      </p:sp>
      <p:pic>
        <p:nvPicPr>
          <p:cNvPr id="4" name="Picture 3" descr="Teardrop attack">
            <a:extLst>
              <a:ext uri="{FF2B5EF4-FFF2-40B4-BE49-F238E27FC236}">
                <a16:creationId xmlns:a16="http://schemas.microsoft.com/office/drawing/2014/main" id="{4E9A2912-E538-2F11-4B43-CFCF69748D0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8455"/>
          <a:stretch>
            <a:fillRect/>
          </a:stretch>
        </p:blipFill>
        <p:spPr bwMode="auto">
          <a:xfrm>
            <a:off x="1411706" y="1950055"/>
            <a:ext cx="7940841" cy="437071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07098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D2356-FBEF-EB56-1EA1-FC5C1C347CDA}"/>
              </a:ext>
            </a:extLst>
          </p:cNvPr>
          <p:cNvSpPr>
            <a:spLocks noGrp="1"/>
          </p:cNvSpPr>
          <p:nvPr>
            <p:ph type="title"/>
          </p:nvPr>
        </p:nvSpPr>
        <p:spPr/>
        <p:txBody>
          <a:bodyPr>
            <a:normAutofit/>
          </a:bodyPr>
          <a:lstStyle/>
          <a:p>
            <a:r>
              <a:rPr lang="en-IN" b="1" dirty="0">
                <a:solidFill>
                  <a:schemeClr val="tx1"/>
                </a:solidFill>
              </a:rPr>
              <a:t>DDOS ATTACK:</a:t>
            </a:r>
            <a:endParaRPr lang="en-IN" dirty="0">
              <a:solidFill>
                <a:schemeClr val="tx1"/>
              </a:solidFill>
            </a:endParaRPr>
          </a:p>
        </p:txBody>
      </p:sp>
      <p:sp>
        <p:nvSpPr>
          <p:cNvPr id="3" name="Content Placeholder 2">
            <a:extLst>
              <a:ext uri="{FF2B5EF4-FFF2-40B4-BE49-F238E27FC236}">
                <a16:creationId xmlns:a16="http://schemas.microsoft.com/office/drawing/2014/main" id="{C8FB6997-D6FE-451C-AA49-E701DD19E338}"/>
              </a:ext>
            </a:extLst>
          </p:cNvPr>
          <p:cNvSpPr>
            <a:spLocks noGrp="1"/>
          </p:cNvSpPr>
          <p:nvPr>
            <p:ph idx="1"/>
          </p:nvPr>
        </p:nvSpPr>
        <p:spPr/>
        <p:txBody>
          <a:bodyPr>
            <a:normAutofit/>
          </a:bodyPr>
          <a:lstStyle/>
          <a:p>
            <a:pPr marL="0" indent="0" algn="just">
              <a:buNone/>
            </a:pPr>
            <a:r>
              <a:rPr lang="en-IN" sz="2800" dirty="0"/>
              <a:t>A distributed denial-of-service (DDoS) attack is a malicious attempt to disrupt the normal traffic of a targeted server, service or network by overwhelming the target or its surrounding infrastructure with a flood of Internet traffic.</a:t>
            </a:r>
          </a:p>
          <a:p>
            <a:pPr marL="0" indent="0" algn="just">
              <a:buNone/>
            </a:pPr>
            <a:endParaRPr lang="en-IN" sz="2800" dirty="0"/>
          </a:p>
        </p:txBody>
      </p:sp>
    </p:spTree>
    <p:extLst>
      <p:ext uri="{BB962C8B-B14F-4D97-AF65-F5344CB8AC3E}">
        <p14:creationId xmlns:p14="http://schemas.microsoft.com/office/powerpoint/2010/main" val="1507812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01402-F52A-FD66-6514-7361FFC3B0F3}"/>
              </a:ext>
            </a:extLst>
          </p:cNvPr>
          <p:cNvSpPr>
            <a:spLocks noGrp="1"/>
          </p:cNvSpPr>
          <p:nvPr>
            <p:ph type="title"/>
          </p:nvPr>
        </p:nvSpPr>
        <p:spPr/>
        <p:txBody>
          <a:bodyPr>
            <a:normAutofit/>
          </a:bodyPr>
          <a:lstStyle/>
          <a:p>
            <a:r>
              <a:rPr lang="en-IN" b="1" dirty="0">
                <a:solidFill>
                  <a:schemeClr val="tx1"/>
                </a:solidFill>
              </a:rPr>
              <a:t>CROSS-SITE SCRIPTING (XSS)</a:t>
            </a:r>
            <a:endParaRPr lang="en-IN" dirty="0">
              <a:solidFill>
                <a:schemeClr val="tx1"/>
              </a:solidFill>
            </a:endParaRPr>
          </a:p>
        </p:txBody>
      </p:sp>
      <p:sp>
        <p:nvSpPr>
          <p:cNvPr id="3" name="Content Placeholder 2">
            <a:extLst>
              <a:ext uri="{FF2B5EF4-FFF2-40B4-BE49-F238E27FC236}">
                <a16:creationId xmlns:a16="http://schemas.microsoft.com/office/drawing/2014/main" id="{389FBC5E-1AC2-4A00-E9C6-2FD94E0D25A5}"/>
              </a:ext>
            </a:extLst>
          </p:cNvPr>
          <p:cNvSpPr>
            <a:spLocks noGrp="1"/>
          </p:cNvSpPr>
          <p:nvPr>
            <p:ph idx="1"/>
          </p:nvPr>
        </p:nvSpPr>
        <p:spPr/>
        <p:txBody>
          <a:bodyPr>
            <a:normAutofit/>
          </a:bodyPr>
          <a:lstStyle/>
          <a:p>
            <a:pPr marL="0" indent="0" algn="just">
              <a:buNone/>
            </a:pPr>
            <a:r>
              <a:rPr lang="en-IN" sz="2400" dirty="0"/>
              <a:t>Cross-Site Scripting (XSS) is a web security vulnerability that allows attackers to inject malicious scripts into web pages viewed by other users. This type of attack can compromise the interactions users have with a vulnerable application, allowing attackers to masquerade as users, access their data, and perform actions on their behalf.</a:t>
            </a:r>
          </a:p>
          <a:p>
            <a:pPr algn="just"/>
            <a:endParaRPr lang="en-IN" sz="2400" dirty="0"/>
          </a:p>
          <a:p>
            <a:pPr marL="0" indent="0" algn="just">
              <a:buNone/>
            </a:pPr>
            <a:r>
              <a:rPr lang="en-IN" sz="2400" b="1" i="1" dirty="0"/>
              <a:t>Types of Cross-Site Scripting:</a:t>
            </a:r>
            <a:endParaRPr lang="en-IN" sz="2400" dirty="0"/>
          </a:p>
          <a:p>
            <a:pPr lvl="0" algn="just"/>
            <a:r>
              <a:rPr lang="en-IN" sz="2400" dirty="0"/>
              <a:t>Stored XSS</a:t>
            </a:r>
          </a:p>
          <a:p>
            <a:pPr lvl="0" algn="just"/>
            <a:r>
              <a:rPr lang="en-IN" sz="2400" dirty="0"/>
              <a:t>Reflected XSS</a:t>
            </a:r>
          </a:p>
          <a:p>
            <a:pPr marL="0" indent="0" algn="just">
              <a:buNone/>
            </a:pPr>
            <a:endParaRPr lang="en-IN" sz="2400" dirty="0"/>
          </a:p>
        </p:txBody>
      </p:sp>
    </p:spTree>
    <p:extLst>
      <p:ext uri="{BB962C8B-B14F-4D97-AF65-F5344CB8AC3E}">
        <p14:creationId xmlns:p14="http://schemas.microsoft.com/office/powerpoint/2010/main" val="3285142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CE2F-5FFA-12E0-81AC-54AB6577A1E4}"/>
              </a:ext>
            </a:extLst>
          </p:cNvPr>
          <p:cNvSpPr>
            <a:spLocks noGrp="1"/>
          </p:cNvSpPr>
          <p:nvPr>
            <p:ph type="title"/>
          </p:nvPr>
        </p:nvSpPr>
        <p:spPr/>
        <p:txBody>
          <a:bodyPr>
            <a:normAutofit/>
          </a:bodyPr>
          <a:lstStyle/>
          <a:p>
            <a:r>
              <a:rPr lang="en-IN" b="1" dirty="0">
                <a:solidFill>
                  <a:schemeClr val="tx1"/>
                </a:solidFill>
              </a:rPr>
              <a:t>SQL INJECTION:</a:t>
            </a:r>
            <a:r>
              <a:rPr lang="en-IN" dirty="0">
                <a:solidFill>
                  <a:schemeClr val="tx1"/>
                </a:solidFill>
              </a:rPr>
              <a:t>  </a:t>
            </a:r>
          </a:p>
        </p:txBody>
      </p:sp>
      <p:sp>
        <p:nvSpPr>
          <p:cNvPr id="3" name="Content Placeholder 2">
            <a:extLst>
              <a:ext uri="{FF2B5EF4-FFF2-40B4-BE49-F238E27FC236}">
                <a16:creationId xmlns:a16="http://schemas.microsoft.com/office/drawing/2014/main" id="{68300ED6-AD6E-8C17-9986-C6259B985CB7}"/>
              </a:ext>
            </a:extLst>
          </p:cNvPr>
          <p:cNvSpPr>
            <a:spLocks noGrp="1"/>
          </p:cNvSpPr>
          <p:nvPr>
            <p:ph idx="1"/>
          </p:nvPr>
        </p:nvSpPr>
        <p:spPr/>
        <p:txBody>
          <a:bodyPr>
            <a:normAutofit fontScale="92500" lnSpcReduction="10000"/>
          </a:bodyPr>
          <a:lstStyle/>
          <a:p>
            <a:pPr marL="0" indent="0" algn="just">
              <a:buNone/>
            </a:pPr>
            <a:r>
              <a:rPr lang="en-IN" sz="2400" dirty="0"/>
              <a:t>An SQL injection attack consists of an insertion or injection of a SQL query via the input data from the client to the application.</a:t>
            </a:r>
          </a:p>
          <a:p>
            <a:pPr marL="0" indent="0" algn="just">
              <a:buNone/>
            </a:pPr>
            <a:r>
              <a:rPr lang="en-IN" sz="2400" u="sng" dirty="0"/>
              <a:t>Example:</a:t>
            </a:r>
            <a:r>
              <a:rPr lang="en-IN" sz="2400" dirty="0"/>
              <a:t> login form where a user enters a username and password: </a:t>
            </a:r>
            <a:r>
              <a:rPr lang="en-IN" sz="2400" b="1" dirty="0"/>
              <a:t>SELECT * FROM users WHERE username = 'user' AND password = 'password'; </a:t>
            </a:r>
            <a:endParaRPr lang="en-IN" sz="2400" dirty="0"/>
          </a:p>
          <a:p>
            <a:pPr marL="0" indent="0" algn="just">
              <a:buNone/>
            </a:pPr>
            <a:r>
              <a:rPr lang="en-IN" sz="2400" dirty="0"/>
              <a:t>If the attacker inputs admin’-- , it would be: </a:t>
            </a:r>
          </a:p>
          <a:p>
            <a:pPr marL="0" indent="0" algn="just">
              <a:buNone/>
            </a:pPr>
            <a:r>
              <a:rPr lang="en-IN" sz="2400" b="1" dirty="0"/>
              <a:t>SELECT * FROM users WHERE username = ‘admin’ --‘ AND password=’password’;</a:t>
            </a:r>
          </a:p>
          <a:p>
            <a:pPr marL="0" indent="0" algn="just">
              <a:buNone/>
            </a:pPr>
            <a:endParaRPr lang="en-IN" sz="2400" b="1" dirty="0"/>
          </a:p>
          <a:p>
            <a:pPr marL="0" indent="0" algn="just">
              <a:buNone/>
            </a:pPr>
            <a:r>
              <a:rPr lang="en-US" sz="2400" dirty="0">
                <a:hlinkClick r:id="rId3">
                  <a:extLst>
                    <a:ext uri="{A12FA001-AC4F-418D-AE19-62706E023703}">
                      <ahyp:hlinkClr xmlns:ahyp="http://schemas.microsoft.com/office/drawing/2018/hyperlinkcolor" val="tx"/>
                    </a:ext>
                  </a:extLst>
                </a:hlinkClick>
              </a:rPr>
              <a:t>http://localhost/vulnerable-sql/index.php?username=' OR '1'=‘1</a:t>
            </a:r>
            <a:endParaRPr lang="en-US" sz="2400" dirty="0"/>
          </a:p>
          <a:p>
            <a:pPr marL="0" indent="0" algn="just">
              <a:buNone/>
            </a:pPr>
            <a:r>
              <a:rPr lang="en-US" sz="2400" dirty="0">
                <a:hlinkClick r:id="rId4">
                  <a:extLst>
                    <a:ext uri="{A12FA001-AC4F-418D-AE19-62706E023703}">
                      <ahyp:hlinkClr xmlns:ahyp="http://schemas.microsoft.com/office/drawing/2018/hyperlinkcolor" val="tx"/>
                    </a:ext>
                  </a:extLst>
                </a:hlinkClick>
              </a:rPr>
              <a:t>http://localhost/vulnerable-sql/index.php?username=admin' -- &amp;password=anything</a:t>
            </a:r>
            <a:endParaRPr lang="en-US" sz="2400" dirty="0"/>
          </a:p>
          <a:p>
            <a:pPr marL="0" indent="0" algn="just">
              <a:buNone/>
            </a:pPr>
            <a:endParaRPr lang="en-IN" sz="2400" dirty="0"/>
          </a:p>
          <a:p>
            <a:pPr marL="0" indent="0" algn="just">
              <a:buNone/>
            </a:pPr>
            <a:endParaRPr lang="en-IN" sz="2400" dirty="0"/>
          </a:p>
          <a:p>
            <a:pPr algn="just"/>
            <a:endParaRPr lang="en-IN" sz="2400" dirty="0"/>
          </a:p>
        </p:txBody>
      </p:sp>
    </p:spTree>
    <p:extLst>
      <p:ext uri="{BB962C8B-B14F-4D97-AF65-F5344CB8AC3E}">
        <p14:creationId xmlns:p14="http://schemas.microsoft.com/office/powerpoint/2010/main" val="2070696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BF8F7-10DA-6253-1303-E1AACD11D5CA}"/>
              </a:ext>
            </a:extLst>
          </p:cNvPr>
          <p:cNvSpPr>
            <a:spLocks noGrp="1"/>
          </p:cNvSpPr>
          <p:nvPr>
            <p:ph type="title"/>
          </p:nvPr>
        </p:nvSpPr>
        <p:spPr/>
        <p:txBody>
          <a:bodyPr>
            <a:normAutofit/>
          </a:bodyPr>
          <a:lstStyle/>
          <a:p>
            <a:r>
              <a:rPr lang="en-IN" b="1" dirty="0">
                <a:solidFill>
                  <a:schemeClr val="tx1"/>
                </a:solidFill>
              </a:rPr>
              <a:t>ICMP FLOOD (SMURF ATTACK)</a:t>
            </a:r>
            <a:endParaRPr lang="en-IN" dirty="0">
              <a:solidFill>
                <a:schemeClr val="tx1"/>
              </a:solidFill>
            </a:endParaRPr>
          </a:p>
        </p:txBody>
      </p:sp>
      <p:sp>
        <p:nvSpPr>
          <p:cNvPr id="3" name="Content Placeholder 2">
            <a:extLst>
              <a:ext uri="{FF2B5EF4-FFF2-40B4-BE49-F238E27FC236}">
                <a16:creationId xmlns:a16="http://schemas.microsoft.com/office/drawing/2014/main" id="{8B38FEE1-D810-9F03-FDCD-92E573CF7CFC}"/>
              </a:ext>
            </a:extLst>
          </p:cNvPr>
          <p:cNvSpPr>
            <a:spLocks noGrp="1"/>
          </p:cNvSpPr>
          <p:nvPr>
            <p:ph idx="1"/>
          </p:nvPr>
        </p:nvSpPr>
        <p:spPr/>
        <p:txBody>
          <a:bodyPr>
            <a:normAutofit/>
          </a:bodyPr>
          <a:lstStyle/>
          <a:p>
            <a:pPr lvl="0" algn="just"/>
            <a:r>
              <a:rPr lang="en-IN" sz="2400" dirty="0"/>
              <a:t>The ICMP flood, particularly known as a Smurf attack, involves sending a large number of ICMP echo requests (commonly known as "pings") to a network's broadcast address, with the spoofed source address set to the target’s IP.</a:t>
            </a:r>
          </a:p>
          <a:p>
            <a:pPr lvl="0" algn="just"/>
            <a:r>
              <a:rPr lang="en-IN" sz="2400" dirty="0"/>
              <a:t>The network devices then respond to these requests, overwhelming the target system with a flood of ICMP echo replies. </a:t>
            </a:r>
          </a:p>
          <a:p>
            <a:pPr lvl="0" algn="just"/>
            <a:r>
              <a:rPr lang="en-IN" sz="2400" dirty="0"/>
              <a:t>This massive volume of traffic can saturate the target’s network bandwidth, leading to a Denial of Service (DoS).</a:t>
            </a:r>
          </a:p>
          <a:p>
            <a:pPr marL="0" indent="0" algn="just">
              <a:buNone/>
            </a:pPr>
            <a:endParaRPr lang="en-IN" sz="2400" dirty="0"/>
          </a:p>
        </p:txBody>
      </p:sp>
    </p:spTree>
    <p:extLst>
      <p:ext uri="{BB962C8B-B14F-4D97-AF65-F5344CB8AC3E}">
        <p14:creationId xmlns:p14="http://schemas.microsoft.com/office/powerpoint/2010/main" val="3509285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480BB-2DF6-E5BE-6B28-F099CF2EC4CC}"/>
              </a:ext>
            </a:extLst>
          </p:cNvPr>
          <p:cNvSpPr>
            <a:spLocks noGrp="1"/>
          </p:cNvSpPr>
          <p:nvPr>
            <p:ph type="title"/>
          </p:nvPr>
        </p:nvSpPr>
        <p:spPr/>
        <p:txBody>
          <a:bodyPr>
            <a:normAutofit/>
          </a:bodyPr>
          <a:lstStyle/>
          <a:p>
            <a:r>
              <a:rPr lang="en-US" b="1" dirty="0">
                <a:solidFill>
                  <a:schemeClr val="tx1"/>
                </a:solidFill>
              </a:rPr>
              <a:t>Man-in-the-Middle (MitM) Attacks</a:t>
            </a:r>
            <a:endParaRPr lang="en-IN" dirty="0">
              <a:solidFill>
                <a:schemeClr val="tx1"/>
              </a:solidFill>
            </a:endParaRPr>
          </a:p>
        </p:txBody>
      </p:sp>
      <p:sp>
        <p:nvSpPr>
          <p:cNvPr id="3" name="Content Placeholder 2">
            <a:extLst>
              <a:ext uri="{FF2B5EF4-FFF2-40B4-BE49-F238E27FC236}">
                <a16:creationId xmlns:a16="http://schemas.microsoft.com/office/drawing/2014/main" id="{B8734DAC-1CD6-05DE-E1A3-CC327CE66E9C}"/>
              </a:ext>
            </a:extLst>
          </p:cNvPr>
          <p:cNvSpPr>
            <a:spLocks noGrp="1"/>
          </p:cNvSpPr>
          <p:nvPr>
            <p:ph idx="1"/>
          </p:nvPr>
        </p:nvSpPr>
        <p:spPr/>
        <p:txBody>
          <a:bodyPr>
            <a:normAutofit/>
          </a:bodyPr>
          <a:lstStyle/>
          <a:p>
            <a:pPr marL="0" indent="0" algn="just">
              <a:buNone/>
            </a:pPr>
            <a:r>
              <a:rPr lang="en-US" sz="2400" dirty="0"/>
              <a:t>A MitM attack occurs when an attacker intercepts communication between two parties, often to eavesdrop or alter the communication. </a:t>
            </a:r>
            <a:endParaRPr lang="en-IN" sz="2400" dirty="0"/>
          </a:p>
          <a:p>
            <a:pPr lvl="0" algn="just"/>
            <a:r>
              <a:rPr lang="en-IN" sz="2400" dirty="0"/>
              <a:t>A man-in-the-middle attack is a cyberattack in which the attacker can secretly intercept messages between two or more parties who believe they are communicating with each other. </a:t>
            </a:r>
          </a:p>
          <a:p>
            <a:pPr lvl="0" algn="just"/>
            <a:r>
              <a:rPr lang="en-IN" sz="2400" dirty="0"/>
              <a:t>Attackers can then use their position as the “man in the middle” to read this confidential information, even maliciously edit it, or insert their own messages. </a:t>
            </a:r>
          </a:p>
          <a:p>
            <a:pPr lvl="0" algn="just"/>
            <a:r>
              <a:rPr lang="en-IN" sz="2400" dirty="0"/>
              <a:t>This can lead to a devastating data breach or the spread of malware throughout an organization’s IT environment.</a:t>
            </a:r>
          </a:p>
          <a:p>
            <a:pPr marL="0" indent="0" algn="just">
              <a:buNone/>
            </a:pPr>
            <a:endParaRPr lang="en-IN" sz="2400" dirty="0"/>
          </a:p>
        </p:txBody>
      </p:sp>
    </p:spTree>
    <p:extLst>
      <p:ext uri="{BB962C8B-B14F-4D97-AF65-F5344CB8AC3E}">
        <p14:creationId xmlns:p14="http://schemas.microsoft.com/office/powerpoint/2010/main" val="4237243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6A289-0C98-495B-8C0A-5B1831A15948}"/>
              </a:ext>
            </a:extLst>
          </p:cNvPr>
          <p:cNvSpPr>
            <a:spLocks noGrp="1"/>
          </p:cNvSpPr>
          <p:nvPr>
            <p:ph type="title"/>
          </p:nvPr>
        </p:nvSpPr>
        <p:spPr/>
        <p:txBody>
          <a:bodyPr>
            <a:normAutofit/>
          </a:bodyPr>
          <a:lstStyle/>
          <a:p>
            <a:r>
              <a:rPr lang="en-US" b="1" dirty="0">
                <a:solidFill>
                  <a:schemeClr val="tx1"/>
                </a:solidFill>
              </a:rPr>
              <a:t>FORMAT STRING ATTACK</a:t>
            </a:r>
            <a:endParaRPr lang="en-IN" dirty="0">
              <a:solidFill>
                <a:schemeClr val="tx1"/>
              </a:solidFill>
            </a:endParaRPr>
          </a:p>
        </p:txBody>
      </p:sp>
      <p:sp>
        <p:nvSpPr>
          <p:cNvPr id="3" name="Content Placeholder 2">
            <a:extLst>
              <a:ext uri="{FF2B5EF4-FFF2-40B4-BE49-F238E27FC236}">
                <a16:creationId xmlns:a16="http://schemas.microsoft.com/office/drawing/2014/main" id="{04409E35-A524-1F42-D003-5AB1ADAAD3B6}"/>
              </a:ext>
            </a:extLst>
          </p:cNvPr>
          <p:cNvSpPr>
            <a:spLocks noGrp="1"/>
          </p:cNvSpPr>
          <p:nvPr>
            <p:ph idx="1"/>
          </p:nvPr>
        </p:nvSpPr>
        <p:spPr/>
        <p:txBody>
          <a:bodyPr>
            <a:normAutofit/>
          </a:bodyPr>
          <a:lstStyle/>
          <a:p>
            <a:pPr marL="0" indent="0">
              <a:buNone/>
            </a:pPr>
            <a:r>
              <a:rPr lang="en-IN" sz="2400" dirty="0"/>
              <a:t>A </a:t>
            </a:r>
            <a:r>
              <a:rPr lang="en-IN" sz="2400" b="1" dirty="0"/>
              <a:t>Format String Attack</a:t>
            </a:r>
            <a:r>
              <a:rPr lang="en-IN" sz="2400" dirty="0"/>
              <a:t> occurs when user input is unsafely used in functions like </a:t>
            </a:r>
            <a:r>
              <a:rPr lang="en-IN" sz="2400" dirty="0" err="1"/>
              <a:t>printf</a:t>
            </a:r>
            <a:r>
              <a:rPr lang="en-IN" sz="2400" dirty="0"/>
              <a:t>() in C/C++.</a:t>
            </a:r>
          </a:p>
          <a:p>
            <a:pPr marL="0" indent="0">
              <a:buNone/>
            </a:pPr>
            <a:r>
              <a:rPr lang="en-IN" sz="2400" dirty="0"/>
              <a:t>Ex: </a:t>
            </a:r>
            <a:r>
              <a:rPr lang="en-IN" sz="2400" b="1" dirty="0" err="1"/>
              <a:t>printf</a:t>
            </a:r>
            <a:r>
              <a:rPr lang="en-IN" sz="2400" b="1" dirty="0"/>
              <a:t>(</a:t>
            </a:r>
            <a:r>
              <a:rPr lang="en-IN" sz="2400" b="1" dirty="0" err="1"/>
              <a:t>user_input</a:t>
            </a:r>
            <a:r>
              <a:rPr lang="en-IN" sz="2400" b="1" dirty="0"/>
              <a:t>); // INSECURE!</a:t>
            </a:r>
            <a:endParaRPr lang="en-IN" sz="2400" dirty="0"/>
          </a:p>
          <a:p>
            <a:pPr marL="0" indent="0">
              <a:buNone/>
            </a:pPr>
            <a:endParaRPr lang="en-IN" sz="2400" dirty="0"/>
          </a:p>
          <a:p>
            <a:pPr marL="0" indent="0">
              <a:buNone/>
            </a:pPr>
            <a:endParaRPr lang="en-IN" sz="2400" dirty="0"/>
          </a:p>
          <a:p>
            <a:pPr marL="0" indent="0">
              <a:buNone/>
            </a:pPr>
            <a:r>
              <a:rPr lang="en-IN" sz="2400" b="1" dirty="0"/>
              <a:t>How to prevent? </a:t>
            </a:r>
            <a:r>
              <a:rPr lang="en-IN" sz="2400" dirty="0"/>
              <a:t>Always use format specifiers</a:t>
            </a:r>
            <a:r>
              <a:rPr lang="en-IN" sz="2400" b="1" dirty="0"/>
              <a:t>: </a:t>
            </a:r>
          </a:p>
          <a:p>
            <a:pPr marL="0" indent="0">
              <a:buNone/>
            </a:pPr>
            <a:r>
              <a:rPr lang="en-IN" sz="2400" b="1" dirty="0" err="1"/>
              <a:t>printf</a:t>
            </a:r>
            <a:r>
              <a:rPr lang="en-IN" sz="2400" b="1" dirty="0"/>
              <a:t>("%s", </a:t>
            </a:r>
            <a:r>
              <a:rPr lang="en-IN" sz="2400" b="1" dirty="0" err="1"/>
              <a:t>user_input</a:t>
            </a:r>
            <a:r>
              <a:rPr lang="en-IN" sz="2400" b="1" dirty="0"/>
              <a:t>); // SECURE</a:t>
            </a:r>
            <a:endParaRPr lang="en-IN" sz="2400" dirty="0"/>
          </a:p>
          <a:p>
            <a:pPr marL="0" indent="0">
              <a:buNone/>
            </a:pPr>
            <a:endParaRPr lang="en-IN" sz="2400" dirty="0"/>
          </a:p>
        </p:txBody>
      </p:sp>
    </p:spTree>
    <p:extLst>
      <p:ext uri="{BB962C8B-B14F-4D97-AF65-F5344CB8AC3E}">
        <p14:creationId xmlns:p14="http://schemas.microsoft.com/office/powerpoint/2010/main" val="1273083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615C2-E6FD-AC14-A706-36F809133BF7}"/>
              </a:ext>
            </a:extLst>
          </p:cNvPr>
          <p:cNvSpPr>
            <a:spLocks noGrp="1"/>
          </p:cNvSpPr>
          <p:nvPr>
            <p:ph type="title"/>
          </p:nvPr>
        </p:nvSpPr>
        <p:spPr/>
        <p:txBody>
          <a:bodyPr>
            <a:normAutofit/>
          </a:bodyPr>
          <a:lstStyle/>
          <a:p>
            <a:r>
              <a:rPr lang="en-IN" b="1" dirty="0">
                <a:solidFill>
                  <a:schemeClr val="tx1"/>
                </a:solidFill>
              </a:rPr>
              <a:t>OVERFLOW ATTACKS</a:t>
            </a:r>
            <a:endParaRPr lang="en-IN" dirty="0">
              <a:solidFill>
                <a:schemeClr val="tx1"/>
              </a:solidFill>
            </a:endParaRPr>
          </a:p>
        </p:txBody>
      </p:sp>
      <p:sp>
        <p:nvSpPr>
          <p:cNvPr id="3" name="Content Placeholder 2">
            <a:extLst>
              <a:ext uri="{FF2B5EF4-FFF2-40B4-BE49-F238E27FC236}">
                <a16:creationId xmlns:a16="http://schemas.microsoft.com/office/drawing/2014/main" id="{24FA9CD5-787D-489D-7039-E66606D448EB}"/>
              </a:ext>
            </a:extLst>
          </p:cNvPr>
          <p:cNvSpPr>
            <a:spLocks noGrp="1"/>
          </p:cNvSpPr>
          <p:nvPr>
            <p:ph idx="1"/>
          </p:nvPr>
        </p:nvSpPr>
        <p:spPr/>
        <p:txBody>
          <a:bodyPr>
            <a:normAutofit/>
          </a:bodyPr>
          <a:lstStyle/>
          <a:p>
            <a:pPr marL="0" indent="0" algn="just">
              <a:buNone/>
            </a:pPr>
            <a:r>
              <a:rPr lang="en-IN" sz="2400" dirty="0"/>
              <a:t>Overflow attacks, particularly buffer overflow attacks, occur when a program writes more data to a buffer (a temporary storage area in memory) than it is designed to hold. </a:t>
            </a:r>
          </a:p>
          <a:p>
            <a:pPr marL="0" indent="0" algn="just">
              <a:buNone/>
            </a:pPr>
            <a:r>
              <a:rPr lang="en-IN" sz="2400" dirty="0"/>
              <a:t>This excess data can overflow into adjacent memory, potentially allowing attackers to manipulate the execution of the program. </a:t>
            </a:r>
          </a:p>
          <a:p>
            <a:pPr marL="0" indent="0" algn="just">
              <a:buNone/>
            </a:pPr>
            <a:r>
              <a:rPr lang="en-IN" sz="2400" dirty="0"/>
              <a:t>These attacks exploit software vulnerabilities to execute arbitrary code or cause the program to crash.</a:t>
            </a:r>
          </a:p>
          <a:p>
            <a:pPr marL="0" indent="0" algn="just">
              <a:buNone/>
            </a:pPr>
            <a:endParaRPr lang="en-IN" sz="2400" dirty="0"/>
          </a:p>
        </p:txBody>
      </p:sp>
    </p:spTree>
    <p:extLst>
      <p:ext uri="{BB962C8B-B14F-4D97-AF65-F5344CB8AC3E}">
        <p14:creationId xmlns:p14="http://schemas.microsoft.com/office/powerpoint/2010/main" val="2089822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D213A-AFE8-80C0-F6B7-A2E24449D337}"/>
              </a:ext>
            </a:extLst>
          </p:cNvPr>
          <p:cNvSpPr>
            <a:spLocks noGrp="1"/>
          </p:cNvSpPr>
          <p:nvPr>
            <p:ph type="title"/>
          </p:nvPr>
        </p:nvSpPr>
        <p:spPr/>
        <p:txBody>
          <a:bodyPr>
            <a:normAutofit/>
          </a:bodyPr>
          <a:lstStyle/>
          <a:p>
            <a:r>
              <a:rPr lang="en-IN" b="1" dirty="0">
                <a:solidFill>
                  <a:schemeClr val="tx1"/>
                </a:solidFill>
              </a:rPr>
              <a:t>RACE CONDITIONS:</a:t>
            </a:r>
            <a:endParaRPr lang="en-IN" dirty="0">
              <a:solidFill>
                <a:schemeClr val="tx1"/>
              </a:solidFill>
            </a:endParaRPr>
          </a:p>
        </p:txBody>
      </p:sp>
      <p:sp>
        <p:nvSpPr>
          <p:cNvPr id="3" name="Content Placeholder 2">
            <a:extLst>
              <a:ext uri="{FF2B5EF4-FFF2-40B4-BE49-F238E27FC236}">
                <a16:creationId xmlns:a16="http://schemas.microsoft.com/office/drawing/2014/main" id="{CE567716-7F78-A304-2DC0-AB475FB14C5F}"/>
              </a:ext>
            </a:extLst>
          </p:cNvPr>
          <p:cNvSpPr>
            <a:spLocks noGrp="1"/>
          </p:cNvSpPr>
          <p:nvPr>
            <p:ph idx="1"/>
          </p:nvPr>
        </p:nvSpPr>
        <p:spPr>
          <a:xfrm>
            <a:off x="1066800" y="2014193"/>
            <a:ext cx="10058400" cy="4484929"/>
          </a:xfrm>
        </p:spPr>
        <p:txBody>
          <a:bodyPr>
            <a:normAutofit fontScale="92500" lnSpcReduction="20000"/>
          </a:bodyPr>
          <a:lstStyle/>
          <a:p>
            <a:pPr marL="0" indent="0" algn="just">
              <a:buNone/>
            </a:pPr>
            <a:r>
              <a:rPr lang="en-IN" sz="2400" dirty="0"/>
              <a:t>A </a:t>
            </a:r>
            <a:r>
              <a:rPr lang="en-IN" sz="2400" b="1" dirty="0"/>
              <a:t>race condition</a:t>
            </a:r>
            <a:r>
              <a:rPr lang="en-IN" sz="2400" dirty="0"/>
              <a:t> happens when </a:t>
            </a:r>
            <a:r>
              <a:rPr lang="en-IN" sz="2400" b="1" dirty="0"/>
              <a:t>two tasks run at the same time</a:t>
            </a:r>
            <a:r>
              <a:rPr lang="en-IN" sz="2400" dirty="0"/>
              <a:t>, and the system can’t decide which finishes first, which causes </a:t>
            </a:r>
            <a:r>
              <a:rPr lang="en-IN" sz="2400" b="1" dirty="0"/>
              <a:t>unexpected results</a:t>
            </a:r>
            <a:r>
              <a:rPr lang="en-IN" sz="2400" dirty="0"/>
              <a:t>.</a:t>
            </a:r>
          </a:p>
          <a:p>
            <a:pPr marL="0" indent="0" algn="just">
              <a:buNone/>
            </a:pPr>
            <a:r>
              <a:rPr lang="en-IN" sz="2400" dirty="0"/>
              <a:t>How an attacker might exploit this vulnerability:</a:t>
            </a:r>
          </a:p>
          <a:p>
            <a:pPr lvl="0" algn="just"/>
            <a:r>
              <a:rPr lang="en-IN" sz="2400" dirty="0"/>
              <a:t>The attacker initiates multiple login attempts simultaneously, exploiting the asynchronous nature of the system.</a:t>
            </a:r>
          </a:p>
          <a:p>
            <a:pPr lvl="0" algn="just"/>
            <a:r>
              <a:rPr lang="en-IN" sz="2400" dirty="0"/>
              <a:t>These login attempts are processed concurrently by the system, potentially leading to a race condition where the authentication process is not completed in the expected order.</a:t>
            </a:r>
          </a:p>
          <a:p>
            <a:pPr lvl="0" algn="just"/>
            <a:r>
              <a:rPr lang="en-IN" sz="2400" dirty="0"/>
              <a:t>By manipulating the timing or sequence of events, the attacker may attempt to bypass authentication checks or gain unauthorized access to user accounts.</a:t>
            </a:r>
          </a:p>
          <a:p>
            <a:pPr lvl="0" algn="just"/>
            <a:r>
              <a:rPr lang="en-IN" sz="2400" dirty="0"/>
              <a:t>If successful, the attacker gains access to user accounts, allowing them to steal sensitive data or perform malicious actions such as transferring funds to their accounts.</a:t>
            </a:r>
          </a:p>
        </p:txBody>
      </p:sp>
    </p:spTree>
    <p:extLst>
      <p:ext uri="{BB962C8B-B14F-4D97-AF65-F5344CB8AC3E}">
        <p14:creationId xmlns:p14="http://schemas.microsoft.com/office/powerpoint/2010/main" val="4091606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4EEF6-8E86-15F9-37D0-4833F9A9B6DD}"/>
              </a:ext>
            </a:extLst>
          </p:cNvPr>
          <p:cNvSpPr>
            <a:spLocks noGrp="1"/>
          </p:cNvSpPr>
          <p:nvPr>
            <p:ph type="title"/>
          </p:nvPr>
        </p:nvSpPr>
        <p:spPr/>
        <p:txBody>
          <a:bodyPr>
            <a:normAutofit/>
          </a:bodyPr>
          <a:lstStyle/>
          <a:p>
            <a:r>
              <a:rPr lang="en-IN" b="1" dirty="0">
                <a:solidFill>
                  <a:schemeClr val="tx1"/>
                </a:solidFill>
              </a:rPr>
              <a:t>INVALIDATED INPUT</a:t>
            </a:r>
            <a:endParaRPr lang="en-IN" dirty="0">
              <a:solidFill>
                <a:schemeClr val="tx1"/>
              </a:solidFill>
            </a:endParaRPr>
          </a:p>
        </p:txBody>
      </p:sp>
      <p:sp>
        <p:nvSpPr>
          <p:cNvPr id="3" name="Content Placeholder 2">
            <a:extLst>
              <a:ext uri="{FF2B5EF4-FFF2-40B4-BE49-F238E27FC236}">
                <a16:creationId xmlns:a16="http://schemas.microsoft.com/office/drawing/2014/main" id="{550E7265-47C8-FA59-D929-7BA6EFE7318C}"/>
              </a:ext>
            </a:extLst>
          </p:cNvPr>
          <p:cNvSpPr>
            <a:spLocks noGrp="1"/>
          </p:cNvSpPr>
          <p:nvPr>
            <p:ph idx="1"/>
          </p:nvPr>
        </p:nvSpPr>
        <p:spPr/>
        <p:txBody>
          <a:bodyPr>
            <a:normAutofit fontScale="92500"/>
          </a:bodyPr>
          <a:lstStyle/>
          <a:p>
            <a:pPr marL="0" indent="0" algn="just">
              <a:buNone/>
            </a:pPr>
            <a:r>
              <a:rPr lang="en-IN" sz="2400" dirty="0"/>
              <a:t>When a program does not check or clean the data it receives from the user, it’s called </a:t>
            </a:r>
            <a:r>
              <a:rPr lang="en-IN" sz="2400" b="1" dirty="0"/>
              <a:t>invalid input</a:t>
            </a:r>
            <a:r>
              <a:rPr lang="en-IN" sz="2400" dirty="0"/>
              <a:t>. </a:t>
            </a:r>
            <a:r>
              <a:rPr lang="en-IN" sz="2400" u="sng" dirty="0"/>
              <a:t>Example:  </a:t>
            </a:r>
            <a:r>
              <a:rPr lang="en-IN" sz="2400" dirty="0"/>
              <a:t>username = input("Enter your name: ")</a:t>
            </a:r>
          </a:p>
          <a:p>
            <a:pPr marL="0" indent="0" algn="just">
              <a:buNone/>
            </a:pPr>
            <a:r>
              <a:rPr lang="en-IN" sz="2400" dirty="0"/>
              <a:t>query = </a:t>
            </a:r>
            <a:r>
              <a:rPr lang="en-IN" sz="2400" dirty="0" err="1"/>
              <a:t>f"SELECT</a:t>
            </a:r>
            <a:r>
              <a:rPr lang="en-IN" sz="2400" dirty="0"/>
              <a:t> * FROM users WHERE username = '{username}'"</a:t>
            </a:r>
          </a:p>
          <a:p>
            <a:pPr marL="0" indent="0" algn="just">
              <a:buNone/>
            </a:pPr>
            <a:r>
              <a:rPr lang="en-IN" sz="2400" dirty="0"/>
              <a:t>print(query)</a:t>
            </a:r>
          </a:p>
          <a:p>
            <a:pPr marL="0" indent="0" algn="just">
              <a:buNone/>
            </a:pPr>
            <a:r>
              <a:rPr lang="en-IN" sz="2400" dirty="0"/>
              <a:t> </a:t>
            </a:r>
          </a:p>
          <a:p>
            <a:pPr marL="0" indent="0" algn="just">
              <a:buNone/>
            </a:pPr>
            <a:r>
              <a:rPr lang="en-IN" sz="2400" b="1" dirty="0"/>
              <a:t>IF USER ENTERS: </a:t>
            </a:r>
            <a:r>
              <a:rPr lang="en-IN" sz="2400" dirty="0"/>
              <a:t>admin’ –</a:t>
            </a:r>
          </a:p>
          <a:p>
            <a:pPr marL="0" indent="0" algn="just">
              <a:buNone/>
            </a:pPr>
            <a:r>
              <a:rPr lang="en-IN" sz="2400" b="1" dirty="0"/>
              <a:t>The final query becomes: </a:t>
            </a:r>
            <a:r>
              <a:rPr lang="en-IN" sz="2400" dirty="0"/>
              <a:t>SELECT * FROM users WHERE username = 'admin' -- '</a:t>
            </a:r>
          </a:p>
          <a:p>
            <a:pPr marL="0" indent="0" algn="just">
              <a:buNone/>
            </a:pPr>
            <a:r>
              <a:rPr lang="en-IN" sz="2400" dirty="0"/>
              <a:t>The -- tells the system to ignore the rest, and the attacker logs in without a password.</a:t>
            </a:r>
          </a:p>
        </p:txBody>
      </p:sp>
    </p:spTree>
    <p:extLst>
      <p:ext uri="{BB962C8B-B14F-4D97-AF65-F5344CB8AC3E}">
        <p14:creationId xmlns:p14="http://schemas.microsoft.com/office/powerpoint/2010/main" val="501690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22C01-CF4E-54F3-FED2-3B1C11656B04}"/>
              </a:ext>
            </a:extLst>
          </p:cNvPr>
          <p:cNvSpPr>
            <a:spLocks noGrp="1"/>
          </p:cNvSpPr>
          <p:nvPr>
            <p:ph type="title"/>
          </p:nvPr>
        </p:nvSpPr>
        <p:spPr/>
        <p:txBody>
          <a:bodyPr>
            <a:normAutofit/>
          </a:bodyPr>
          <a:lstStyle/>
          <a:p>
            <a:r>
              <a:rPr lang="en-IN" b="1" dirty="0">
                <a:solidFill>
                  <a:schemeClr val="tx1"/>
                </a:solidFill>
              </a:rPr>
              <a:t>ACCESS CONTROL PROBLEMS:</a:t>
            </a:r>
            <a:endParaRPr lang="en-IN" dirty="0">
              <a:solidFill>
                <a:schemeClr val="tx1"/>
              </a:solidFill>
            </a:endParaRPr>
          </a:p>
        </p:txBody>
      </p:sp>
      <p:sp>
        <p:nvSpPr>
          <p:cNvPr id="3" name="Content Placeholder 2">
            <a:extLst>
              <a:ext uri="{FF2B5EF4-FFF2-40B4-BE49-F238E27FC236}">
                <a16:creationId xmlns:a16="http://schemas.microsoft.com/office/drawing/2014/main" id="{B353651F-2C50-6CB7-3DD9-EB394EC1C021}"/>
              </a:ext>
            </a:extLst>
          </p:cNvPr>
          <p:cNvSpPr>
            <a:spLocks noGrp="1"/>
          </p:cNvSpPr>
          <p:nvPr>
            <p:ph idx="1"/>
          </p:nvPr>
        </p:nvSpPr>
        <p:spPr/>
        <p:txBody>
          <a:bodyPr>
            <a:normAutofit fontScale="92500"/>
          </a:bodyPr>
          <a:lstStyle/>
          <a:p>
            <a:pPr lvl="0" algn="just"/>
            <a:r>
              <a:rPr lang="en-IN" sz="2400" b="1" dirty="0"/>
              <a:t>Vertical Privilege Escalation</a:t>
            </a:r>
            <a:r>
              <a:rPr lang="en-IN" sz="2400" dirty="0"/>
              <a:t>: A regular user gains admin-level access. </a:t>
            </a:r>
            <a:r>
              <a:rPr lang="en-IN" sz="2400" b="1" dirty="0"/>
              <a:t>Example:</a:t>
            </a:r>
            <a:r>
              <a:rPr lang="en-IN" sz="2400" dirty="0"/>
              <a:t> Customer service rep accessing the CEO's emails.</a:t>
            </a:r>
          </a:p>
          <a:p>
            <a:pPr lvl="0" algn="just"/>
            <a:r>
              <a:rPr lang="en-IN" sz="2400" b="1" dirty="0"/>
              <a:t>Horizontal Privilege Escalation</a:t>
            </a:r>
            <a:r>
              <a:rPr lang="en-IN" sz="2400" dirty="0"/>
              <a:t>: User accesses another user's data at the same privilege level. </a:t>
            </a:r>
            <a:r>
              <a:rPr lang="en-IN" sz="2400" b="1" dirty="0"/>
              <a:t>Example</a:t>
            </a:r>
            <a:r>
              <a:rPr lang="en-IN" sz="2400" dirty="0"/>
              <a:t>: One bank customer sees another customer's account</a:t>
            </a:r>
          </a:p>
          <a:p>
            <a:pPr lvl="0" algn="just"/>
            <a:r>
              <a:rPr lang="en-IN" sz="2400" b="1" dirty="0"/>
              <a:t>Broken Access Control</a:t>
            </a:r>
            <a:r>
              <a:rPr lang="en-IN" sz="2400" dirty="0"/>
              <a:t>: The System fails to enforce proper restrictions. </a:t>
            </a:r>
            <a:r>
              <a:rPr lang="en-IN" sz="2400" b="1" dirty="0"/>
              <a:t>Example</a:t>
            </a:r>
            <a:r>
              <a:rPr lang="en-IN" sz="2400" dirty="0"/>
              <a:t>: Changing URL parameters to access other users' data</a:t>
            </a:r>
          </a:p>
          <a:p>
            <a:pPr algn="just"/>
            <a:r>
              <a:rPr lang="en-IN" sz="2400" b="1" dirty="0"/>
              <a:t>Insecure Direct Object References (IDOR)</a:t>
            </a:r>
            <a:r>
              <a:rPr lang="en-IN" sz="2400" dirty="0"/>
              <a:t>: Accessing objects directly by manipulating identifiers. </a:t>
            </a:r>
            <a:r>
              <a:rPr lang="en-IN" sz="2400" b="1" dirty="0"/>
              <a:t>Example</a:t>
            </a:r>
            <a:r>
              <a:rPr lang="en-IN" sz="2400" dirty="0"/>
              <a:t>: Changing "/</a:t>
            </a:r>
            <a:r>
              <a:rPr lang="en-IN" sz="2400" dirty="0" err="1"/>
              <a:t>user?id</a:t>
            </a:r>
            <a:r>
              <a:rPr lang="en-IN" sz="2400" dirty="0"/>
              <a:t>=123" to "/</a:t>
            </a:r>
            <a:r>
              <a:rPr lang="en-IN" sz="2400" dirty="0" err="1"/>
              <a:t>user?id</a:t>
            </a:r>
            <a:r>
              <a:rPr lang="en-IN" sz="2400" dirty="0"/>
              <a:t>=124"</a:t>
            </a:r>
          </a:p>
          <a:p>
            <a:pPr lvl="0" algn="just"/>
            <a:r>
              <a:rPr lang="en-IN" sz="2400" b="1" dirty="0"/>
              <a:t>Missing Function-Level Access Control</a:t>
            </a:r>
            <a:r>
              <a:rPr lang="en-IN" sz="2400" dirty="0"/>
              <a:t>: The Server doesn't verify permissions for functions.  </a:t>
            </a:r>
            <a:r>
              <a:rPr lang="en-IN" sz="2400" b="1" dirty="0"/>
              <a:t>Example</a:t>
            </a:r>
            <a:r>
              <a:rPr lang="en-IN" sz="2400" dirty="0"/>
              <a:t>: "Delete account" button visible to all users.</a:t>
            </a:r>
          </a:p>
          <a:p>
            <a:pPr marL="0" indent="0" algn="just">
              <a:buNone/>
            </a:pPr>
            <a:endParaRPr lang="en-IN" sz="2400" dirty="0"/>
          </a:p>
        </p:txBody>
      </p:sp>
    </p:spTree>
    <p:extLst>
      <p:ext uri="{BB962C8B-B14F-4D97-AF65-F5344CB8AC3E}">
        <p14:creationId xmlns:p14="http://schemas.microsoft.com/office/powerpoint/2010/main" val="1472668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ABF2F-8824-1CFD-65AA-F1D3E053DE17}"/>
              </a:ext>
            </a:extLst>
          </p:cNvPr>
          <p:cNvSpPr>
            <a:spLocks noGrp="1"/>
          </p:cNvSpPr>
          <p:nvPr>
            <p:ph type="title"/>
          </p:nvPr>
        </p:nvSpPr>
        <p:spPr/>
        <p:txBody>
          <a:bodyPr/>
          <a:lstStyle/>
          <a:p>
            <a:r>
              <a:rPr lang="en-IN" b="1" dirty="0">
                <a:solidFill>
                  <a:schemeClr val="tx1"/>
                </a:solidFill>
              </a:rPr>
              <a:t>1. Authentication Weaknesses: </a:t>
            </a:r>
            <a:endParaRPr lang="en-IN" dirty="0">
              <a:solidFill>
                <a:schemeClr val="tx1"/>
              </a:solidFill>
            </a:endParaRPr>
          </a:p>
        </p:txBody>
      </p:sp>
      <p:sp>
        <p:nvSpPr>
          <p:cNvPr id="3" name="Content Placeholder 2">
            <a:extLst>
              <a:ext uri="{FF2B5EF4-FFF2-40B4-BE49-F238E27FC236}">
                <a16:creationId xmlns:a16="http://schemas.microsoft.com/office/drawing/2014/main" id="{2429DDAE-8216-767B-B439-BE36245998E1}"/>
              </a:ext>
            </a:extLst>
          </p:cNvPr>
          <p:cNvSpPr>
            <a:spLocks noGrp="1"/>
          </p:cNvSpPr>
          <p:nvPr>
            <p:ph idx="1"/>
          </p:nvPr>
        </p:nvSpPr>
        <p:spPr/>
        <p:txBody>
          <a:bodyPr>
            <a:normAutofit fontScale="92500" lnSpcReduction="10000"/>
          </a:bodyPr>
          <a:lstStyle/>
          <a:p>
            <a:pPr marL="342900" lvl="0" indent="-342900">
              <a:buFont typeface="+mj-lt"/>
              <a:buAutoNum type="arabicPeriod"/>
            </a:pPr>
            <a:r>
              <a:rPr lang="en-IN" b="1" dirty="0"/>
              <a:t>Weak Password Policies</a:t>
            </a:r>
            <a:endParaRPr lang="en-IN" dirty="0"/>
          </a:p>
          <a:p>
            <a:pPr lvl="1">
              <a:buFont typeface="Wingdings" panose="05000000000000000000" pitchFamily="2" charset="2"/>
              <a:buChar char="v"/>
            </a:pPr>
            <a:r>
              <a:rPr lang="en-IN" dirty="0"/>
              <a:t>Allowing simple passwords (e.g., "password123")</a:t>
            </a:r>
          </a:p>
          <a:p>
            <a:pPr marL="342900" lvl="0" indent="-342900">
              <a:buFont typeface="+mj-lt"/>
              <a:buAutoNum type="arabicPeriod"/>
            </a:pPr>
            <a:r>
              <a:rPr lang="en-IN" b="1" dirty="0"/>
              <a:t>Credential Management Issues</a:t>
            </a:r>
            <a:endParaRPr lang="en-IN" dirty="0"/>
          </a:p>
          <a:p>
            <a:pPr lvl="1">
              <a:buFont typeface="Wingdings" panose="05000000000000000000" pitchFamily="2" charset="2"/>
              <a:buChar char="v"/>
            </a:pPr>
            <a:r>
              <a:rPr lang="en-IN" dirty="0"/>
              <a:t>Storing passwords in plaintext</a:t>
            </a:r>
          </a:p>
          <a:p>
            <a:pPr lvl="1">
              <a:buFont typeface="Wingdings" panose="05000000000000000000" pitchFamily="2" charset="2"/>
              <a:buChar char="v"/>
            </a:pPr>
            <a:r>
              <a:rPr lang="en-IN" dirty="0"/>
              <a:t>Improper hashing (using MD5 or SHA-1 instead of </a:t>
            </a:r>
            <a:r>
              <a:rPr lang="en-IN" dirty="0" err="1"/>
              <a:t>bcrypt</a:t>
            </a:r>
            <a:r>
              <a:rPr lang="en-IN" dirty="0"/>
              <a:t>/Argon2)</a:t>
            </a:r>
          </a:p>
          <a:p>
            <a:pPr marL="342900" lvl="0" indent="-342900">
              <a:buFont typeface="+mj-lt"/>
              <a:buAutoNum type="arabicPeriod"/>
            </a:pPr>
            <a:r>
              <a:rPr lang="en-IN" b="1" dirty="0"/>
              <a:t>Authentication Bypass Vulnerabilities</a:t>
            </a:r>
            <a:endParaRPr lang="en-IN" dirty="0"/>
          </a:p>
          <a:p>
            <a:pPr lvl="1">
              <a:buFont typeface="Wingdings" panose="05000000000000000000" pitchFamily="2" charset="2"/>
              <a:buChar char="v"/>
            </a:pPr>
            <a:r>
              <a:rPr lang="en-IN" dirty="0"/>
              <a:t>"Remember me" functionality with weak tokens</a:t>
            </a:r>
          </a:p>
          <a:p>
            <a:pPr lvl="1">
              <a:buFont typeface="Wingdings" panose="05000000000000000000" pitchFamily="2" charset="2"/>
              <a:buChar char="v"/>
            </a:pPr>
            <a:r>
              <a:rPr lang="en-IN" dirty="0"/>
              <a:t>Predictable session IDs</a:t>
            </a:r>
          </a:p>
          <a:p>
            <a:pPr lvl="1">
              <a:buFont typeface="Wingdings" panose="05000000000000000000" pitchFamily="2" charset="2"/>
              <a:buChar char="v"/>
            </a:pPr>
            <a:r>
              <a:rPr lang="en-IN" dirty="0"/>
              <a:t>Missing multi-factor authentication (MFA) for sensitive operations</a:t>
            </a:r>
          </a:p>
          <a:p>
            <a:pPr marL="342900" lvl="0" indent="-342900">
              <a:buFont typeface="+mj-lt"/>
              <a:buAutoNum type="arabicPeriod"/>
            </a:pPr>
            <a:r>
              <a:rPr lang="en-IN" b="1" dirty="0"/>
              <a:t>Account Recovery Flaws</a:t>
            </a:r>
            <a:endParaRPr lang="en-IN" dirty="0"/>
          </a:p>
          <a:p>
            <a:pPr lvl="1">
              <a:buFont typeface="Wingdings" panose="05000000000000000000" pitchFamily="2" charset="2"/>
              <a:buChar char="v"/>
            </a:pPr>
            <a:r>
              <a:rPr lang="en-IN" dirty="0"/>
              <a:t>Security questions with easily guessable answers</a:t>
            </a:r>
          </a:p>
          <a:p>
            <a:pPr lvl="1">
              <a:buFont typeface="Wingdings" panose="05000000000000000000" pitchFamily="2" charset="2"/>
              <a:buChar char="v"/>
            </a:pPr>
            <a:r>
              <a:rPr lang="en-IN" dirty="0"/>
              <a:t>Email/SMS reset links that don't expire</a:t>
            </a:r>
          </a:p>
          <a:p>
            <a:pPr lvl="1">
              <a:buFont typeface="Wingdings" panose="05000000000000000000" pitchFamily="2" charset="2"/>
              <a:buChar char="v"/>
            </a:pPr>
            <a:r>
              <a:rPr lang="en-IN" dirty="0"/>
              <a:t>No limit on login tries</a:t>
            </a:r>
          </a:p>
        </p:txBody>
      </p:sp>
    </p:spTree>
    <p:extLst>
      <p:ext uri="{BB962C8B-B14F-4D97-AF65-F5344CB8AC3E}">
        <p14:creationId xmlns:p14="http://schemas.microsoft.com/office/powerpoint/2010/main" val="3358375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07D92-0E2A-4BA9-7594-925E178EA1BE}"/>
              </a:ext>
            </a:extLst>
          </p:cNvPr>
          <p:cNvSpPr>
            <a:spLocks noGrp="1"/>
          </p:cNvSpPr>
          <p:nvPr>
            <p:ph type="title"/>
          </p:nvPr>
        </p:nvSpPr>
        <p:spPr/>
        <p:txBody>
          <a:bodyPr/>
          <a:lstStyle/>
          <a:p>
            <a:r>
              <a:rPr lang="en-IN" b="1" dirty="0">
                <a:solidFill>
                  <a:schemeClr val="tx1"/>
                </a:solidFill>
              </a:rPr>
              <a:t>Authorization Weaknesses:</a:t>
            </a:r>
            <a:endParaRPr lang="en-IN" dirty="0">
              <a:solidFill>
                <a:schemeClr val="tx1"/>
              </a:solidFill>
            </a:endParaRPr>
          </a:p>
        </p:txBody>
      </p:sp>
      <p:sp>
        <p:nvSpPr>
          <p:cNvPr id="3" name="Content Placeholder 2">
            <a:extLst>
              <a:ext uri="{FF2B5EF4-FFF2-40B4-BE49-F238E27FC236}">
                <a16:creationId xmlns:a16="http://schemas.microsoft.com/office/drawing/2014/main" id="{3F8C1D19-3E50-9F14-1EB1-3738E3E3F09C}"/>
              </a:ext>
            </a:extLst>
          </p:cNvPr>
          <p:cNvSpPr>
            <a:spLocks noGrp="1"/>
          </p:cNvSpPr>
          <p:nvPr>
            <p:ph idx="1"/>
          </p:nvPr>
        </p:nvSpPr>
        <p:spPr/>
        <p:txBody>
          <a:bodyPr>
            <a:normAutofit/>
          </a:bodyPr>
          <a:lstStyle/>
          <a:p>
            <a:pPr marL="0" indent="0" algn="just">
              <a:buNone/>
            </a:pPr>
            <a:r>
              <a:rPr lang="en-IN" sz="2400" dirty="0"/>
              <a:t>Authorization weaknesses occur when systems fail to properly enforce what authenticated users are allowed to do.</a:t>
            </a:r>
          </a:p>
          <a:p>
            <a:pPr marL="0" indent="0" algn="just">
              <a:buNone/>
            </a:pPr>
            <a:r>
              <a:rPr lang="en-IN" sz="2400" b="1" u="sng" dirty="0"/>
              <a:t>Common Authorization Weaknesses</a:t>
            </a:r>
            <a:r>
              <a:rPr lang="en-IN" sz="2400" b="1" dirty="0"/>
              <a:t>:</a:t>
            </a:r>
          </a:p>
          <a:p>
            <a:pPr lvl="0" algn="just">
              <a:buFont typeface="Wingdings" panose="05000000000000000000" pitchFamily="2" charset="2"/>
              <a:buChar char="v"/>
            </a:pPr>
            <a:r>
              <a:rPr lang="en-IN" sz="2400" dirty="0"/>
              <a:t>No access control: Everyone can access everything</a:t>
            </a:r>
          </a:p>
          <a:p>
            <a:pPr lvl="0" algn="just">
              <a:buFont typeface="Wingdings" panose="05000000000000000000" pitchFamily="2" charset="2"/>
              <a:buChar char="v"/>
            </a:pPr>
            <a:r>
              <a:rPr lang="en-IN" sz="2400" dirty="0"/>
              <a:t>Insecure role handling: Users assign roles to themselves</a:t>
            </a:r>
          </a:p>
          <a:p>
            <a:pPr lvl="0" algn="just">
              <a:buFont typeface="Wingdings" panose="05000000000000000000" pitchFamily="2" charset="2"/>
              <a:buChar char="v"/>
            </a:pPr>
            <a:r>
              <a:rPr lang="en-IN" sz="2400" dirty="0"/>
              <a:t>Function-level access not protected: Hidden actions still work</a:t>
            </a:r>
          </a:p>
          <a:p>
            <a:pPr lvl="0" algn="just">
              <a:buFont typeface="Wingdings" panose="05000000000000000000" pitchFamily="2" charset="2"/>
              <a:buChar char="v"/>
            </a:pPr>
            <a:r>
              <a:rPr lang="en-IN" sz="2400" dirty="0"/>
              <a:t>Horizontal privilege escalation: User accesses others' data</a:t>
            </a:r>
          </a:p>
          <a:p>
            <a:pPr lvl="0" algn="just">
              <a:buFont typeface="Wingdings" panose="05000000000000000000" pitchFamily="2" charset="2"/>
              <a:buChar char="v"/>
            </a:pPr>
            <a:r>
              <a:rPr lang="en-IN" sz="2400" dirty="0"/>
              <a:t>Vertical privilege escalation: Regular user becomes admin</a:t>
            </a:r>
          </a:p>
          <a:p>
            <a:pPr marL="0" indent="0" algn="just">
              <a:buNone/>
            </a:pPr>
            <a:endParaRPr lang="en-IN" sz="2400" dirty="0"/>
          </a:p>
        </p:txBody>
      </p:sp>
    </p:spTree>
    <p:extLst>
      <p:ext uri="{BB962C8B-B14F-4D97-AF65-F5344CB8AC3E}">
        <p14:creationId xmlns:p14="http://schemas.microsoft.com/office/powerpoint/2010/main" val="14987403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F450-837C-3A73-AC36-57107A6071F1}"/>
              </a:ext>
            </a:extLst>
          </p:cNvPr>
          <p:cNvSpPr>
            <a:spLocks noGrp="1"/>
          </p:cNvSpPr>
          <p:nvPr>
            <p:ph type="title"/>
          </p:nvPr>
        </p:nvSpPr>
        <p:spPr/>
        <p:txBody>
          <a:bodyPr>
            <a:normAutofit fontScale="90000"/>
          </a:bodyPr>
          <a:lstStyle/>
          <a:p>
            <a:r>
              <a:rPr lang="en-IN" b="1" dirty="0">
                <a:solidFill>
                  <a:schemeClr val="tx1"/>
                </a:solidFill>
              </a:rPr>
              <a:t>Weaknesses in Cryptographic Practices</a:t>
            </a:r>
            <a:endParaRPr lang="en-IN" dirty="0">
              <a:solidFill>
                <a:schemeClr val="tx1"/>
              </a:solidFill>
            </a:endParaRPr>
          </a:p>
        </p:txBody>
      </p:sp>
      <p:sp>
        <p:nvSpPr>
          <p:cNvPr id="3" name="Content Placeholder 2">
            <a:extLst>
              <a:ext uri="{FF2B5EF4-FFF2-40B4-BE49-F238E27FC236}">
                <a16:creationId xmlns:a16="http://schemas.microsoft.com/office/drawing/2014/main" id="{278565CC-067F-2CDF-58FC-F2926D76CED9}"/>
              </a:ext>
            </a:extLst>
          </p:cNvPr>
          <p:cNvSpPr>
            <a:spLocks noGrp="1"/>
          </p:cNvSpPr>
          <p:nvPr>
            <p:ph idx="1"/>
          </p:nvPr>
        </p:nvSpPr>
        <p:spPr/>
        <p:txBody>
          <a:bodyPr>
            <a:normAutofit lnSpcReduction="10000"/>
          </a:bodyPr>
          <a:lstStyle/>
          <a:p>
            <a:pPr marL="514350" lvl="0" indent="-514350">
              <a:buFont typeface="+mj-lt"/>
              <a:buAutoNum type="arabicPeriod"/>
            </a:pPr>
            <a:r>
              <a:rPr lang="en-IN" sz="2800" b="1" dirty="0"/>
              <a:t>Weak Algorithm Selection</a:t>
            </a:r>
            <a:endParaRPr lang="en-IN" sz="2800" dirty="0"/>
          </a:p>
          <a:p>
            <a:pPr lvl="1">
              <a:buFont typeface="Wingdings" panose="05000000000000000000" pitchFamily="2" charset="2"/>
              <a:buChar char="v"/>
            </a:pPr>
            <a:r>
              <a:rPr lang="en-IN" sz="2400" dirty="0"/>
              <a:t>Using deprecated algorithms (RC4, DES, MD5)</a:t>
            </a:r>
          </a:p>
          <a:p>
            <a:pPr lvl="1">
              <a:buFont typeface="Wingdings" panose="05000000000000000000" pitchFamily="2" charset="2"/>
              <a:buChar char="v"/>
            </a:pPr>
            <a:r>
              <a:rPr lang="en-IN" sz="2400" dirty="0"/>
              <a:t>Insufficient key lengths (RSA &lt; 2048 bits)</a:t>
            </a:r>
          </a:p>
          <a:p>
            <a:pPr marL="514350" lvl="0" indent="-514350">
              <a:buFont typeface="+mj-lt"/>
              <a:buAutoNum type="arabicPeriod"/>
            </a:pPr>
            <a:r>
              <a:rPr lang="en-IN" sz="2800" b="1" dirty="0"/>
              <a:t>Key Management Issues</a:t>
            </a:r>
            <a:endParaRPr lang="en-IN" sz="2800" dirty="0"/>
          </a:p>
          <a:p>
            <a:pPr lvl="1">
              <a:buFont typeface="Wingdings" panose="05000000000000000000" pitchFamily="2" charset="2"/>
              <a:buChar char="v"/>
            </a:pPr>
            <a:r>
              <a:rPr lang="en-IN" sz="2400" dirty="0"/>
              <a:t>Keys stored with encrypted data</a:t>
            </a:r>
          </a:p>
          <a:p>
            <a:pPr marL="514350" lvl="0" indent="-514350">
              <a:buFont typeface="+mj-lt"/>
              <a:buAutoNum type="arabicPeriod"/>
            </a:pPr>
            <a:r>
              <a:rPr lang="en-IN" sz="2800" b="1" dirty="0"/>
              <a:t>Transport Layer Issues</a:t>
            </a:r>
            <a:endParaRPr lang="en-IN" sz="2800" dirty="0"/>
          </a:p>
          <a:p>
            <a:pPr lvl="1">
              <a:buFont typeface="Wingdings" panose="05000000000000000000" pitchFamily="2" charset="2"/>
              <a:buChar char="v"/>
            </a:pPr>
            <a:r>
              <a:rPr lang="en-IN" sz="2400" dirty="0"/>
              <a:t>Supporting weak TLS versions (SSLv3, TLS 1.0)</a:t>
            </a:r>
          </a:p>
          <a:p>
            <a:pPr lvl="1">
              <a:buFont typeface="Wingdings" panose="05000000000000000000" pitchFamily="2" charset="2"/>
              <a:buChar char="v"/>
            </a:pPr>
            <a:r>
              <a:rPr lang="en-IN" sz="2400" dirty="0"/>
              <a:t>Accepting NULL cipher suites</a:t>
            </a:r>
          </a:p>
          <a:p>
            <a:pPr lvl="1">
              <a:buFont typeface="Wingdings" panose="05000000000000000000" pitchFamily="2" charset="2"/>
              <a:buChar char="v"/>
            </a:pPr>
            <a:r>
              <a:rPr lang="en-IN" sz="2400" dirty="0"/>
              <a:t>Certificate verification failures</a:t>
            </a:r>
          </a:p>
          <a:p>
            <a:pPr marL="0" indent="0">
              <a:buNone/>
            </a:pPr>
            <a:endParaRPr lang="en-IN" sz="2800" dirty="0"/>
          </a:p>
        </p:txBody>
      </p:sp>
    </p:spTree>
    <p:extLst>
      <p:ext uri="{BB962C8B-B14F-4D97-AF65-F5344CB8AC3E}">
        <p14:creationId xmlns:p14="http://schemas.microsoft.com/office/powerpoint/2010/main" val="15451801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Custom 1">
      <a:majorFont>
        <a:latin typeface="Times New Roman"/>
        <a:ea typeface=""/>
        <a:cs typeface=""/>
      </a:majorFont>
      <a:minorFont>
        <a:latin typeface="Times New Roman"/>
        <a:ea typeface=""/>
        <a:cs typeface=""/>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3586</TotalTime>
  <Words>2000</Words>
  <Application>Microsoft Office PowerPoint</Application>
  <PresentationFormat>Widescreen</PresentationFormat>
  <Paragraphs>173</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Calibri</vt:lpstr>
      <vt:lpstr>Garamond</vt:lpstr>
      <vt:lpstr>Times New Roman</vt:lpstr>
      <vt:lpstr>Wingdings</vt:lpstr>
      <vt:lpstr>Savon</vt:lpstr>
      <vt:lpstr>SECURE CODING</vt:lpstr>
      <vt:lpstr>SECURITY</vt:lpstr>
      <vt:lpstr>What is Secure Coding?</vt:lpstr>
      <vt:lpstr>CIA Triad</vt:lpstr>
      <vt:lpstr>CIA Triad</vt:lpstr>
      <vt:lpstr>VIRUS:</vt:lpstr>
      <vt:lpstr>WORM:</vt:lpstr>
      <vt:lpstr>Trojan Horse (Trojan): </vt:lpstr>
      <vt:lpstr>SECURITY CONCEPTS:</vt:lpstr>
      <vt:lpstr>SECURITY CONCEPTS:</vt:lpstr>
      <vt:lpstr>MALWARE TERMINOLOGY</vt:lpstr>
      <vt:lpstr>MALWARE TERMINOLOGY</vt:lpstr>
      <vt:lpstr>ACTIVE VS PASSIVE SECURITY ATTACKS</vt:lpstr>
      <vt:lpstr>IP SPOOFING</vt:lpstr>
      <vt:lpstr>TEARDROP ATTACK</vt:lpstr>
      <vt:lpstr>DDOS ATTACK:</vt:lpstr>
      <vt:lpstr>CROSS-SITE SCRIPTING (XSS)</vt:lpstr>
      <vt:lpstr>SQL INJECTION:  </vt:lpstr>
      <vt:lpstr>ICMP FLOOD (SMURF ATTACK)</vt:lpstr>
      <vt:lpstr>Man-in-the-Middle (MitM) Attacks</vt:lpstr>
      <vt:lpstr>FORMAT STRING ATTACK</vt:lpstr>
      <vt:lpstr>OVERFLOW ATTACKS</vt:lpstr>
      <vt:lpstr>RACE CONDITIONS:</vt:lpstr>
      <vt:lpstr>INVALIDATED INPUT</vt:lpstr>
      <vt:lpstr>ACCESS CONTROL PROBLEMS:</vt:lpstr>
      <vt:lpstr>1. Authentication Weaknesses: </vt:lpstr>
      <vt:lpstr>Authorization Weaknesses:</vt:lpstr>
      <vt:lpstr>Weaknesses in Cryptographic Practices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Rashmi Hegde</dc:creator>
  <cp:lastModifiedBy>Valen Mascarenhas</cp:lastModifiedBy>
  <cp:revision>43</cp:revision>
  <dcterms:created xsi:type="dcterms:W3CDTF">2025-06-19T05:43:06Z</dcterms:created>
  <dcterms:modified xsi:type="dcterms:W3CDTF">2026-08-21T13:40:36Z</dcterms:modified>
</cp:coreProperties>
</file>