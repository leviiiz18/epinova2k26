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7"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3AD61AE8-9F42-487F-9203-7BB1C0CAAF66}" type="datetimeFigureOut">
              <a:rPr lang="en-IN" smtClean="0"/>
              <a:t>21-08-2026</a:t>
            </a:fld>
            <a:endParaRPr lang="en-IN"/>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IN"/>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E15D3AB5-0B31-4063-9089-DBACA2DF32D9}" type="slidenum">
              <a:rPr lang="en-IN" smtClean="0"/>
              <a:t>‹#›</a:t>
            </a:fld>
            <a:endParaRPr lang="en-IN"/>
          </a:p>
        </p:txBody>
      </p:sp>
    </p:spTree>
    <p:extLst>
      <p:ext uri="{BB962C8B-B14F-4D97-AF65-F5344CB8AC3E}">
        <p14:creationId xmlns:p14="http://schemas.microsoft.com/office/powerpoint/2010/main" val="175321995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AD61AE8-9F42-487F-9203-7BB1C0CAAF66}" type="datetimeFigureOut">
              <a:rPr lang="en-IN" smtClean="0"/>
              <a:t>21-08-2026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15D3AB5-0B31-4063-9089-DBACA2DF32D9}" type="slidenum">
              <a:rPr lang="en-IN" smtClean="0"/>
              <a:t>‹#›</a:t>
            </a:fld>
            <a:endParaRPr lang="en-IN"/>
          </a:p>
        </p:txBody>
      </p:sp>
    </p:spTree>
    <p:extLst>
      <p:ext uri="{BB962C8B-B14F-4D97-AF65-F5344CB8AC3E}">
        <p14:creationId xmlns:p14="http://schemas.microsoft.com/office/powerpoint/2010/main" val="11622336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3AD61AE8-9F42-487F-9203-7BB1C0CAAF66}" type="datetimeFigureOut">
              <a:rPr lang="en-IN" smtClean="0"/>
              <a:t>21-08-2026</a:t>
            </a:fld>
            <a:endParaRPr lang="en-IN"/>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IN"/>
          </a:p>
        </p:txBody>
      </p:sp>
      <p:sp>
        <p:nvSpPr>
          <p:cNvPr id="6" name="Slide Number Placeholder 5"/>
          <p:cNvSpPr>
            <a:spLocks noGrp="1"/>
          </p:cNvSpPr>
          <p:nvPr>
            <p:ph type="sldNum" sz="quarter" idx="12"/>
          </p:nvPr>
        </p:nvSpPr>
        <p:spPr>
          <a:xfrm>
            <a:off x="8604504" y="5211060"/>
            <a:ext cx="2112264" cy="228600"/>
          </a:xfrm>
        </p:spPr>
        <p:txBody>
          <a:bodyPr/>
          <a:lstStyle/>
          <a:p>
            <a:fld id="{E15D3AB5-0B31-4063-9089-DBACA2DF32D9}" type="slidenum">
              <a:rPr lang="en-IN" smtClean="0"/>
              <a:t>‹#›</a:t>
            </a:fld>
            <a:endParaRPr lang="en-IN"/>
          </a:p>
        </p:txBody>
      </p:sp>
    </p:spTree>
    <p:extLst>
      <p:ext uri="{BB962C8B-B14F-4D97-AF65-F5344CB8AC3E}">
        <p14:creationId xmlns:p14="http://schemas.microsoft.com/office/powerpoint/2010/main" val="2654933081"/>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AD61AE8-9F42-487F-9203-7BB1C0CAAF66}" type="datetimeFigureOut">
              <a:rPr lang="en-IN" smtClean="0"/>
              <a:t>21-08-2026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15D3AB5-0B31-4063-9089-DBACA2DF32D9}" type="slidenum">
              <a:rPr lang="en-IN" smtClean="0"/>
              <a:t>‹#›</a:t>
            </a:fld>
            <a:endParaRPr lang="en-IN"/>
          </a:p>
        </p:txBody>
      </p:sp>
    </p:spTree>
    <p:extLst>
      <p:ext uri="{BB962C8B-B14F-4D97-AF65-F5344CB8AC3E}">
        <p14:creationId xmlns:p14="http://schemas.microsoft.com/office/powerpoint/2010/main" val="5715320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AD61AE8-9F42-487F-9203-7BB1C0CAAF66}" type="datetimeFigureOut">
              <a:rPr lang="en-IN" smtClean="0"/>
              <a:t>21-08-2026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15D3AB5-0B31-4063-9089-DBACA2DF32D9}" type="slidenum">
              <a:rPr lang="en-IN" smtClean="0"/>
              <a:t>‹#›</a:t>
            </a:fld>
            <a:endParaRPr lang="en-IN"/>
          </a:p>
        </p:txBody>
      </p:sp>
    </p:spTree>
    <p:extLst>
      <p:ext uri="{BB962C8B-B14F-4D97-AF65-F5344CB8AC3E}">
        <p14:creationId xmlns:p14="http://schemas.microsoft.com/office/powerpoint/2010/main" val="6128094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AD61AE8-9F42-487F-9203-7BB1C0CAAF66}" type="datetimeFigureOut">
              <a:rPr lang="en-IN" smtClean="0"/>
              <a:t>21-08-2026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15D3AB5-0B31-4063-9089-DBACA2DF32D9}" type="slidenum">
              <a:rPr lang="en-IN" smtClean="0"/>
              <a:t>‹#›</a:t>
            </a:fld>
            <a:endParaRPr lang="en-IN"/>
          </a:p>
        </p:txBody>
      </p:sp>
    </p:spTree>
    <p:extLst>
      <p:ext uri="{BB962C8B-B14F-4D97-AF65-F5344CB8AC3E}">
        <p14:creationId xmlns:p14="http://schemas.microsoft.com/office/powerpoint/2010/main" val="4414272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D61AE8-9F42-487F-9203-7BB1C0CAAF66}" type="datetimeFigureOut">
              <a:rPr lang="en-IN" smtClean="0"/>
              <a:t>21-08-2026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15D3AB5-0B31-4063-9089-DBACA2DF32D9}" type="slidenum">
              <a:rPr lang="en-IN" smtClean="0"/>
              <a:t>‹#›</a:t>
            </a:fld>
            <a:endParaRPr lang="en-IN"/>
          </a:p>
        </p:txBody>
      </p:sp>
    </p:spTree>
    <p:extLst>
      <p:ext uri="{BB962C8B-B14F-4D97-AF65-F5344CB8AC3E}">
        <p14:creationId xmlns:p14="http://schemas.microsoft.com/office/powerpoint/2010/main" val="35425737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3AD61AE8-9F42-487F-9203-7BB1C0CAAF66}" type="datetimeFigureOut">
              <a:rPr lang="en-IN" smtClean="0"/>
              <a:t>21-08-2026</a:t>
            </a:fld>
            <a:endParaRPr lang="en-IN"/>
          </a:p>
        </p:txBody>
      </p:sp>
      <p:sp>
        <p:nvSpPr>
          <p:cNvPr id="9" name="Footer Placeholder 8"/>
          <p:cNvSpPr>
            <a:spLocks noGrp="1"/>
          </p:cNvSpPr>
          <p:nvPr>
            <p:ph type="ftr" sz="quarter" idx="11"/>
          </p:nvPr>
        </p:nvSpPr>
        <p:spPr/>
        <p:txBody>
          <a:bodyPr/>
          <a:lstStyle>
            <a:lvl1pPr algn="r">
              <a:defRPr/>
            </a:lvl1pPr>
          </a:lstStyle>
          <a:p>
            <a:endParaRPr lang="en-IN"/>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E15D3AB5-0B31-4063-9089-DBACA2DF32D9}" type="slidenum">
              <a:rPr lang="en-IN" smtClean="0"/>
              <a:t>‹#›</a:t>
            </a:fld>
            <a:endParaRPr lang="en-IN"/>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2060935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3AD61AE8-9F42-487F-9203-7BB1C0CAAF66}" type="datetimeFigureOut">
              <a:rPr lang="en-IN" smtClean="0"/>
              <a:t>21-08-2026</a:t>
            </a:fld>
            <a:endParaRPr lang="en-IN"/>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IN"/>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E15D3AB5-0B31-4063-9089-DBACA2DF32D9}" type="slidenum">
              <a:rPr lang="en-IN" smtClean="0"/>
              <a:t>‹#›</a:t>
            </a:fld>
            <a:endParaRPr lang="en-IN"/>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3092792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AD61AE8-9F42-487F-9203-7BB1C0CAAF66}" type="datetimeFigureOut">
              <a:rPr lang="en-IN" smtClean="0"/>
              <a:t>21-08-2026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15D3AB5-0B31-4063-9089-DBACA2DF32D9}" type="slidenum">
              <a:rPr lang="en-IN" smtClean="0"/>
              <a:t>‹#›</a:t>
            </a:fld>
            <a:endParaRPr lang="en-IN"/>
          </a:p>
        </p:txBody>
      </p:sp>
    </p:spTree>
    <p:extLst>
      <p:ext uri="{BB962C8B-B14F-4D97-AF65-F5344CB8AC3E}">
        <p14:creationId xmlns:p14="http://schemas.microsoft.com/office/powerpoint/2010/main" val="1800314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AD61AE8-9F42-487F-9203-7BB1C0CAAF66}" type="datetimeFigureOut">
              <a:rPr lang="en-IN" smtClean="0"/>
              <a:t>21-08-2026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15D3AB5-0B31-4063-9089-DBACA2DF32D9}" type="slidenum">
              <a:rPr lang="en-IN" smtClean="0"/>
              <a:t>‹#›</a:t>
            </a:fld>
            <a:endParaRPr lang="en-IN"/>
          </a:p>
        </p:txBody>
      </p:sp>
    </p:spTree>
    <p:extLst>
      <p:ext uri="{BB962C8B-B14F-4D97-AF65-F5344CB8AC3E}">
        <p14:creationId xmlns:p14="http://schemas.microsoft.com/office/powerpoint/2010/main" val="24030599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3AD61AE8-9F42-487F-9203-7BB1C0CAAF66}" type="datetimeFigureOut">
              <a:rPr lang="en-IN" smtClean="0"/>
              <a:t>21-08-2026</a:t>
            </a:fld>
            <a:endParaRPr lang="en-IN"/>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IN"/>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E15D3AB5-0B31-4063-9089-DBACA2DF32D9}" type="slidenum">
              <a:rPr lang="en-IN" smtClean="0"/>
              <a:t>‹#›</a:t>
            </a:fld>
            <a:endParaRPr lang="en-IN"/>
          </a:p>
        </p:txBody>
      </p:sp>
    </p:spTree>
    <p:extLst>
      <p:ext uri="{BB962C8B-B14F-4D97-AF65-F5344CB8AC3E}">
        <p14:creationId xmlns:p14="http://schemas.microsoft.com/office/powerpoint/2010/main" val="34436980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B05C2-7F4D-3B6E-5370-93609F82F0C7}"/>
              </a:ext>
            </a:extLst>
          </p:cNvPr>
          <p:cNvSpPr>
            <a:spLocks noGrp="1"/>
          </p:cNvSpPr>
          <p:nvPr>
            <p:ph type="ctrTitle"/>
          </p:nvPr>
        </p:nvSpPr>
        <p:spPr/>
        <p:txBody>
          <a:bodyPr/>
          <a:lstStyle/>
          <a:p>
            <a:r>
              <a:rPr lang="en-IN" b="1" dirty="0"/>
              <a:t>Secure Coding Techniques</a:t>
            </a:r>
            <a:endParaRPr lang="en-IN" dirty="0"/>
          </a:p>
        </p:txBody>
      </p:sp>
      <p:sp>
        <p:nvSpPr>
          <p:cNvPr id="3" name="Subtitle 2">
            <a:extLst>
              <a:ext uri="{FF2B5EF4-FFF2-40B4-BE49-F238E27FC236}">
                <a16:creationId xmlns:a16="http://schemas.microsoft.com/office/drawing/2014/main" id="{9F4AD991-9406-463A-ABD5-63F17DABB2C2}"/>
              </a:ext>
            </a:extLst>
          </p:cNvPr>
          <p:cNvSpPr>
            <a:spLocks noGrp="1"/>
          </p:cNvSpPr>
          <p:nvPr>
            <p:ph type="subTitle" idx="1"/>
          </p:nvPr>
        </p:nvSpPr>
        <p:spPr/>
        <p:txBody>
          <a:bodyPr>
            <a:normAutofit/>
          </a:bodyPr>
          <a:lstStyle/>
          <a:p>
            <a:r>
              <a:rPr lang="en-IN" sz="2400" b="1" dirty="0"/>
              <a:t>Unit - IV</a:t>
            </a:r>
            <a:endParaRPr lang="en-IN" sz="2400" dirty="0"/>
          </a:p>
        </p:txBody>
      </p:sp>
    </p:spTree>
    <p:extLst>
      <p:ext uri="{BB962C8B-B14F-4D97-AF65-F5344CB8AC3E}">
        <p14:creationId xmlns:p14="http://schemas.microsoft.com/office/powerpoint/2010/main" val="16902020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19BA5-16F3-2954-E901-D4A22F9597C3}"/>
              </a:ext>
            </a:extLst>
          </p:cNvPr>
          <p:cNvSpPr>
            <a:spLocks noGrp="1"/>
          </p:cNvSpPr>
          <p:nvPr>
            <p:ph type="title"/>
          </p:nvPr>
        </p:nvSpPr>
        <p:spPr/>
        <p:txBody>
          <a:bodyPr>
            <a:normAutofit fontScale="90000"/>
          </a:bodyPr>
          <a:lstStyle/>
          <a:p>
            <a:r>
              <a:rPr lang="en-IN" b="1" dirty="0"/>
              <a:t>TECHNIQUES FOR PROTECTING AGAINST DOS ATTACKS</a:t>
            </a:r>
            <a:endParaRPr lang="en-IN" dirty="0"/>
          </a:p>
        </p:txBody>
      </p:sp>
      <p:sp>
        <p:nvSpPr>
          <p:cNvPr id="3" name="Content Placeholder 2">
            <a:extLst>
              <a:ext uri="{FF2B5EF4-FFF2-40B4-BE49-F238E27FC236}">
                <a16:creationId xmlns:a16="http://schemas.microsoft.com/office/drawing/2014/main" id="{D0384ACA-B0B0-AB4D-499A-03B500A678E6}"/>
              </a:ext>
            </a:extLst>
          </p:cNvPr>
          <p:cNvSpPr>
            <a:spLocks noGrp="1"/>
          </p:cNvSpPr>
          <p:nvPr>
            <p:ph idx="1"/>
          </p:nvPr>
        </p:nvSpPr>
        <p:spPr/>
        <p:txBody>
          <a:bodyPr>
            <a:normAutofit/>
          </a:bodyPr>
          <a:lstStyle/>
          <a:p>
            <a:pPr marL="342900" indent="-342900">
              <a:buAutoNum type="arabicPeriod"/>
            </a:pPr>
            <a:r>
              <a:rPr lang="en-IN" b="1" dirty="0"/>
              <a:t>Firewalls and Router Security</a:t>
            </a:r>
          </a:p>
          <a:p>
            <a:pPr marL="0" indent="0">
              <a:buNone/>
            </a:pPr>
            <a:r>
              <a:rPr lang="en-IN" b="1" dirty="0"/>
              <a:t>2. Load Balancing</a:t>
            </a:r>
          </a:p>
          <a:p>
            <a:pPr marL="0" indent="0">
              <a:buNone/>
            </a:pPr>
            <a:r>
              <a:rPr lang="en-IN" b="1" dirty="0"/>
              <a:t>3. Intrusion Prevention Systems (IPS</a:t>
            </a:r>
          </a:p>
          <a:p>
            <a:pPr marL="0" indent="0">
              <a:buNone/>
            </a:pPr>
            <a:r>
              <a:rPr lang="en-IN" b="1" dirty="0"/>
              <a:t>4. Antivirus and Anti-Trojan Software</a:t>
            </a:r>
          </a:p>
          <a:p>
            <a:pPr marL="0" indent="0">
              <a:buNone/>
            </a:pPr>
            <a:r>
              <a:rPr lang="en-IN" b="1" dirty="0"/>
              <a:t>5. Honeypots</a:t>
            </a:r>
            <a:endParaRPr lang="en-IN" dirty="0"/>
          </a:p>
          <a:p>
            <a:pPr marL="0" indent="0">
              <a:buNone/>
            </a:pPr>
            <a:r>
              <a:rPr lang="en-IN" b="1" dirty="0"/>
              <a:t>6. Traffic Monitoring and Anomaly Detection</a:t>
            </a:r>
            <a:endParaRPr lang="en-IN" dirty="0"/>
          </a:p>
          <a:p>
            <a:pPr marL="0" indent="0">
              <a:buNone/>
            </a:pPr>
            <a:r>
              <a:rPr lang="en-IN" b="1" dirty="0"/>
              <a:t>7. Rate Limiting and Throttling</a:t>
            </a:r>
            <a:endParaRPr lang="en-IN" dirty="0"/>
          </a:p>
          <a:p>
            <a:pPr marL="0" indent="0">
              <a:buNone/>
            </a:pPr>
            <a:r>
              <a:rPr lang="en-IN" b="1" dirty="0"/>
              <a:t>8. Content Delivery Networks (CDNs)</a:t>
            </a:r>
          </a:p>
          <a:p>
            <a:pPr marL="0" indent="0">
              <a:buNone/>
            </a:pPr>
            <a:r>
              <a:rPr lang="en-IN" b="1" dirty="0"/>
              <a:t>9. Secure Coding and Input Validation</a:t>
            </a:r>
          </a:p>
          <a:p>
            <a:pPr marL="0" indent="0">
              <a:buNone/>
            </a:pPr>
            <a:r>
              <a:rPr lang="en-IN" b="1" dirty="0"/>
              <a:t>10. Redundancy and Backup Systems</a:t>
            </a:r>
            <a:endParaRPr lang="en-IN" dirty="0"/>
          </a:p>
        </p:txBody>
      </p:sp>
    </p:spTree>
    <p:extLst>
      <p:ext uri="{BB962C8B-B14F-4D97-AF65-F5344CB8AC3E}">
        <p14:creationId xmlns:p14="http://schemas.microsoft.com/office/powerpoint/2010/main" val="6801192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53AF1-F5FC-7415-A532-FD7E2853B72A}"/>
              </a:ext>
            </a:extLst>
          </p:cNvPr>
          <p:cNvSpPr>
            <a:spLocks noGrp="1"/>
          </p:cNvSpPr>
          <p:nvPr>
            <p:ph type="title"/>
          </p:nvPr>
        </p:nvSpPr>
        <p:spPr/>
        <p:txBody>
          <a:bodyPr>
            <a:normAutofit fontScale="90000"/>
          </a:bodyPr>
          <a:lstStyle/>
          <a:p>
            <a:r>
              <a:rPr lang="en-IN" b="1" dirty="0"/>
              <a:t>APPLICATION FAILURE ATTACKS</a:t>
            </a:r>
            <a:endParaRPr lang="en-IN" dirty="0"/>
          </a:p>
        </p:txBody>
      </p:sp>
      <p:sp>
        <p:nvSpPr>
          <p:cNvPr id="3" name="Content Placeholder 2">
            <a:extLst>
              <a:ext uri="{FF2B5EF4-FFF2-40B4-BE49-F238E27FC236}">
                <a16:creationId xmlns:a16="http://schemas.microsoft.com/office/drawing/2014/main" id="{D7A9716E-DE39-F5B9-EDC0-50C3C20212A8}"/>
              </a:ext>
            </a:extLst>
          </p:cNvPr>
          <p:cNvSpPr>
            <a:spLocks noGrp="1"/>
          </p:cNvSpPr>
          <p:nvPr>
            <p:ph idx="1"/>
          </p:nvPr>
        </p:nvSpPr>
        <p:spPr/>
        <p:txBody>
          <a:bodyPr>
            <a:normAutofit/>
          </a:bodyPr>
          <a:lstStyle/>
          <a:p>
            <a:pPr lvl="0"/>
            <a:r>
              <a:rPr lang="en-IN" sz="2000" b="1" dirty="0"/>
              <a:t>Invalid Input</a:t>
            </a:r>
          </a:p>
          <a:p>
            <a:pPr lvl="0"/>
            <a:r>
              <a:rPr lang="en-IN" sz="2000" b="1" dirty="0"/>
              <a:t>Buffer Overflow</a:t>
            </a:r>
          </a:p>
          <a:p>
            <a:pPr lvl="0"/>
            <a:r>
              <a:rPr lang="en-IN" sz="2000" b="1" dirty="0"/>
              <a:t>Null Pointer Dereference</a:t>
            </a:r>
          </a:p>
          <a:p>
            <a:pPr lvl="0"/>
            <a:r>
              <a:rPr lang="en-IN" sz="2000" b="1" dirty="0"/>
              <a:t>Resource Exhaustion</a:t>
            </a:r>
          </a:p>
          <a:p>
            <a:pPr lvl="0"/>
            <a:r>
              <a:rPr lang="en-IN" sz="2000" b="1" dirty="0"/>
              <a:t>Race Conditions</a:t>
            </a:r>
          </a:p>
          <a:p>
            <a:pPr lvl="0"/>
            <a:r>
              <a:rPr lang="en-IN" sz="2000" b="1" dirty="0"/>
              <a:t>Improper Error Handling</a:t>
            </a:r>
            <a:endParaRPr lang="en-IN" sz="2000" dirty="0"/>
          </a:p>
        </p:txBody>
      </p:sp>
    </p:spTree>
    <p:extLst>
      <p:ext uri="{BB962C8B-B14F-4D97-AF65-F5344CB8AC3E}">
        <p14:creationId xmlns:p14="http://schemas.microsoft.com/office/powerpoint/2010/main" val="4286840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DB89E-4D77-3B8D-C0DD-58BCEFAD4EDF}"/>
              </a:ext>
            </a:extLst>
          </p:cNvPr>
          <p:cNvSpPr>
            <a:spLocks noGrp="1"/>
          </p:cNvSpPr>
          <p:nvPr>
            <p:ph type="title"/>
          </p:nvPr>
        </p:nvSpPr>
        <p:spPr/>
        <p:txBody>
          <a:bodyPr/>
          <a:lstStyle/>
          <a:p>
            <a:r>
              <a:rPr lang="en-IN" b="1" dirty="0"/>
              <a:t>CPU Starvation Attacks</a:t>
            </a:r>
            <a:endParaRPr lang="en-IN" dirty="0"/>
          </a:p>
        </p:txBody>
      </p:sp>
      <p:sp>
        <p:nvSpPr>
          <p:cNvPr id="3" name="Content Placeholder 2">
            <a:extLst>
              <a:ext uri="{FF2B5EF4-FFF2-40B4-BE49-F238E27FC236}">
                <a16:creationId xmlns:a16="http://schemas.microsoft.com/office/drawing/2014/main" id="{991FE293-1F8C-5567-DE6A-6BB9198D0F3A}"/>
              </a:ext>
            </a:extLst>
          </p:cNvPr>
          <p:cNvSpPr>
            <a:spLocks noGrp="1"/>
          </p:cNvSpPr>
          <p:nvPr>
            <p:ph idx="1"/>
          </p:nvPr>
        </p:nvSpPr>
        <p:spPr>
          <a:xfrm>
            <a:off x="1066800" y="2103120"/>
            <a:ext cx="10058400" cy="4281638"/>
          </a:xfrm>
        </p:spPr>
        <p:txBody>
          <a:bodyPr>
            <a:normAutofit fontScale="92500" lnSpcReduction="10000"/>
          </a:bodyPr>
          <a:lstStyle/>
          <a:p>
            <a:pPr marL="0" indent="0" algn="just">
              <a:buNone/>
            </a:pPr>
            <a:r>
              <a:rPr lang="en-IN" sz="2000" dirty="0"/>
              <a:t>A CPU starvation attack occurs when a malicious process monopolizes CPU resources, preventing other legitimate processes from executing in a timely manner. The goal is to starve other applications or services by consuming excessive CPU cycles, leading to performance degradation or system unresponsiveness.</a:t>
            </a:r>
          </a:p>
          <a:p>
            <a:pPr marL="0" indent="0" algn="just">
              <a:buNone/>
            </a:pPr>
            <a:r>
              <a:rPr lang="en-IN" sz="2000" b="1" dirty="0"/>
              <a:t>Causes of CPU Starvation</a:t>
            </a:r>
            <a:endParaRPr lang="en-IN" sz="2000" dirty="0"/>
          </a:p>
          <a:p>
            <a:pPr lvl="0" algn="just"/>
            <a:r>
              <a:rPr lang="en-IN" sz="2000" b="1" dirty="0"/>
              <a:t>High-priority looped processes</a:t>
            </a:r>
            <a:r>
              <a:rPr lang="en-IN" sz="2000" dirty="0"/>
              <a:t>: A program is intentionally set to the highest priority and runs an infinite loop, consuming CPU without yielding.</a:t>
            </a:r>
          </a:p>
          <a:p>
            <a:pPr lvl="0" algn="just"/>
            <a:r>
              <a:rPr lang="en-IN" sz="2000" b="1" dirty="0"/>
              <a:t>Thread or process flooding</a:t>
            </a:r>
            <a:r>
              <a:rPr lang="en-IN" sz="2000" dirty="0"/>
              <a:t>: Launching a large number of concurrent threads or processes that constantly request CPU time.</a:t>
            </a:r>
          </a:p>
          <a:p>
            <a:pPr lvl="0" algn="just"/>
            <a:r>
              <a:rPr lang="en-IN" sz="2000" b="1" dirty="0"/>
              <a:t>Improper scheduling settings</a:t>
            </a:r>
            <a:r>
              <a:rPr lang="en-IN" sz="2000" dirty="0"/>
              <a:t>: Exploiting flaws in the OS or scheduler that allow some processes to unfairly dominate CPU access.</a:t>
            </a:r>
          </a:p>
          <a:p>
            <a:pPr lvl="0" algn="just"/>
            <a:r>
              <a:rPr lang="en-IN" sz="2000" b="1" dirty="0"/>
              <a:t>Resource Locking or Blocking Calls</a:t>
            </a:r>
            <a:r>
              <a:rPr lang="en-IN" sz="2000" dirty="0"/>
              <a:t>: Keeping system resources locked for long periods causes other processes to be queued, increasing wait time.</a:t>
            </a:r>
          </a:p>
          <a:p>
            <a:pPr marL="0" indent="0" algn="just">
              <a:buNone/>
            </a:pPr>
            <a:endParaRPr lang="en-IN" sz="2000" dirty="0"/>
          </a:p>
        </p:txBody>
      </p:sp>
    </p:spTree>
    <p:extLst>
      <p:ext uri="{BB962C8B-B14F-4D97-AF65-F5344CB8AC3E}">
        <p14:creationId xmlns:p14="http://schemas.microsoft.com/office/powerpoint/2010/main" val="24135182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095CB-D3CF-7C35-6D2B-FC1FD47AAD84}"/>
              </a:ext>
            </a:extLst>
          </p:cNvPr>
          <p:cNvSpPr>
            <a:spLocks noGrp="1"/>
          </p:cNvSpPr>
          <p:nvPr>
            <p:ph type="title"/>
          </p:nvPr>
        </p:nvSpPr>
        <p:spPr>
          <a:xfrm>
            <a:off x="1066800" y="642594"/>
            <a:ext cx="10058400" cy="910903"/>
          </a:xfrm>
        </p:spPr>
        <p:txBody>
          <a:bodyPr>
            <a:normAutofit fontScale="90000"/>
          </a:bodyPr>
          <a:lstStyle/>
          <a:p>
            <a:r>
              <a:rPr lang="en-IN" sz="3200" b="1" dirty="0"/>
              <a:t>INSECURE CODING PRACTICES IN PYTHON/JAVA TECHNOLOGY</a:t>
            </a:r>
            <a:endParaRPr lang="en-IN" sz="3200" dirty="0"/>
          </a:p>
        </p:txBody>
      </p:sp>
      <p:sp>
        <p:nvSpPr>
          <p:cNvPr id="3" name="Content Placeholder 2">
            <a:extLst>
              <a:ext uri="{FF2B5EF4-FFF2-40B4-BE49-F238E27FC236}">
                <a16:creationId xmlns:a16="http://schemas.microsoft.com/office/drawing/2014/main" id="{648B8977-B325-F49C-F646-9DC517882203}"/>
              </a:ext>
            </a:extLst>
          </p:cNvPr>
          <p:cNvSpPr>
            <a:spLocks noGrp="1"/>
          </p:cNvSpPr>
          <p:nvPr>
            <p:ph idx="1"/>
          </p:nvPr>
        </p:nvSpPr>
        <p:spPr>
          <a:xfrm>
            <a:off x="1066800" y="1720645"/>
            <a:ext cx="10058400" cy="4494761"/>
          </a:xfrm>
        </p:spPr>
        <p:txBody>
          <a:bodyPr>
            <a:normAutofit fontScale="92500" lnSpcReduction="20000"/>
          </a:bodyPr>
          <a:lstStyle/>
          <a:p>
            <a:pPr marL="0" indent="0">
              <a:buNone/>
            </a:pPr>
            <a:r>
              <a:rPr lang="en-IN" b="1" dirty="0"/>
              <a:t>1. Hardcoding Sensitive Information:</a:t>
            </a:r>
            <a:endParaRPr lang="en-IN" dirty="0"/>
          </a:p>
          <a:p>
            <a:pPr marL="0" indent="0">
              <a:buNone/>
            </a:pPr>
            <a:r>
              <a:rPr lang="en-IN" dirty="0"/>
              <a:t>Storing sensitive data like passwords, API keys, or database credentials directly in the code.</a:t>
            </a:r>
          </a:p>
          <a:p>
            <a:pPr marL="0" indent="0">
              <a:buNone/>
            </a:pPr>
            <a:r>
              <a:rPr lang="en-IN" b="1" dirty="0"/>
              <a:t>Example (Python): </a:t>
            </a:r>
            <a:r>
              <a:rPr lang="en-IN" dirty="0"/>
              <a:t>password = "admin123"</a:t>
            </a:r>
          </a:p>
          <a:p>
            <a:pPr marL="0" indent="0">
              <a:buNone/>
            </a:pPr>
            <a:r>
              <a:rPr lang="en-IN" b="1" dirty="0"/>
              <a:t>Example (Java): </a:t>
            </a:r>
            <a:r>
              <a:rPr lang="en-IN" dirty="0"/>
              <a:t>String </a:t>
            </a:r>
            <a:r>
              <a:rPr lang="en-IN" dirty="0" err="1"/>
              <a:t>dbPassword</a:t>
            </a:r>
            <a:r>
              <a:rPr lang="en-IN" dirty="0"/>
              <a:t> = "secret";</a:t>
            </a:r>
          </a:p>
          <a:p>
            <a:pPr marL="0" indent="0">
              <a:buNone/>
            </a:pPr>
            <a:r>
              <a:rPr lang="en-IN" b="1" dirty="0"/>
              <a:t>Risk: </a:t>
            </a:r>
            <a:r>
              <a:rPr lang="en-IN" dirty="0"/>
              <a:t>Attackers who gain access to the codebase (even temporarily) can extract credentials and misuse them.</a:t>
            </a:r>
          </a:p>
          <a:p>
            <a:pPr marL="0" indent="0">
              <a:buNone/>
            </a:pPr>
            <a:endParaRPr lang="en-IN" dirty="0"/>
          </a:p>
          <a:p>
            <a:pPr marL="0" indent="0">
              <a:buNone/>
            </a:pPr>
            <a:r>
              <a:rPr lang="en-IN" b="1" dirty="0"/>
              <a:t>2. Improper Input Validation:</a:t>
            </a:r>
            <a:endParaRPr lang="en-IN" dirty="0"/>
          </a:p>
          <a:p>
            <a:pPr marL="0" indent="0">
              <a:buNone/>
            </a:pPr>
            <a:r>
              <a:rPr lang="en-IN" dirty="0"/>
              <a:t>Failing to check or sanitize user inputs can lead to attacks such as SQL Injection, Cross-Site Scripting (XSS), or code injection.</a:t>
            </a:r>
          </a:p>
          <a:p>
            <a:pPr marL="0" indent="0">
              <a:buNone/>
            </a:pPr>
            <a:r>
              <a:rPr lang="en-IN" b="1" dirty="0"/>
              <a:t>Example (Python - SQL Injection): </a:t>
            </a:r>
            <a:r>
              <a:rPr lang="en-IN" dirty="0"/>
              <a:t>query = "SELECT * FROM users WHERE username = '" + </a:t>
            </a:r>
            <a:r>
              <a:rPr lang="en-IN" dirty="0" err="1"/>
              <a:t>user_input</a:t>
            </a:r>
            <a:r>
              <a:rPr lang="en-IN" dirty="0"/>
              <a:t> + "';"</a:t>
            </a:r>
          </a:p>
          <a:p>
            <a:pPr marL="0" indent="0">
              <a:buNone/>
            </a:pPr>
            <a:r>
              <a:rPr lang="en-IN" b="1" dirty="0"/>
              <a:t>Example (Java - SQL Injection):</a:t>
            </a:r>
            <a:endParaRPr lang="en-IN" dirty="0"/>
          </a:p>
          <a:p>
            <a:pPr marL="0" indent="0">
              <a:buNone/>
            </a:pPr>
            <a:r>
              <a:rPr lang="en-IN" dirty="0"/>
              <a:t>String query = "SELECT * FROM users WHERE username = '" + input + "'";</a:t>
            </a:r>
          </a:p>
          <a:p>
            <a:pPr marL="0" indent="0">
              <a:buNone/>
            </a:pPr>
            <a:r>
              <a:rPr lang="en-IN" b="1" dirty="0"/>
              <a:t>Risk:</a:t>
            </a:r>
            <a:r>
              <a:rPr lang="en-IN" dirty="0"/>
              <a:t> Attackers can craft malicious inputs to gain unauthorized access or manipulate the system.</a:t>
            </a:r>
          </a:p>
          <a:p>
            <a:pPr marL="0" indent="0">
              <a:buNone/>
            </a:pPr>
            <a:endParaRPr lang="en-IN" dirty="0"/>
          </a:p>
          <a:p>
            <a:pPr marL="0" indent="0">
              <a:buNone/>
            </a:pPr>
            <a:endParaRPr lang="en-IN" sz="2000" dirty="0"/>
          </a:p>
        </p:txBody>
      </p:sp>
    </p:spTree>
    <p:extLst>
      <p:ext uri="{BB962C8B-B14F-4D97-AF65-F5344CB8AC3E}">
        <p14:creationId xmlns:p14="http://schemas.microsoft.com/office/powerpoint/2010/main" val="16961414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0769F6-420A-3BD3-FCBF-256BB0B684AA}"/>
              </a:ext>
            </a:extLst>
          </p:cNvPr>
          <p:cNvSpPr>
            <a:spLocks noGrp="1"/>
          </p:cNvSpPr>
          <p:nvPr>
            <p:ph idx="1"/>
          </p:nvPr>
        </p:nvSpPr>
        <p:spPr>
          <a:xfrm>
            <a:off x="1066800" y="737937"/>
            <a:ext cx="10058400" cy="5297103"/>
          </a:xfrm>
        </p:spPr>
        <p:txBody>
          <a:bodyPr>
            <a:normAutofit fontScale="92500" lnSpcReduction="10000"/>
          </a:bodyPr>
          <a:lstStyle/>
          <a:p>
            <a:pPr marL="0" indent="0">
              <a:buNone/>
            </a:pPr>
            <a:r>
              <a:rPr lang="en-IN" sz="2400" b="1" dirty="0"/>
              <a:t>3. Use of eval() or exec() Functions:</a:t>
            </a:r>
            <a:endParaRPr lang="en-IN" sz="2400" dirty="0"/>
          </a:p>
          <a:p>
            <a:pPr marL="0" indent="0">
              <a:buNone/>
            </a:pPr>
            <a:r>
              <a:rPr lang="en-IN" sz="2400" dirty="0"/>
              <a:t>Using these functions can execute arbitrary code, which becomes dangerous if it includes user inputs.</a:t>
            </a:r>
          </a:p>
          <a:p>
            <a:pPr marL="0" indent="0">
              <a:buNone/>
            </a:pPr>
            <a:r>
              <a:rPr lang="en-IN" sz="2400" b="1" dirty="0"/>
              <a:t>Example (Python): </a:t>
            </a:r>
            <a:r>
              <a:rPr lang="en-IN" sz="2400" dirty="0"/>
              <a:t>eval("print(" + </a:t>
            </a:r>
            <a:r>
              <a:rPr lang="en-IN" sz="2400" dirty="0" err="1"/>
              <a:t>user_input</a:t>
            </a:r>
            <a:r>
              <a:rPr lang="en-IN" sz="2400" dirty="0"/>
              <a:t> + ")")</a:t>
            </a:r>
          </a:p>
          <a:p>
            <a:pPr marL="0" indent="0">
              <a:buNone/>
            </a:pPr>
            <a:r>
              <a:rPr lang="en-IN" sz="2400" b="1" dirty="0"/>
              <a:t>Risk: </a:t>
            </a:r>
            <a:r>
              <a:rPr lang="en-IN" sz="2400" dirty="0"/>
              <a:t>Allows attackers to run malicious code on the server.</a:t>
            </a:r>
          </a:p>
          <a:p>
            <a:pPr marL="0" indent="0">
              <a:buNone/>
            </a:pPr>
            <a:r>
              <a:rPr lang="en-IN" sz="2400" dirty="0"/>
              <a:t> </a:t>
            </a:r>
          </a:p>
          <a:p>
            <a:pPr marL="0" indent="0">
              <a:buNone/>
            </a:pPr>
            <a:r>
              <a:rPr lang="en-IN" sz="2400" b="1" dirty="0"/>
              <a:t>4. Lack of Error Handling:</a:t>
            </a:r>
            <a:endParaRPr lang="en-IN" sz="2400" dirty="0"/>
          </a:p>
          <a:p>
            <a:pPr marL="0" indent="0">
              <a:buNone/>
            </a:pPr>
            <a:r>
              <a:rPr lang="en-IN" sz="2400" dirty="0"/>
              <a:t>Failing to handle errors securely can expose sensitive information like stack traces, file paths, or configurations.</a:t>
            </a:r>
          </a:p>
          <a:p>
            <a:pPr marL="0" indent="0">
              <a:buNone/>
            </a:pPr>
            <a:r>
              <a:rPr lang="en-IN" sz="2400" b="1" dirty="0"/>
              <a:t>Example (Python):</a:t>
            </a:r>
            <a:endParaRPr lang="en-IN" sz="2400" dirty="0"/>
          </a:p>
          <a:p>
            <a:pPr marL="0" indent="0">
              <a:buNone/>
            </a:pPr>
            <a:r>
              <a:rPr lang="en-IN" sz="2400" dirty="0"/>
              <a:t>except Exception as e:</a:t>
            </a:r>
          </a:p>
          <a:p>
            <a:pPr marL="0" indent="0">
              <a:buNone/>
            </a:pPr>
            <a:r>
              <a:rPr lang="en-IN" sz="2400" dirty="0"/>
              <a:t>    print(e)  # Reveals internal error details</a:t>
            </a:r>
          </a:p>
          <a:p>
            <a:pPr marL="0" indent="0">
              <a:buNone/>
            </a:pPr>
            <a:r>
              <a:rPr lang="en-IN" sz="2400" b="1" dirty="0"/>
              <a:t>Risk: </a:t>
            </a:r>
            <a:r>
              <a:rPr lang="en-IN" sz="2400" dirty="0"/>
              <a:t>Leaks internal system details that help attackers map vulnerabilities.</a:t>
            </a:r>
          </a:p>
          <a:p>
            <a:pPr marL="0" indent="0">
              <a:buNone/>
            </a:pPr>
            <a:endParaRPr lang="en-IN" sz="2400" dirty="0"/>
          </a:p>
        </p:txBody>
      </p:sp>
    </p:spTree>
    <p:extLst>
      <p:ext uri="{BB962C8B-B14F-4D97-AF65-F5344CB8AC3E}">
        <p14:creationId xmlns:p14="http://schemas.microsoft.com/office/powerpoint/2010/main" val="37097672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B5CE15-8499-35E9-5281-211154A7E0CF}"/>
              </a:ext>
            </a:extLst>
          </p:cNvPr>
          <p:cNvSpPr>
            <a:spLocks noGrp="1"/>
          </p:cNvSpPr>
          <p:nvPr>
            <p:ph idx="1"/>
          </p:nvPr>
        </p:nvSpPr>
        <p:spPr>
          <a:xfrm>
            <a:off x="1066800" y="930442"/>
            <a:ext cx="10058400" cy="5104598"/>
          </a:xfrm>
        </p:spPr>
        <p:txBody>
          <a:bodyPr>
            <a:normAutofit lnSpcReduction="10000"/>
          </a:bodyPr>
          <a:lstStyle/>
          <a:p>
            <a:pPr marL="0" indent="0">
              <a:buNone/>
            </a:pPr>
            <a:r>
              <a:rPr lang="en-IN" sz="2400" b="1" dirty="0"/>
              <a:t>5. Improper Use of Cryptography:</a:t>
            </a:r>
            <a:endParaRPr lang="en-IN" sz="2400" dirty="0"/>
          </a:p>
          <a:p>
            <a:pPr marL="0" indent="0">
              <a:buNone/>
            </a:pPr>
            <a:r>
              <a:rPr lang="en-IN" sz="2400" dirty="0"/>
              <a:t>Using weak or outdated algorithms, or writing custom encryption instead of using secure libraries.</a:t>
            </a:r>
          </a:p>
          <a:p>
            <a:pPr marL="0" indent="0">
              <a:buNone/>
            </a:pPr>
            <a:r>
              <a:rPr lang="en-IN" sz="2400" b="1" dirty="0"/>
              <a:t>Example (Python):</a:t>
            </a:r>
            <a:endParaRPr lang="en-IN" sz="2400" dirty="0"/>
          </a:p>
          <a:p>
            <a:pPr marL="0" indent="0">
              <a:buNone/>
            </a:pPr>
            <a:r>
              <a:rPr lang="en-IN" sz="2400" dirty="0"/>
              <a:t>import </a:t>
            </a:r>
            <a:r>
              <a:rPr lang="en-IN" sz="2400" dirty="0" err="1"/>
              <a:t>hashlib</a:t>
            </a:r>
            <a:endParaRPr lang="en-IN" sz="2400" dirty="0"/>
          </a:p>
          <a:p>
            <a:pPr marL="0" indent="0">
              <a:buNone/>
            </a:pPr>
            <a:r>
              <a:rPr lang="en-IN" sz="2400" dirty="0"/>
              <a:t>hashlib.md5(</a:t>
            </a:r>
            <a:r>
              <a:rPr lang="en-IN" sz="2400" dirty="0" err="1"/>
              <a:t>password.encode</a:t>
            </a:r>
            <a:r>
              <a:rPr lang="en-IN" sz="2400" dirty="0"/>
              <a:t>())  # MD5 is outdated</a:t>
            </a:r>
          </a:p>
          <a:p>
            <a:pPr marL="0" indent="0">
              <a:buNone/>
            </a:pPr>
            <a:r>
              <a:rPr lang="en-IN" sz="2400" b="1" dirty="0"/>
              <a:t>Risk: </a:t>
            </a:r>
            <a:r>
              <a:rPr lang="en-IN" sz="2400" dirty="0"/>
              <a:t>Easier for attackers to break encryption or hashes.</a:t>
            </a:r>
          </a:p>
          <a:p>
            <a:pPr marL="0" indent="0">
              <a:buNone/>
            </a:pPr>
            <a:r>
              <a:rPr lang="en-IN" sz="2400" dirty="0"/>
              <a:t> </a:t>
            </a:r>
          </a:p>
          <a:p>
            <a:pPr marL="0" indent="0">
              <a:buNone/>
            </a:pPr>
            <a:r>
              <a:rPr lang="en-IN" sz="2400" b="1" dirty="0"/>
              <a:t>6. Insufficient Authorization Checks:</a:t>
            </a:r>
            <a:endParaRPr lang="en-IN" sz="2400" dirty="0"/>
          </a:p>
          <a:p>
            <a:pPr marL="0" indent="0">
              <a:buNone/>
            </a:pPr>
            <a:r>
              <a:rPr lang="en-IN" sz="2400" dirty="0"/>
              <a:t>Assuming that users are authorized without verifying roles or access levels.</a:t>
            </a:r>
          </a:p>
          <a:p>
            <a:pPr marL="0" indent="0">
              <a:buNone/>
            </a:pPr>
            <a:r>
              <a:rPr lang="en-IN" sz="2400" b="1" dirty="0"/>
              <a:t>Risk: </a:t>
            </a:r>
            <a:r>
              <a:rPr lang="en-IN" sz="2400" dirty="0"/>
              <a:t>Users may access restricted features or data.</a:t>
            </a:r>
          </a:p>
          <a:p>
            <a:pPr marL="0" indent="0">
              <a:buNone/>
            </a:pPr>
            <a:endParaRPr lang="en-IN" sz="2400" dirty="0"/>
          </a:p>
        </p:txBody>
      </p:sp>
    </p:spTree>
    <p:extLst>
      <p:ext uri="{BB962C8B-B14F-4D97-AF65-F5344CB8AC3E}">
        <p14:creationId xmlns:p14="http://schemas.microsoft.com/office/powerpoint/2010/main" val="5475286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3168D2-31C0-D373-5824-80931796A3FF}"/>
              </a:ext>
            </a:extLst>
          </p:cNvPr>
          <p:cNvSpPr>
            <a:spLocks noGrp="1"/>
          </p:cNvSpPr>
          <p:nvPr>
            <p:ph idx="1"/>
          </p:nvPr>
        </p:nvSpPr>
        <p:spPr>
          <a:xfrm>
            <a:off x="1066800" y="818147"/>
            <a:ext cx="10058400" cy="5216893"/>
          </a:xfrm>
        </p:spPr>
        <p:txBody>
          <a:bodyPr>
            <a:normAutofit/>
          </a:bodyPr>
          <a:lstStyle/>
          <a:p>
            <a:pPr marL="0" indent="0">
              <a:buNone/>
            </a:pPr>
            <a:r>
              <a:rPr lang="en-IN" sz="2400" b="1" dirty="0"/>
              <a:t>7. Logging Sensitive Data:</a:t>
            </a:r>
            <a:endParaRPr lang="en-IN" sz="2400" dirty="0"/>
          </a:p>
          <a:p>
            <a:pPr marL="0" indent="0">
              <a:buNone/>
            </a:pPr>
            <a:r>
              <a:rPr lang="en-IN" sz="2400" dirty="0"/>
              <a:t>Logging full user input or credentials for debugging purposes.</a:t>
            </a:r>
          </a:p>
          <a:p>
            <a:pPr marL="0" indent="0">
              <a:buNone/>
            </a:pPr>
            <a:r>
              <a:rPr lang="en-IN" sz="2400" b="1" dirty="0"/>
              <a:t>Example: </a:t>
            </a:r>
            <a:r>
              <a:rPr lang="en-IN" sz="2400" dirty="0"/>
              <a:t>print("Login attempt: " + username + " with password: " + password)</a:t>
            </a:r>
          </a:p>
          <a:p>
            <a:pPr marL="0" indent="0">
              <a:buNone/>
            </a:pPr>
            <a:r>
              <a:rPr lang="en-IN" sz="2400" b="1" dirty="0"/>
              <a:t>Risk: </a:t>
            </a:r>
            <a:r>
              <a:rPr lang="en-IN" sz="2400" dirty="0"/>
              <a:t>Leads to sensitive data exposure in logs.</a:t>
            </a:r>
          </a:p>
          <a:p>
            <a:pPr marL="0" indent="0">
              <a:buNone/>
            </a:pPr>
            <a:r>
              <a:rPr lang="en-IN" sz="2400" b="1" dirty="0"/>
              <a:t> </a:t>
            </a:r>
            <a:endParaRPr lang="en-IN" sz="2400" dirty="0"/>
          </a:p>
          <a:p>
            <a:pPr marL="0" indent="0">
              <a:buNone/>
            </a:pPr>
            <a:r>
              <a:rPr lang="en-IN" sz="2400" b="1" dirty="0"/>
              <a:t>8. Not Using HTTPS or Secure Communication:</a:t>
            </a:r>
            <a:endParaRPr lang="en-IN" sz="2400" dirty="0"/>
          </a:p>
          <a:p>
            <a:pPr marL="0" indent="0">
              <a:buNone/>
            </a:pPr>
            <a:r>
              <a:rPr lang="en-IN" sz="2400" dirty="0"/>
              <a:t>Sending data like passwords or tokens over unencrypted channels.</a:t>
            </a:r>
          </a:p>
          <a:p>
            <a:pPr marL="0" indent="0">
              <a:buNone/>
            </a:pPr>
            <a:r>
              <a:rPr lang="en-IN" sz="2400" b="1" dirty="0"/>
              <a:t>Risk: </a:t>
            </a:r>
            <a:r>
              <a:rPr lang="en-IN" sz="2400" dirty="0"/>
              <a:t>Enables eavesdropping or man-in-the-middle (MitM) attacks.</a:t>
            </a:r>
          </a:p>
          <a:p>
            <a:pPr marL="0" indent="0">
              <a:buNone/>
            </a:pPr>
            <a:endParaRPr lang="en-IN" sz="2400" dirty="0"/>
          </a:p>
        </p:txBody>
      </p:sp>
    </p:spTree>
    <p:extLst>
      <p:ext uri="{BB962C8B-B14F-4D97-AF65-F5344CB8AC3E}">
        <p14:creationId xmlns:p14="http://schemas.microsoft.com/office/powerpoint/2010/main" val="15988087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DB436-C50E-2D47-86C4-853B3249FA4C}"/>
              </a:ext>
            </a:extLst>
          </p:cNvPr>
          <p:cNvSpPr>
            <a:spLocks noGrp="1"/>
          </p:cNvSpPr>
          <p:nvPr>
            <p:ph type="title"/>
          </p:nvPr>
        </p:nvSpPr>
        <p:spPr/>
        <p:txBody>
          <a:bodyPr>
            <a:normAutofit/>
          </a:bodyPr>
          <a:lstStyle/>
          <a:p>
            <a:r>
              <a:rPr lang="en-IN" b="1" dirty="0"/>
              <a:t>ARP SPOOFING</a:t>
            </a:r>
            <a:endParaRPr lang="en-IN" dirty="0"/>
          </a:p>
        </p:txBody>
      </p:sp>
      <p:sp>
        <p:nvSpPr>
          <p:cNvPr id="3" name="Content Placeholder 2">
            <a:extLst>
              <a:ext uri="{FF2B5EF4-FFF2-40B4-BE49-F238E27FC236}">
                <a16:creationId xmlns:a16="http://schemas.microsoft.com/office/drawing/2014/main" id="{F5A5D21A-EDAA-D4AB-CC4B-99A04AD2CAC2}"/>
              </a:ext>
            </a:extLst>
          </p:cNvPr>
          <p:cNvSpPr>
            <a:spLocks noGrp="1"/>
          </p:cNvSpPr>
          <p:nvPr>
            <p:ph idx="1"/>
          </p:nvPr>
        </p:nvSpPr>
        <p:spPr/>
        <p:txBody>
          <a:bodyPr>
            <a:normAutofit/>
          </a:bodyPr>
          <a:lstStyle/>
          <a:p>
            <a:pPr marL="0" indent="0" algn="just">
              <a:buNone/>
            </a:pPr>
            <a:r>
              <a:rPr lang="en-IN" sz="2400" dirty="0"/>
              <a:t>ARP (Address Resolution Protocol) is used to map IP addresses to MAC addresses. In an ARP Spoofing attack, the attacker sends forged ARP messages to the local network, associating their MAC address with the IP address of a legitimate device, usually the gateway or another critical network device. This allows the attacker to intercept, modify, or completely stop the data intended for the target device.</a:t>
            </a:r>
          </a:p>
          <a:p>
            <a:pPr marL="0" indent="0" algn="just">
              <a:buNone/>
            </a:pPr>
            <a:endParaRPr lang="en-IN" sz="2400" dirty="0"/>
          </a:p>
        </p:txBody>
      </p:sp>
    </p:spTree>
    <p:extLst>
      <p:ext uri="{BB962C8B-B14F-4D97-AF65-F5344CB8AC3E}">
        <p14:creationId xmlns:p14="http://schemas.microsoft.com/office/powerpoint/2010/main" val="27763749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7C936-AA5B-78A8-4207-F3754EC3C2D7}"/>
              </a:ext>
            </a:extLst>
          </p:cNvPr>
          <p:cNvSpPr>
            <a:spLocks noGrp="1"/>
          </p:cNvSpPr>
          <p:nvPr>
            <p:ph type="title"/>
          </p:nvPr>
        </p:nvSpPr>
        <p:spPr/>
        <p:txBody>
          <a:bodyPr>
            <a:normAutofit fontScale="90000"/>
          </a:bodyPr>
          <a:lstStyle/>
          <a:p>
            <a:r>
              <a:rPr lang="en-IN" b="1" dirty="0"/>
              <a:t>Buffer Overrun- Stack Overrun, Heap Overrun:</a:t>
            </a:r>
            <a:endParaRPr lang="en-IN" dirty="0"/>
          </a:p>
        </p:txBody>
      </p:sp>
      <p:sp>
        <p:nvSpPr>
          <p:cNvPr id="3" name="Content Placeholder 2">
            <a:extLst>
              <a:ext uri="{FF2B5EF4-FFF2-40B4-BE49-F238E27FC236}">
                <a16:creationId xmlns:a16="http://schemas.microsoft.com/office/drawing/2014/main" id="{47A7812F-22B4-581B-5F0C-C0EA270250EC}"/>
              </a:ext>
            </a:extLst>
          </p:cNvPr>
          <p:cNvSpPr>
            <a:spLocks noGrp="1"/>
          </p:cNvSpPr>
          <p:nvPr>
            <p:ph idx="1"/>
          </p:nvPr>
        </p:nvSpPr>
        <p:spPr/>
        <p:txBody>
          <a:bodyPr>
            <a:normAutofit/>
          </a:bodyPr>
          <a:lstStyle/>
          <a:p>
            <a:pPr marL="0" indent="0" algn="just">
              <a:buNone/>
            </a:pPr>
            <a:r>
              <a:rPr lang="en-IN" sz="2400" dirty="0"/>
              <a:t>A buffer overrun occurs when a program writes more data into a buffer than it can hold, overwriting adjacent memory and potentially corrupting the system or leading to security vulnerabilities.</a:t>
            </a:r>
          </a:p>
          <a:p>
            <a:pPr marL="0" indent="0" algn="just">
              <a:buNone/>
            </a:pPr>
            <a:endParaRPr lang="en-IN" sz="2400" dirty="0"/>
          </a:p>
        </p:txBody>
      </p:sp>
      <p:pic>
        <p:nvPicPr>
          <p:cNvPr id="4" name="Picture 3" descr="What is a Buffer Overflow Attack? ⚔️ Types, Examples">
            <a:extLst>
              <a:ext uri="{FF2B5EF4-FFF2-40B4-BE49-F238E27FC236}">
                <a16:creationId xmlns:a16="http://schemas.microsoft.com/office/drawing/2014/main" id="{5359BE2A-61ED-54F0-0832-314DFDD571EA}"/>
              </a:ext>
            </a:extLst>
          </p:cNvPr>
          <p:cNvPicPr>
            <a:picLocks noChangeAspect="1"/>
          </p:cNvPicPr>
          <p:nvPr/>
        </p:nvPicPr>
        <p:blipFill rotWithShape="1">
          <a:blip r:embed="rId2">
            <a:extLst>
              <a:ext uri="{28A0092B-C50C-407E-A947-70E740481C1C}">
                <a14:useLocalDpi xmlns:a14="http://schemas.microsoft.com/office/drawing/2010/main" val="0"/>
              </a:ext>
            </a:extLst>
          </a:blip>
          <a:srcRect l="-1064" t="16257" r="1064" b="32685"/>
          <a:stretch/>
        </p:blipFill>
        <p:spPr bwMode="auto">
          <a:xfrm>
            <a:off x="1898751" y="3657800"/>
            <a:ext cx="8160136" cy="2180617"/>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5751994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37275-AFB0-CCBC-D3A2-23FCA48F4009}"/>
              </a:ext>
            </a:extLst>
          </p:cNvPr>
          <p:cNvSpPr>
            <a:spLocks noGrp="1"/>
          </p:cNvSpPr>
          <p:nvPr>
            <p:ph type="title"/>
          </p:nvPr>
        </p:nvSpPr>
        <p:spPr>
          <a:xfrm>
            <a:off x="1066800" y="642594"/>
            <a:ext cx="10058400" cy="665096"/>
          </a:xfrm>
        </p:spPr>
        <p:txBody>
          <a:bodyPr>
            <a:normAutofit fontScale="90000"/>
          </a:bodyPr>
          <a:lstStyle/>
          <a:p>
            <a:r>
              <a:rPr lang="en-IN" b="1" dirty="0"/>
              <a:t>Types: </a:t>
            </a:r>
            <a:endParaRPr lang="en-IN" dirty="0"/>
          </a:p>
        </p:txBody>
      </p:sp>
      <p:sp>
        <p:nvSpPr>
          <p:cNvPr id="3" name="Content Placeholder 2">
            <a:extLst>
              <a:ext uri="{FF2B5EF4-FFF2-40B4-BE49-F238E27FC236}">
                <a16:creationId xmlns:a16="http://schemas.microsoft.com/office/drawing/2014/main" id="{94E5E52A-BADE-0A9B-AF3F-0F079498FAE4}"/>
              </a:ext>
            </a:extLst>
          </p:cNvPr>
          <p:cNvSpPr>
            <a:spLocks noGrp="1"/>
          </p:cNvSpPr>
          <p:nvPr>
            <p:ph idx="1"/>
          </p:nvPr>
        </p:nvSpPr>
        <p:spPr>
          <a:xfrm>
            <a:off x="1066800" y="1445343"/>
            <a:ext cx="10058400" cy="4975122"/>
          </a:xfrm>
        </p:spPr>
        <p:txBody>
          <a:bodyPr>
            <a:normAutofit lnSpcReduction="10000"/>
          </a:bodyPr>
          <a:lstStyle/>
          <a:p>
            <a:pPr marL="0" lvl="0" indent="0">
              <a:buNone/>
            </a:pPr>
            <a:r>
              <a:rPr lang="en-IN" sz="2000" b="1" i="1" dirty="0"/>
              <a:t>1. Stack Overflow:</a:t>
            </a:r>
            <a:endParaRPr lang="en-IN" sz="2000" dirty="0"/>
          </a:p>
          <a:p>
            <a:pPr marL="0" indent="0">
              <a:buNone/>
            </a:pPr>
            <a:r>
              <a:rPr lang="en-IN" sz="2000" dirty="0"/>
              <a:t>Example: #include &lt;</a:t>
            </a:r>
            <a:r>
              <a:rPr lang="en-IN" sz="2000" dirty="0" err="1"/>
              <a:t>stdio.h</a:t>
            </a:r>
            <a:r>
              <a:rPr lang="en-IN" sz="2000" dirty="0"/>
              <a:t>&gt;</a:t>
            </a:r>
          </a:p>
          <a:p>
            <a:pPr marL="0" indent="0">
              <a:buNone/>
            </a:pPr>
            <a:r>
              <a:rPr lang="en-IN" sz="2000" dirty="0"/>
              <a:t>void overflow() {</a:t>
            </a:r>
          </a:p>
          <a:p>
            <a:pPr marL="0" indent="0">
              <a:buNone/>
            </a:pPr>
            <a:r>
              <a:rPr lang="en-IN" sz="2000" dirty="0"/>
              <a:t>    char buffer[10];</a:t>
            </a:r>
          </a:p>
          <a:p>
            <a:pPr marL="0" indent="0">
              <a:buNone/>
            </a:pPr>
            <a:r>
              <a:rPr lang="en-IN" sz="2000" dirty="0"/>
              <a:t>    </a:t>
            </a:r>
            <a:r>
              <a:rPr lang="en-IN" sz="2000" dirty="0" err="1"/>
              <a:t>printf</a:t>
            </a:r>
            <a:r>
              <a:rPr lang="en-IN" sz="2000" dirty="0"/>
              <a:t>("Enter a string: ");</a:t>
            </a:r>
          </a:p>
          <a:p>
            <a:pPr marL="0" indent="0">
              <a:buNone/>
            </a:pPr>
            <a:r>
              <a:rPr lang="en-IN" sz="2000" dirty="0"/>
              <a:t>    gets(buffer);  // Dangerous! Doesn't check the size of input</a:t>
            </a:r>
          </a:p>
          <a:p>
            <a:pPr marL="0" indent="0">
              <a:buNone/>
            </a:pPr>
            <a:r>
              <a:rPr lang="en-IN" sz="2000" dirty="0"/>
              <a:t>    </a:t>
            </a:r>
            <a:r>
              <a:rPr lang="en-IN" sz="2000" dirty="0" err="1"/>
              <a:t>printf</a:t>
            </a:r>
            <a:r>
              <a:rPr lang="en-IN" sz="2000" dirty="0"/>
              <a:t>("You entered: %s\n", buffer);</a:t>
            </a:r>
          </a:p>
          <a:p>
            <a:pPr marL="0" indent="0">
              <a:buNone/>
            </a:pPr>
            <a:r>
              <a:rPr lang="en-IN" sz="2000" dirty="0"/>
              <a:t>}</a:t>
            </a:r>
          </a:p>
          <a:p>
            <a:pPr marL="0" indent="0">
              <a:buNone/>
            </a:pPr>
            <a:r>
              <a:rPr lang="en-IN" sz="2000" dirty="0"/>
              <a:t>int main() {</a:t>
            </a:r>
          </a:p>
          <a:p>
            <a:pPr marL="0" indent="0">
              <a:buNone/>
            </a:pPr>
            <a:r>
              <a:rPr lang="en-IN" sz="2000" dirty="0"/>
              <a:t>    overflow();</a:t>
            </a:r>
          </a:p>
          <a:p>
            <a:pPr marL="0" indent="0">
              <a:buNone/>
            </a:pPr>
            <a:r>
              <a:rPr lang="en-IN" sz="2000" dirty="0"/>
              <a:t>    return 0;</a:t>
            </a:r>
          </a:p>
          <a:p>
            <a:pPr marL="0" indent="0">
              <a:buNone/>
            </a:pPr>
            <a:r>
              <a:rPr lang="en-IN" sz="2000" dirty="0"/>
              <a:t>}</a:t>
            </a:r>
          </a:p>
          <a:p>
            <a:pPr marL="0" indent="0">
              <a:buNone/>
            </a:pPr>
            <a:endParaRPr lang="en-IN" sz="2000" dirty="0"/>
          </a:p>
        </p:txBody>
      </p:sp>
    </p:spTree>
    <p:extLst>
      <p:ext uri="{BB962C8B-B14F-4D97-AF65-F5344CB8AC3E}">
        <p14:creationId xmlns:p14="http://schemas.microsoft.com/office/powerpoint/2010/main" val="24084847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677473-896B-C2F7-BA6E-BF72207A8B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99A413-8A19-6EB1-7B22-D3AE1D80283F}"/>
              </a:ext>
            </a:extLst>
          </p:cNvPr>
          <p:cNvSpPr>
            <a:spLocks noGrp="1"/>
          </p:cNvSpPr>
          <p:nvPr>
            <p:ph type="title"/>
          </p:nvPr>
        </p:nvSpPr>
        <p:spPr>
          <a:xfrm>
            <a:off x="1066800" y="642594"/>
            <a:ext cx="10058400" cy="665096"/>
          </a:xfrm>
        </p:spPr>
        <p:txBody>
          <a:bodyPr>
            <a:normAutofit fontScale="90000"/>
          </a:bodyPr>
          <a:lstStyle/>
          <a:p>
            <a:r>
              <a:rPr lang="en-IN" b="1" dirty="0"/>
              <a:t>Types: </a:t>
            </a:r>
            <a:endParaRPr lang="en-IN" dirty="0"/>
          </a:p>
        </p:txBody>
      </p:sp>
      <p:sp>
        <p:nvSpPr>
          <p:cNvPr id="3" name="Content Placeholder 2">
            <a:extLst>
              <a:ext uri="{FF2B5EF4-FFF2-40B4-BE49-F238E27FC236}">
                <a16:creationId xmlns:a16="http://schemas.microsoft.com/office/drawing/2014/main" id="{7989DC94-9593-EC45-855C-7BE00A556F4E}"/>
              </a:ext>
            </a:extLst>
          </p:cNvPr>
          <p:cNvSpPr>
            <a:spLocks noGrp="1"/>
          </p:cNvSpPr>
          <p:nvPr>
            <p:ph idx="1"/>
          </p:nvPr>
        </p:nvSpPr>
        <p:spPr>
          <a:xfrm>
            <a:off x="1066800" y="1445343"/>
            <a:ext cx="10058400" cy="4975122"/>
          </a:xfrm>
        </p:spPr>
        <p:txBody>
          <a:bodyPr>
            <a:normAutofit lnSpcReduction="10000"/>
          </a:bodyPr>
          <a:lstStyle/>
          <a:p>
            <a:pPr marL="0" lvl="0" indent="0">
              <a:buNone/>
            </a:pPr>
            <a:r>
              <a:rPr lang="en-IN" sz="2800" b="1" i="1" dirty="0"/>
              <a:t>2. Heap Overflow:</a:t>
            </a:r>
            <a:endParaRPr lang="en-IN" sz="2800" dirty="0"/>
          </a:p>
          <a:p>
            <a:pPr marL="0" indent="0">
              <a:buNone/>
            </a:pPr>
            <a:r>
              <a:rPr lang="en-IN" sz="2800" dirty="0"/>
              <a:t>Example: </a:t>
            </a:r>
            <a:r>
              <a:rPr lang="en-IN" sz="2400" dirty="0"/>
              <a:t>#include &lt;</a:t>
            </a:r>
            <a:r>
              <a:rPr lang="en-IN" sz="2400" dirty="0" err="1"/>
              <a:t>stdio.h</a:t>
            </a:r>
            <a:r>
              <a:rPr lang="en-IN" sz="2400" dirty="0"/>
              <a:t>&gt;</a:t>
            </a:r>
          </a:p>
          <a:p>
            <a:pPr marL="0" indent="0">
              <a:buNone/>
            </a:pPr>
            <a:r>
              <a:rPr lang="en-IN" sz="2400" dirty="0"/>
              <a:t>#include &lt;</a:t>
            </a:r>
            <a:r>
              <a:rPr lang="en-IN" sz="2400" dirty="0" err="1"/>
              <a:t>stdlib.h</a:t>
            </a:r>
            <a:r>
              <a:rPr lang="en-IN" sz="2400" dirty="0"/>
              <a:t>&gt;</a:t>
            </a:r>
          </a:p>
          <a:p>
            <a:pPr marL="0" indent="0">
              <a:buNone/>
            </a:pPr>
            <a:r>
              <a:rPr lang="en-IN" sz="2400" dirty="0"/>
              <a:t>#include &lt;</a:t>
            </a:r>
            <a:r>
              <a:rPr lang="en-IN" sz="2400" dirty="0" err="1"/>
              <a:t>string.h</a:t>
            </a:r>
            <a:r>
              <a:rPr lang="en-IN" sz="2400" dirty="0"/>
              <a:t>&gt;</a:t>
            </a:r>
          </a:p>
          <a:p>
            <a:pPr marL="0" indent="0">
              <a:buNone/>
            </a:pPr>
            <a:r>
              <a:rPr lang="en-IN" sz="2400" dirty="0"/>
              <a:t>int main() {</a:t>
            </a:r>
          </a:p>
          <a:p>
            <a:pPr marL="0" indent="0">
              <a:buNone/>
            </a:pPr>
            <a:r>
              <a:rPr lang="en-IN" sz="2400" dirty="0"/>
              <a:t>    char *buffer = (char*) malloc(10 * </a:t>
            </a:r>
            <a:r>
              <a:rPr lang="en-IN" sz="2400" dirty="0" err="1"/>
              <a:t>sizeof</a:t>
            </a:r>
            <a:r>
              <a:rPr lang="en-IN" sz="2400" dirty="0"/>
              <a:t>(char));  // Allocate 10 bytes</a:t>
            </a:r>
          </a:p>
          <a:p>
            <a:pPr marL="0" indent="0">
              <a:buNone/>
            </a:pPr>
            <a:r>
              <a:rPr lang="en-IN" sz="2400" dirty="0"/>
              <a:t>    </a:t>
            </a:r>
            <a:r>
              <a:rPr lang="en-IN" sz="2400" dirty="0" err="1"/>
              <a:t>strcpy</a:t>
            </a:r>
            <a:r>
              <a:rPr lang="en-IN" sz="2400" dirty="0"/>
              <a:t>(buffer, "This string is too long!");  // Writing beyond allocated memory</a:t>
            </a:r>
          </a:p>
          <a:p>
            <a:pPr marL="0" indent="0">
              <a:buNone/>
            </a:pPr>
            <a:r>
              <a:rPr lang="en-IN" sz="2400" dirty="0"/>
              <a:t>    </a:t>
            </a:r>
            <a:r>
              <a:rPr lang="en-IN" sz="2400" dirty="0" err="1"/>
              <a:t>printf</a:t>
            </a:r>
            <a:r>
              <a:rPr lang="en-IN" sz="2400" dirty="0"/>
              <a:t>("Buffer: %s\n", buffer);</a:t>
            </a:r>
          </a:p>
          <a:p>
            <a:pPr marL="0" indent="0">
              <a:buNone/>
            </a:pPr>
            <a:r>
              <a:rPr lang="en-IN" sz="2400" dirty="0"/>
              <a:t>    free(buffer);</a:t>
            </a:r>
          </a:p>
          <a:p>
            <a:pPr marL="0" indent="0">
              <a:buNone/>
            </a:pPr>
            <a:r>
              <a:rPr lang="en-IN" sz="2400" dirty="0"/>
              <a:t>    return 0;</a:t>
            </a:r>
          </a:p>
          <a:p>
            <a:pPr marL="0" indent="0">
              <a:buNone/>
            </a:pPr>
            <a:r>
              <a:rPr lang="en-IN" sz="2400" dirty="0"/>
              <a:t>}</a:t>
            </a:r>
          </a:p>
          <a:p>
            <a:pPr marL="0" indent="0">
              <a:buNone/>
            </a:pPr>
            <a:endParaRPr lang="en-IN" sz="2800" dirty="0"/>
          </a:p>
        </p:txBody>
      </p:sp>
    </p:spTree>
    <p:extLst>
      <p:ext uri="{BB962C8B-B14F-4D97-AF65-F5344CB8AC3E}">
        <p14:creationId xmlns:p14="http://schemas.microsoft.com/office/powerpoint/2010/main" val="14610276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D9616-AF79-89B1-2B5D-2FB623F4E477}"/>
              </a:ext>
            </a:extLst>
          </p:cNvPr>
          <p:cNvSpPr>
            <a:spLocks noGrp="1"/>
          </p:cNvSpPr>
          <p:nvPr>
            <p:ph type="title"/>
          </p:nvPr>
        </p:nvSpPr>
        <p:spPr/>
        <p:txBody>
          <a:bodyPr>
            <a:normAutofit/>
          </a:bodyPr>
          <a:lstStyle/>
          <a:p>
            <a:r>
              <a:rPr lang="en-IN" b="1" dirty="0"/>
              <a:t>ARRAY INDEXING ERRORS:</a:t>
            </a:r>
            <a:endParaRPr lang="en-IN" dirty="0"/>
          </a:p>
        </p:txBody>
      </p:sp>
      <p:sp>
        <p:nvSpPr>
          <p:cNvPr id="3" name="Content Placeholder 2">
            <a:extLst>
              <a:ext uri="{FF2B5EF4-FFF2-40B4-BE49-F238E27FC236}">
                <a16:creationId xmlns:a16="http://schemas.microsoft.com/office/drawing/2014/main" id="{CD809F81-30E3-2989-D4D0-ED235BA4D7F3}"/>
              </a:ext>
            </a:extLst>
          </p:cNvPr>
          <p:cNvSpPr>
            <a:spLocks noGrp="1"/>
          </p:cNvSpPr>
          <p:nvPr>
            <p:ph idx="1"/>
          </p:nvPr>
        </p:nvSpPr>
        <p:spPr/>
        <p:txBody>
          <a:bodyPr>
            <a:normAutofit lnSpcReduction="10000"/>
          </a:bodyPr>
          <a:lstStyle/>
          <a:p>
            <a:pPr marL="0" indent="0" algn="just">
              <a:buNone/>
            </a:pPr>
            <a:r>
              <a:rPr lang="en-IN" sz="2400" b="1" dirty="0"/>
              <a:t>Example: </a:t>
            </a:r>
            <a:endParaRPr lang="en-IN" sz="2400" dirty="0"/>
          </a:p>
          <a:p>
            <a:pPr marL="0" indent="0">
              <a:buNone/>
            </a:pPr>
            <a:r>
              <a:rPr lang="en-IN" sz="2400" dirty="0" err="1"/>
              <a:t>const</a:t>
            </a:r>
            <a:r>
              <a:rPr lang="en-IN" sz="2400" dirty="0"/>
              <a:t> weapons = [</a:t>
            </a:r>
            <a:br>
              <a:rPr lang="en-IN" sz="2400" dirty="0"/>
            </a:br>
            <a:r>
              <a:rPr lang="en-IN" sz="2400" dirty="0"/>
              <a:t>  { name: 'stick', power: 5 },</a:t>
            </a:r>
            <a:br>
              <a:rPr lang="en-IN" sz="2400" dirty="0"/>
            </a:br>
            <a:r>
              <a:rPr lang="en-IN" sz="2400" dirty="0"/>
              <a:t>  { name: 'dagger', power: 30 },</a:t>
            </a:r>
            <a:br>
              <a:rPr lang="en-IN" sz="2400" dirty="0"/>
            </a:br>
            <a:r>
              <a:rPr lang="en-IN" sz="2400" dirty="0"/>
              <a:t>  { name: 'claw hammer', power: 50 },</a:t>
            </a:r>
            <a:br>
              <a:rPr lang="en-IN" sz="2400" dirty="0"/>
            </a:br>
            <a:r>
              <a:rPr lang="en-IN" sz="2400" dirty="0"/>
              <a:t>  { name: 'sword', power: 100 }</a:t>
            </a:r>
            <a:br>
              <a:rPr lang="en-IN" sz="2400" dirty="0"/>
            </a:br>
            <a:r>
              <a:rPr lang="en-IN" sz="2400" dirty="0"/>
              <a:t>];</a:t>
            </a:r>
          </a:p>
          <a:p>
            <a:pPr marL="0" indent="0" algn="just">
              <a:buNone/>
            </a:pPr>
            <a:r>
              <a:rPr lang="en-IN" sz="2400" dirty="0"/>
              <a:t>The valid indices for this array are 0 to 3 because it has 4 elements. If you try to access weapons[4], it doesn’t exist, so JavaScript returns undefined. Attempting to read .name from undefined causes an error.</a:t>
            </a:r>
          </a:p>
          <a:p>
            <a:pPr marL="0" indent="0" algn="just">
              <a:buNone/>
            </a:pPr>
            <a:endParaRPr lang="en-IN" sz="2400" dirty="0"/>
          </a:p>
        </p:txBody>
      </p:sp>
    </p:spTree>
    <p:extLst>
      <p:ext uri="{BB962C8B-B14F-4D97-AF65-F5344CB8AC3E}">
        <p14:creationId xmlns:p14="http://schemas.microsoft.com/office/powerpoint/2010/main" val="23426294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C6EA5-DCEF-CB05-E8D8-1421E9AD6932}"/>
              </a:ext>
            </a:extLst>
          </p:cNvPr>
          <p:cNvSpPr>
            <a:spLocks noGrp="1"/>
          </p:cNvSpPr>
          <p:nvPr>
            <p:ph type="title"/>
          </p:nvPr>
        </p:nvSpPr>
        <p:spPr/>
        <p:txBody>
          <a:bodyPr>
            <a:normAutofit/>
          </a:bodyPr>
          <a:lstStyle/>
          <a:p>
            <a:r>
              <a:rPr lang="en-IN" b="1" dirty="0"/>
              <a:t>FORMATSTRING BUGS:</a:t>
            </a:r>
            <a:endParaRPr lang="en-IN" dirty="0"/>
          </a:p>
        </p:txBody>
      </p:sp>
      <p:sp>
        <p:nvSpPr>
          <p:cNvPr id="3" name="Content Placeholder 2">
            <a:extLst>
              <a:ext uri="{FF2B5EF4-FFF2-40B4-BE49-F238E27FC236}">
                <a16:creationId xmlns:a16="http://schemas.microsoft.com/office/drawing/2014/main" id="{E0B4B45D-B7E7-1234-6340-99871295F41B}"/>
              </a:ext>
            </a:extLst>
          </p:cNvPr>
          <p:cNvSpPr>
            <a:spLocks noGrp="1"/>
          </p:cNvSpPr>
          <p:nvPr>
            <p:ph idx="1"/>
          </p:nvPr>
        </p:nvSpPr>
        <p:spPr/>
        <p:txBody>
          <a:bodyPr>
            <a:normAutofit lnSpcReduction="10000"/>
          </a:bodyPr>
          <a:lstStyle/>
          <a:p>
            <a:pPr marL="0" indent="0" algn="just">
              <a:buNone/>
            </a:pPr>
            <a:r>
              <a:rPr lang="en-IN" sz="2400" dirty="0"/>
              <a:t>A format string bug occurs when user-supplied input is used as a format string in functions like </a:t>
            </a:r>
            <a:r>
              <a:rPr lang="en-IN" sz="2400" dirty="0" err="1"/>
              <a:t>printf</a:t>
            </a:r>
            <a:r>
              <a:rPr lang="en-IN" sz="2400" dirty="0"/>
              <a:t>(), </a:t>
            </a:r>
            <a:r>
              <a:rPr lang="en-IN" sz="2400" dirty="0" err="1"/>
              <a:t>fprintf</a:t>
            </a:r>
            <a:r>
              <a:rPr lang="en-IN" sz="2400" dirty="0"/>
              <a:t>(), or </a:t>
            </a:r>
            <a:r>
              <a:rPr lang="en-IN" sz="2400" dirty="0" err="1"/>
              <a:t>sprintf</a:t>
            </a:r>
            <a:r>
              <a:rPr lang="en-IN" sz="2400" dirty="0"/>
              <a:t>() without proper validation.</a:t>
            </a:r>
          </a:p>
          <a:p>
            <a:pPr marL="0" indent="0" algn="just">
              <a:buNone/>
            </a:pPr>
            <a:r>
              <a:rPr lang="en-IN" sz="2400" dirty="0"/>
              <a:t>This can allow an attacker to:</a:t>
            </a:r>
          </a:p>
          <a:p>
            <a:pPr lvl="0" algn="just">
              <a:buFont typeface="Wingdings" panose="05000000000000000000" pitchFamily="2" charset="2"/>
              <a:buChar char="§"/>
            </a:pPr>
            <a:r>
              <a:rPr lang="en-IN" sz="2400" dirty="0"/>
              <a:t>Read arbitrary memory</a:t>
            </a:r>
          </a:p>
          <a:p>
            <a:pPr lvl="0" algn="just">
              <a:buFont typeface="Wingdings" panose="05000000000000000000" pitchFamily="2" charset="2"/>
              <a:buChar char="§"/>
            </a:pPr>
            <a:r>
              <a:rPr lang="en-IN" sz="2400" dirty="0"/>
              <a:t>Crash the program</a:t>
            </a:r>
          </a:p>
          <a:p>
            <a:pPr lvl="0" algn="just">
              <a:buFont typeface="Wingdings" panose="05000000000000000000" pitchFamily="2" charset="2"/>
              <a:buChar char="§"/>
            </a:pPr>
            <a:r>
              <a:rPr lang="en-IN" sz="2400" dirty="0"/>
              <a:t>Execute arbitrary code</a:t>
            </a:r>
          </a:p>
          <a:p>
            <a:pPr marL="0" indent="0" algn="just">
              <a:buNone/>
            </a:pPr>
            <a:r>
              <a:rPr lang="en-IN" sz="2400" dirty="0"/>
              <a:t>In C/C++, functions like </a:t>
            </a:r>
            <a:r>
              <a:rPr lang="en-IN" sz="2400" dirty="0" err="1"/>
              <a:t>printf</a:t>
            </a:r>
            <a:r>
              <a:rPr lang="en-IN" sz="2400" dirty="0"/>
              <a:t>() use format specifiers to format output, such as: </a:t>
            </a:r>
            <a:r>
              <a:rPr lang="en-IN" sz="2400" dirty="0" err="1"/>
              <a:t>printf</a:t>
            </a:r>
            <a:r>
              <a:rPr lang="en-IN" sz="2400" dirty="0"/>
              <a:t>("Value: %d", number);</a:t>
            </a:r>
          </a:p>
          <a:p>
            <a:pPr marL="0" indent="0" algn="just">
              <a:buNone/>
            </a:pPr>
            <a:r>
              <a:rPr lang="en-IN" sz="2400" dirty="0"/>
              <a:t>Here, %d is a format specifier for integers.</a:t>
            </a:r>
          </a:p>
          <a:p>
            <a:pPr marL="0" indent="0" algn="just">
              <a:buNone/>
            </a:pPr>
            <a:endParaRPr lang="en-IN" sz="2400" dirty="0"/>
          </a:p>
        </p:txBody>
      </p:sp>
    </p:spTree>
    <p:extLst>
      <p:ext uri="{BB962C8B-B14F-4D97-AF65-F5344CB8AC3E}">
        <p14:creationId xmlns:p14="http://schemas.microsoft.com/office/powerpoint/2010/main" val="9066865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E0348-D2B5-EAE1-9381-5FD2DF431F85}"/>
              </a:ext>
            </a:extLst>
          </p:cNvPr>
          <p:cNvSpPr>
            <a:spLocks noGrp="1"/>
          </p:cNvSpPr>
          <p:nvPr>
            <p:ph type="title"/>
          </p:nvPr>
        </p:nvSpPr>
        <p:spPr/>
        <p:txBody>
          <a:bodyPr/>
          <a:lstStyle/>
          <a:p>
            <a:r>
              <a:rPr lang="en-IN" b="1" dirty="0"/>
              <a:t>Example:</a:t>
            </a:r>
          </a:p>
        </p:txBody>
      </p:sp>
      <p:sp>
        <p:nvSpPr>
          <p:cNvPr id="3" name="Content Placeholder 2">
            <a:extLst>
              <a:ext uri="{FF2B5EF4-FFF2-40B4-BE49-F238E27FC236}">
                <a16:creationId xmlns:a16="http://schemas.microsoft.com/office/drawing/2014/main" id="{9D3745CE-492A-9420-095F-A955EB721D8B}"/>
              </a:ext>
            </a:extLst>
          </p:cNvPr>
          <p:cNvSpPr>
            <a:spLocks noGrp="1"/>
          </p:cNvSpPr>
          <p:nvPr>
            <p:ph idx="1"/>
          </p:nvPr>
        </p:nvSpPr>
        <p:spPr/>
        <p:txBody>
          <a:bodyPr>
            <a:normAutofit/>
          </a:bodyPr>
          <a:lstStyle/>
          <a:p>
            <a:pPr marL="0" indent="0">
              <a:buNone/>
            </a:pPr>
            <a:r>
              <a:rPr lang="en-IN" sz="2400" dirty="0"/>
              <a:t>When user input is directly used as the format string, like this:</a:t>
            </a:r>
          </a:p>
          <a:p>
            <a:pPr marL="0" indent="0">
              <a:buNone/>
            </a:pPr>
            <a:r>
              <a:rPr lang="en-IN" sz="2400" dirty="0"/>
              <a:t>char input[100];</a:t>
            </a:r>
          </a:p>
          <a:p>
            <a:pPr marL="0" indent="0">
              <a:buNone/>
            </a:pPr>
            <a:r>
              <a:rPr lang="en-IN" sz="2400" dirty="0" err="1"/>
              <a:t>scanf</a:t>
            </a:r>
            <a:r>
              <a:rPr lang="en-IN" sz="2400" dirty="0"/>
              <a:t>("%s", input);</a:t>
            </a:r>
          </a:p>
          <a:p>
            <a:pPr marL="0" indent="0">
              <a:buNone/>
            </a:pPr>
            <a:r>
              <a:rPr lang="en-IN" sz="2400" dirty="0" err="1"/>
              <a:t>printf</a:t>
            </a:r>
            <a:r>
              <a:rPr lang="en-IN" sz="2400" dirty="0"/>
              <a:t>(input);  </a:t>
            </a:r>
            <a:r>
              <a:rPr lang="en-IN" sz="2400" b="1" dirty="0"/>
              <a:t> // DANGEROUS!</a:t>
            </a:r>
          </a:p>
          <a:p>
            <a:pPr marL="0" indent="0">
              <a:buNone/>
            </a:pPr>
            <a:r>
              <a:rPr lang="en-IN" sz="2400" dirty="0"/>
              <a:t>If a malicious user enters something like %x %x %x %x, it causes the program to treat the input as format instructions, leading to memory leakage or corruption.</a:t>
            </a:r>
          </a:p>
          <a:p>
            <a:pPr marL="0" indent="0">
              <a:buNone/>
            </a:pPr>
            <a:endParaRPr lang="en-IN" sz="2400" dirty="0"/>
          </a:p>
        </p:txBody>
      </p:sp>
    </p:spTree>
    <p:extLst>
      <p:ext uri="{BB962C8B-B14F-4D97-AF65-F5344CB8AC3E}">
        <p14:creationId xmlns:p14="http://schemas.microsoft.com/office/powerpoint/2010/main" val="84344079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Custom 1">
      <a:majorFont>
        <a:latin typeface="Times New Roman"/>
        <a:ea typeface=""/>
        <a:cs typeface=""/>
      </a:majorFont>
      <a:minorFont>
        <a:latin typeface="Times New Roman"/>
        <a:ea typeface=""/>
        <a:cs typeface=""/>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Savon</Template>
  <TotalTime>14</TotalTime>
  <Words>1204</Words>
  <Application>Microsoft Office PowerPoint</Application>
  <PresentationFormat>Widescreen</PresentationFormat>
  <Paragraphs>116</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Garamond</vt:lpstr>
      <vt:lpstr>Times New Roman</vt:lpstr>
      <vt:lpstr>Wingdings</vt:lpstr>
      <vt:lpstr>Savon</vt:lpstr>
      <vt:lpstr>Secure Coding Techniques</vt:lpstr>
      <vt:lpstr>TECHNIQUES FOR PROTECTING AGAINST DOS ATTACKS</vt:lpstr>
      <vt:lpstr>APPLICATION FAILURE ATTACKS</vt:lpstr>
      <vt:lpstr>CPU Starvation Attacks</vt:lpstr>
      <vt:lpstr>INSECURE CODING PRACTICES IN PYTHON/JAVA TECHNOLOGY</vt:lpstr>
      <vt:lpstr>PowerPoint Presentation</vt:lpstr>
      <vt:lpstr>PowerPoint Presentation</vt:lpstr>
      <vt:lpstr>PowerPoint Presentation</vt:lpstr>
      <vt:lpstr>ARP SPOOFING</vt:lpstr>
      <vt:lpstr>Buffer Overrun- Stack Overrun, Heap Overrun:</vt:lpstr>
      <vt:lpstr>Types: </vt:lpstr>
      <vt:lpstr>Types: </vt:lpstr>
      <vt:lpstr>ARRAY INDEXING ERRORS:</vt:lpstr>
      <vt:lpstr>FORMATSTRING BUGS:</vt:lpstr>
      <vt:lpstr>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Rashmi Hegde</dc:creator>
  <cp:lastModifiedBy>Valen Mascarenhas</cp:lastModifiedBy>
  <cp:revision>4</cp:revision>
  <dcterms:created xsi:type="dcterms:W3CDTF">2025-07-07T10:33:09Z</dcterms:created>
  <dcterms:modified xsi:type="dcterms:W3CDTF">2026-08-21T13:41:01Z</dcterms:modified>
</cp:coreProperties>
</file>