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4DA6D9F-181B-44D9-9759-F43626BEBC1D}" type="datetimeFigureOut">
              <a:rPr lang="en-IN" smtClean="0"/>
              <a:t>21-08-2026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1898CE3D-63F4-42C4-A75D-56B2B2AFE9ED}" type="slidenum">
              <a:rPr lang="en-IN" smtClean="0"/>
              <a:t>‹#›</a:t>
            </a:fld>
            <a:endParaRPr lang="en-IN"/>
          </a:p>
        </p:txBody>
      </p:sp>
    </p:spTree>
    <p:extLst>
      <p:ext uri="{BB962C8B-B14F-4D97-AF65-F5344CB8AC3E}">
        <p14:creationId xmlns:p14="http://schemas.microsoft.com/office/powerpoint/2010/main" val="48754332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DA6D9F-181B-44D9-9759-F43626BEBC1D}"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3163513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4DA6D9F-181B-44D9-9759-F43626BEBC1D}" type="datetimeFigureOut">
              <a:rPr lang="en-IN" smtClean="0"/>
              <a:t>21-08-2026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31331782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DA6D9F-181B-44D9-9759-F43626BEBC1D}"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421585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DA6D9F-181B-44D9-9759-F43626BEBC1D}"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3153512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DA6D9F-181B-44D9-9759-F43626BEBC1D}" type="datetimeFigureOut">
              <a:rPr lang="en-IN" smtClean="0"/>
              <a:t>21-08-2026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3977758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DA6D9F-181B-44D9-9759-F43626BEBC1D}" type="datetimeFigureOut">
              <a:rPr lang="en-IN" smtClean="0"/>
              <a:t>21-08-2026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2465633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4DA6D9F-181B-44D9-9759-F43626BEBC1D}" type="datetimeFigureOut">
              <a:rPr lang="en-IN" smtClean="0"/>
              <a:t>21-08-2026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1898CE3D-63F4-42C4-A75D-56B2B2AFE9ED}"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20769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4DA6D9F-181B-44D9-9759-F43626BEBC1D}" type="datetimeFigureOut">
              <a:rPr lang="en-IN" smtClean="0"/>
              <a:t>21-08-2026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1898CE3D-63F4-42C4-A75D-56B2B2AFE9ED}"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87168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DA6D9F-181B-44D9-9759-F43626BEBC1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1128537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DA6D9F-181B-44D9-9759-F43626BEBC1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98CE3D-63F4-42C4-A75D-56B2B2AFE9ED}" type="slidenum">
              <a:rPr lang="en-IN" smtClean="0"/>
              <a:t>‹#›</a:t>
            </a:fld>
            <a:endParaRPr lang="en-IN"/>
          </a:p>
        </p:txBody>
      </p:sp>
    </p:spTree>
    <p:extLst>
      <p:ext uri="{BB962C8B-B14F-4D97-AF65-F5344CB8AC3E}">
        <p14:creationId xmlns:p14="http://schemas.microsoft.com/office/powerpoint/2010/main" val="1239397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4DA6D9F-181B-44D9-9759-F43626BEBC1D}" type="datetimeFigureOut">
              <a:rPr lang="en-IN" smtClean="0"/>
              <a:t>21-08-2026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1898CE3D-63F4-42C4-A75D-56B2B2AFE9ED}" type="slidenum">
              <a:rPr lang="en-IN" smtClean="0"/>
              <a:t>‹#›</a:t>
            </a:fld>
            <a:endParaRPr lang="en-IN"/>
          </a:p>
        </p:txBody>
      </p:sp>
    </p:spTree>
    <p:extLst>
      <p:ext uri="{BB962C8B-B14F-4D97-AF65-F5344CB8AC3E}">
        <p14:creationId xmlns:p14="http://schemas.microsoft.com/office/powerpoint/2010/main" val="1912462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A0814-BFAA-60B7-6418-329A4BF7D82A}"/>
              </a:ext>
            </a:extLst>
          </p:cNvPr>
          <p:cNvSpPr>
            <a:spLocks noGrp="1"/>
          </p:cNvSpPr>
          <p:nvPr>
            <p:ph type="ctrTitle"/>
          </p:nvPr>
        </p:nvSpPr>
        <p:spPr>
          <a:xfrm>
            <a:off x="1561708" y="2679031"/>
            <a:ext cx="9068586" cy="2003031"/>
          </a:xfrm>
        </p:spPr>
        <p:txBody>
          <a:bodyPr/>
          <a:lstStyle/>
          <a:p>
            <a:r>
              <a:rPr lang="en-IN" sz="6000" b="1" dirty="0"/>
              <a:t>THREAT MODELING PROCESS </a:t>
            </a:r>
            <a:br>
              <a:rPr lang="en-IN" sz="6000" b="1" dirty="0"/>
            </a:br>
            <a:r>
              <a:rPr lang="en-IN" sz="6000" b="1" dirty="0"/>
              <a:t>AND ITS BENEFITS</a:t>
            </a:r>
            <a:br>
              <a:rPr lang="en-IN" sz="6000" dirty="0"/>
            </a:br>
            <a:endParaRPr lang="en-IN" sz="6000" dirty="0"/>
          </a:p>
        </p:txBody>
      </p:sp>
      <p:sp>
        <p:nvSpPr>
          <p:cNvPr id="3" name="Subtitle 2">
            <a:extLst>
              <a:ext uri="{FF2B5EF4-FFF2-40B4-BE49-F238E27FC236}">
                <a16:creationId xmlns:a16="http://schemas.microsoft.com/office/drawing/2014/main" id="{806511DA-4FF9-D296-A406-A407527E52C7}"/>
              </a:ext>
            </a:extLst>
          </p:cNvPr>
          <p:cNvSpPr>
            <a:spLocks noGrp="1"/>
          </p:cNvSpPr>
          <p:nvPr>
            <p:ph type="subTitle" idx="1"/>
          </p:nvPr>
        </p:nvSpPr>
        <p:spPr/>
        <p:txBody>
          <a:bodyPr>
            <a:normAutofit/>
          </a:bodyPr>
          <a:lstStyle/>
          <a:p>
            <a:r>
              <a:rPr lang="en-IN" sz="2000" b="1" dirty="0"/>
              <a:t>Unit - III</a:t>
            </a:r>
            <a:endParaRPr lang="en-IN" sz="2000" dirty="0"/>
          </a:p>
        </p:txBody>
      </p:sp>
    </p:spTree>
    <p:extLst>
      <p:ext uri="{BB962C8B-B14F-4D97-AF65-F5344CB8AC3E}">
        <p14:creationId xmlns:p14="http://schemas.microsoft.com/office/powerpoint/2010/main" val="905646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3369-95CA-98CD-E07F-EAA2A4A18CA7}"/>
              </a:ext>
            </a:extLst>
          </p:cNvPr>
          <p:cNvSpPr>
            <a:spLocks noGrp="1"/>
          </p:cNvSpPr>
          <p:nvPr>
            <p:ph type="title"/>
          </p:nvPr>
        </p:nvSpPr>
        <p:spPr>
          <a:xfrm>
            <a:off x="1066800" y="642594"/>
            <a:ext cx="10058400" cy="801195"/>
          </a:xfrm>
        </p:spPr>
        <p:txBody>
          <a:bodyPr>
            <a:normAutofit/>
          </a:bodyPr>
          <a:lstStyle/>
          <a:p>
            <a:r>
              <a:rPr lang="en-IN" sz="3600" b="1" dirty="0"/>
              <a:t>Identifying the Threats by Using Attack Trees</a:t>
            </a:r>
            <a:endParaRPr lang="en-IN" sz="3600" dirty="0"/>
          </a:p>
        </p:txBody>
      </p:sp>
      <p:sp>
        <p:nvSpPr>
          <p:cNvPr id="3" name="Content Placeholder 2">
            <a:extLst>
              <a:ext uri="{FF2B5EF4-FFF2-40B4-BE49-F238E27FC236}">
                <a16:creationId xmlns:a16="http://schemas.microsoft.com/office/drawing/2014/main" id="{95AC6853-42F8-70AA-5420-9DA86EEB1E0E}"/>
              </a:ext>
            </a:extLst>
          </p:cNvPr>
          <p:cNvSpPr>
            <a:spLocks noGrp="1"/>
          </p:cNvSpPr>
          <p:nvPr>
            <p:ph idx="1"/>
          </p:nvPr>
        </p:nvSpPr>
        <p:spPr>
          <a:xfrm>
            <a:off x="1066800" y="1684421"/>
            <a:ext cx="10058400" cy="4748463"/>
          </a:xfrm>
        </p:spPr>
        <p:txBody>
          <a:bodyPr>
            <a:normAutofit/>
          </a:bodyPr>
          <a:lstStyle/>
          <a:p>
            <a:pPr marL="0" indent="0" algn="just">
              <a:buNone/>
            </a:pPr>
            <a:r>
              <a:rPr lang="en-IN" sz="2800" dirty="0"/>
              <a:t>An attack tree is a tree of (potential) attacks divided into branches. It starts at a main or master node and has branches from it. Branches can have multiple sub-branches. Each node/branch represents a (potential) attack.</a:t>
            </a:r>
          </a:p>
          <a:p>
            <a:pPr marL="0" indent="0">
              <a:buNone/>
            </a:pPr>
            <a:r>
              <a:rPr lang="en-IN" sz="2000" b="1" u="sng" dirty="0"/>
              <a:t>Creating an attack tree involves the following steps:</a:t>
            </a:r>
            <a:endParaRPr lang="en-IN" sz="2000" dirty="0"/>
          </a:p>
          <a:p>
            <a:pPr marL="0" indent="0">
              <a:buNone/>
            </a:pPr>
            <a:r>
              <a:rPr lang="en-IN" sz="2000" dirty="0"/>
              <a:t>Step 1: Identify the Goal </a:t>
            </a:r>
          </a:p>
          <a:p>
            <a:pPr marL="0" indent="0">
              <a:buNone/>
            </a:pPr>
            <a:r>
              <a:rPr lang="en-IN" sz="2000" dirty="0"/>
              <a:t>Step 2: Define the Root Node</a:t>
            </a:r>
          </a:p>
          <a:p>
            <a:pPr marL="0" indent="0">
              <a:buNone/>
            </a:pPr>
            <a:r>
              <a:rPr lang="en-IN" sz="2000" dirty="0"/>
              <a:t>Step 3: Identify Attack Paths</a:t>
            </a:r>
          </a:p>
          <a:p>
            <a:pPr marL="0" indent="0">
              <a:buNone/>
            </a:pPr>
            <a:r>
              <a:rPr lang="en-IN" sz="2000" dirty="0"/>
              <a:t>Step 4: Subdivide Attack Paths</a:t>
            </a:r>
          </a:p>
          <a:p>
            <a:pPr marL="0" indent="0">
              <a:buNone/>
            </a:pPr>
            <a:r>
              <a:rPr lang="en-IN" sz="2000" dirty="0"/>
              <a:t>Step 5: Add Attack Techniques and Vulnerabilities</a:t>
            </a:r>
          </a:p>
          <a:p>
            <a:pPr marL="0" indent="0">
              <a:buNone/>
            </a:pPr>
            <a:r>
              <a:rPr lang="en-IN" sz="2000" dirty="0"/>
              <a:t>Step 6: Assess and Analyse</a:t>
            </a:r>
          </a:p>
          <a:p>
            <a:pPr marL="0" indent="0">
              <a:buNone/>
            </a:pPr>
            <a:endParaRPr lang="en-IN" sz="2000" dirty="0"/>
          </a:p>
          <a:p>
            <a:pPr marL="0" indent="0">
              <a:buNone/>
            </a:pPr>
            <a:endParaRPr lang="en-IN" sz="2000" dirty="0"/>
          </a:p>
          <a:p>
            <a:pPr marL="0" indent="0" algn="just">
              <a:buNone/>
            </a:pPr>
            <a:endParaRPr lang="en-IN" sz="2800" dirty="0"/>
          </a:p>
        </p:txBody>
      </p:sp>
    </p:spTree>
    <p:extLst>
      <p:ext uri="{BB962C8B-B14F-4D97-AF65-F5344CB8AC3E}">
        <p14:creationId xmlns:p14="http://schemas.microsoft.com/office/powerpoint/2010/main" val="68448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F1799-CC2D-2406-C2A3-BE5B2A3ABCD0}"/>
              </a:ext>
            </a:extLst>
          </p:cNvPr>
          <p:cNvSpPr>
            <a:spLocks noGrp="1"/>
          </p:cNvSpPr>
          <p:nvPr>
            <p:ph type="title"/>
          </p:nvPr>
        </p:nvSpPr>
        <p:spPr/>
        <p:txBody>
          <a:bodyPr>
            <a:normAutofit/>
          </a:bodyPr>
          <a:lstStyle/>
          <a:p>
            <a:r>
              <a:rPr lang="en-IN" b="1" dirty="0"/>
              <a:t>Rating Threats Using DREAD: </a:t>
            </a:r>
            <a:endParaRPr lang="en-IN" dirty="0"/>
          </a:p>
        </p:txBody>
      </p:sp>
      <p:sp>
        <p:nvSpPr>
          <p:cNvPr id="3" name="Content Placeholder 2">
            <a:extLst>
              <a:ext uri="{FF2B5EF4-FFF2-40B4-BE49-F238E27FC236}">
                <a16:creationId xmlns:a16="http://schemas.microsoft.com/office/drawing/2014/main" id="{72855D27-AD88-7E64-4967-B8B05433DCD9}"/>
              </a:ext>
            </a:extLst>
          </p:cNvPr>
          <p:cNvSpPr>
            <a:spLocks noGrp="1"/>
          </p:cNvSpPr>
          <p:nvPr>
            <p:ph idx="1"/>
          </p:nvPr>
        </p:nvSpPr>
        <p:spPr/>
        <p:txBody>
          <a:bodyPr>
            <a:normAutofit/>
          </a:bodyPr>
          <a:lstStyle/>
          <a:p>
            <a:pPr marL="0" indent="0" algn="just">
              <a:buNone/>
            </a:pPr>
            <a:r>
              <a:rPr lang="en-IN" sz="2400" b="1" dirty="0"/>
              <a:t>DREAD stands for </a:t>
            </a:r>
            <a:endParaRPr lang="en-IN" sz="2400" dirty="0"/>
          </a:p>
          <a:p>
            <a:pPr marL="0" indent="0" algn="just">
              <a:buNone/>
            </a:pPr>
            <a:r>
              <a:rPr lang="en-IN" sz="2400" dirty="0"/>
              <a:t>D – Damage potential</a:t>
            </a:r>
          </a:p>
          <a:p>
            <a:pPr marL="0" indent="0" algn="just">
              <a:buNone/>
            </a:pPr>
            <a:r>
              <a:rPr lang="en-IN" sz="2400" dirty="0"/>
              <a:t>R – Reproducibility</a:t>
            </a:r>
          </a:p>
          <a:p>
            <a:pPr marL="0" indent="0" algn="just">
              <a:buNone/>
            </a:pPr>
            <a:r>
              <a:rPr lang="en-IN" sz="2400" dirty="0"/>
              <a:t>E – Exploitability</a:t>
            </a:r>
          </a:p>
          <a:p>
            <a:pPr marL="0" indent="0" algn="just">
              <a:buNone/>
            </a:pPr>
            <a:r>
              <a:rPr lang="en-IN" sz="2400" dirty="0"/>
              <a:t>A – Affected users</a:t>
            </a:r>
          </a:p>
          <a:p>
            <a:pPr marL="0" indent="0" algn="just">
              <a:buNone/>
            </a:pPr>
            <a:r>
              <a:rPr lang="en-IN" sz="2400" dirty="0"/>
              <a:t>D – Discoverability</a:t>
            </a:r>
          </a:p>
          <a:p>
            <a:pPr marL="0" indent="0">
              <a:buNone/>
            </a:pPr>
            <a:endParaRPr lang="en-IN" sz="2400" dirty="0"/>
          </a:p>
        </p:txBody>
      </p:sp>
    </p:spTree>
    <p:extLst>
      <p:ext uri="{BB962C8B-B14F-4D97-AF65-F5344CB8AC3E}">
        <p14:creationId xmlns:p14="http://schemas.microsoft.com/office/powerpoint/2010/main" val="3750639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8216D-0EA7-85AB-8CDB-FD2828E63DBB}"/>
              </a:ext>
            </a:extLst>
          </p:cNvPr>
          <p:cNvSpPr>
            <a:spLocks noGrp="1"/>
          </p:cNvSpPr>
          <p:nvPr>
            <p:ph type="title"/>
          </p:nvPr>
        </p:nvSpPr>
        <p:spPr>
          <a:xfrm>
            <a:off x="1066800" y="642594"/>
            <a:ext cx="10058400" cy="737027"/>
          </a:xfrm>
        </p:spPr>
        <p:txBody>
          <a:bodyPr>
            <a:normAutofit/>
          </a:bodyPr>
          <a:lstStyle/>
          <a:p>
            <a:r>
              <a:rPr lang="en-IN" sz="3200" b="1" dirty="0"/>
              <a:t>Risk Mitigation Techniques and Security Best Practices: </a:t>
            </a:r>
            <a:endParaRPr lang="en-IN" sz="3200" dirty="0"/>
          </a:p>
        </p:txBody>
      </p:sp>
      <p:sp>
        <p:nvSpPr>
          <p:cNvPr id="3" name="Content Placeholder 2">
            <a:extLst>
              <a:ext uri="{FF2B5EF4-FFF2-40B4-BE49-F238E27FC236}">
                <a16:creationId xmlns:a16="http://schemas.microsoft.com/office/drawing/2014/main" id="{A24CBD21-F4BE-AB4C-0431-45ABFF8DE801}"/>
              </a:ext>
            </a:extLst>
          </p:cNvPr>
          <p:cNvSpPr>
            <a:spLocks noGrp="1"/>
          </p:cNvSpPr>
          <p:nvPr>
            <p:ph idx="1"/>
          </p:nvPr>
        </p:nvSpPr>
        <p:spPr>
          <a:xfrm>
            <a:off x="1066800" y="1540042"/>
            <a:ext cx="10058400" cy="4494998"/>
          </a:xfrm>
        </p:spPr>
        <p:txBody>
          <a:bodyPr>
            <a:normAutofit fontScale="92500" lnSpcReduction="10000"/>
          </a:bodyPr>
          <a:lstStyle/>
          <a:p>
            <a:pPr marL="0" indent="0" algn="just">
              <a:buNone/>
            </a:pPr>
            <a:r>
              <a:rPr lang="en-US" sz="2400" b="1" dirty="0"/>
              <a:t>1. Accept the Risk</a:t>
            </a:r>
            <a:endParaRPr lang="en-IN" sz="2400" dirty="0"/>
          </a:p>
          <a:p>
            <a:pPr marL="0" indent="0" algn="just">
              <a:buNone/>
            </a:pPr>
            <a:r>
              <a:rPr lang="en-US" sz="2400" dirty="0"/>
              <a:t>An organization may choose to simply accept risk under these scenarios:</a:t>
            </a:r>
            <a:endParaRPr lang="en-IN" sz="2400" dirty="0"/>
          </a:p>
          <a:p>
            <a:pPr lvl="0" algn="just"/>
            <a:r>
              <a:rPr lang="en-US" sz="2400" dirty="0"/>
              <a:t> The risk is considered low (e.g., the value of an asset is low and the probability of threats affecting the asset are acceptable). </a:t>
            </a:r>
            <a:endParaRPr lang="en-IN" sz="2400" dirty="0"/>
          </a:p>
          <a:p>
            <a:pPr lvl="0" algn="just"/>
            <a:r>
              <a:rPr lang="en-US" sz="2400" dirty="0"/>
              <a:t>The cost of accepting the risk is found to be lower than the cost of transferring or limiting the risk. </a:t>
            </a:r>
            <a:endParaRPr lang="en-IN" sz="2400" dirty="0"/>
          </a:p>
          <a:p>
            <a:pPr marL="0" indent="0" algn="just">
              <a:buNone/>
            </a:pPr>
            <a:endParaRPr lang="en-IN" sz="2400" dirty="0"/>
          </a:p>
          <a:p>
            <a:pPr marL="0" indent="0" algn="just">
              <a:buNone/>
            </a:pPr>
            <a:r>
              <a:rPr lang="en-US" sz="2400" b="1" dirty="0"/>
              <a:t>2. Transfer the Risk:</a:t>
            </a:r>
            <a:endParaRPr lang="en-IN" sz="2400" dirty="0"/>
          </a:p>
          <a:p>
            <a:pPr marL="0" indent="0" algn="just">
              <a:buNone/>
            </a:pPr>
            <a:r>
              <a:rPr lang="en-US" sz="2400" dirty="0"/>
              <a:t>When the risk is transferred, the risk is shared with a third party in part or in whole. This is typically seen in the use of insurance. Third-party insurance organizations, for a fee, agree to accept the risk and compensate the information owner for the full damage of a particular risk. </a:t>
            </a:r>
            <a:endParaRPr lang="en-IN" sz="2400" dirty="0"/>
          </a:p>
        </p:txBody>
      </p:sp>
    </p:spTree>
    <p:extLst>
      <p:ext uri="{BB962C8B-B14F-4D97-AF65-F5344CB8AC3E}">
        <p14:creationId xmlns:p14="http://schemas.microsoft.com/office/powerpoint/2010/main" val="24376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7716C-DC6E-63A5-1DD0-FFBEC1FF4B5A}"/>
              </a:ext>
            </a:extLst>
          </p:cNvPr>
          <p:cNvSpPr>
            <a:spLocks noGrp="1"/>
          </p:cNvSpPr>
          <p:nvPr>
            <p:ph type="title"/>
          </p:nvPr>
        </p:nvSpPr>
        <p:spPr>
          <a:xfrm>
            <a:off x="1066800" y="642594"/>
            <a:ext cx="10058400" cy="849322"/>
          </a:xfrm>
        </p:spPr>
        <p:txBody>
          <a:bodyPr>
            <a:normAutofit/>
          </a:bodyPr>
          <a:lstStyle/>
          <a:p>
            <a:r>
              <a:rPr lang="en-IN" sz="3200" b="1" dirty="0"/>
              <a:t>Risk Mitigation Techniques and Security Best Practices: </a:t>
            </a:r>
            <a:endParaRPr lang="en-IN" sz="3200" dirty="0"/>
          </a:p>
        </p:txBody>
      </p:sp>
      <p:sp>
        <p:nvSpPr>
          <p:cNvPr id="3" name="Content Placeholder 2">
            <a:extLst>
              <a:ext uri="{FF2B5EF4-FFF2-40B4-BE49-F238E27FC236}">
                <a16:creationId xmlns:a16="http://schemas.microsoft.com/office/drawing/2014/main" id="{1140EAF0-D339-2ABD-F153-52341434369E}"/>
              </a:ext>
            </a:extLst>
          </p:cNvPr>
          <p:cNvSpPr>
            <a:spLocks noGrp="1"/>
          </p:cNvSpPr>
          <p:nvPr>
            <p:ph idx="1"/>
          </p:nvPr>
        </p:nvSpPr>
        <p:spPr/>
        <p:txBody>
          <a:bodyPr>
            <a:normAutofit fontScale="92500" lnSpcReduction="20000"/>
          </a:bodyPr>
          <a:lstStyle/>
          <a:p>
            <a:pPr marL="0" indent="0" algn="just">
              <a:buNone/>
            </a:pPr>
            <a:r>
              <a:rPr lang="en-US" sz="2800" b="1" dirty="0"/>
              <a:t>3. Limit the Risk:</a:t>
            </a:r>
            <a:endParaRPr lang="en-IN" sz="2800" dirty="0"/>
          </a:p>
          <a:p>
            <a:pPr marL="0" indent="0" algn="just">
              <a:buNone/>
            </a:pPr>
            <a:r>
              <a:rPr lang="en-US" sz="2800" dirty="0"/>
              <a:t>When a risk is high for a particular asset, and the risk cannot be transferred (i.e., not practical or cost effective), then the risk should be limited in part or in full. The process includes identifying the most probable threats to a given asset and identifying, researching, or developing an acceptable control to that threat. </a:t>
            </a:r>
            <a:endParaRPr lang="en-IN" sz="2800" dirty="0"/>
          </a:p>
          <a:p>
            <a:pPr marL="0" indent="0" algn="just">
              <a:buNone/>
            </a:pPr>
            <a:endParaRPr lang="en-IN" sz="2800" dirty="0"/>
          </a:p>
          <a:p>
            <a:pPr marL="0" indent="0" algn="just">
              <a:buNone/>
            </a:pPr>
            <a:r>
              <a:rPr lang="en-US" sz="2800" b="1" dirty="0"/>
              <a:t>4. Avoid the Risk</a:t>
            </a:r>
            <a:endParaRPr lang="en-IN" sz="2800" dirty="0"/>
          </a:p>
          <a:p>
            <a:pPr marL="0" indent="0" algn="just">
              <a:buNone/>
            </a:pPr>
            <a:r>
              <a:rPr lang="en-US" sz="2800" dirty="0"/>
              <a:t>Avoiding risk means changing plans to prevent any exposure to it, often used when the risk is high and unacceptable.</a:t>
            </a:r>
            <a:endParaRPr lang="en-IN" sz="2800" dirty="0"/>
          </a:p>
          <a:p>
            <a:pPr marL="0" indent="0" algn="just">
              <a:buNone/>
            </a:pPr>
            <a:endParaRPr lang="en-IN" sz="2800" dirty="0"/>
          </a:p>
        </p:txBody>
      </p:sp>
    </p:spTree>
    <p:extLst>
      <p:ext uri="{BB962C8B-B14F-4D97-AF65-F5344CB8AC3E}">
        <p14:creationId xmlns:p14="http://schemas.microsoft.com/office/powerpoint/2010/main" val="3664038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0D1BF-BEFE-D02D-BF3D-B8A0EBC52CB7}"/>
              </a:ext>
            </a:extLst>
          </p:cNvPr>
          <p:cNvSpPr>
            <a:spLocks noGrp="1"/>
          </p:cNvSpPr>
          <p:nvPr>
            <p:ph type="title"/>
          </p:nvPr>
        </p:nvSpPr>
        <p:spPr/>
        <p:txBody>
          <a:bodyPr/>
          <a:lstStyle/>
          <a:p>
            <a:r>
              <a:rPr lang="en-IN" b="1" dirty="0"/>
              <a:t>AUTHENTICATION</a:t>
            </a:r>
            <a:endParaRPr lang="en-IN" dirty="0"/>
          </a:p>
        </p:txBody>
      </p:sp>
      <p:sp>
        <p:nvSpPr>
          <p:cNvPr id="3" name="Content Placeholder 2">
            <a:extLst>
              <a:ext uri="{FF2B5EF4-FFF2-40B4-BE49-F238E27FC236}">
                <a16:creationId xmlns:a16="http://schemas.microsoft.com/office/drawing/2014/main" id="{86B541CC-7262-0140-CCCB-A7381D6E27B1}"/>
              </a:ext>
            </a:extLst>
          </p:cNvPr>
          <p:cNvSpPr>
            <a:spLocks noGrp="1"/>
          </p:cNvSpPr>
          <p:nvPr>
            <p:ph idx="1"/>
          </p:nvPr>
        </p:nvSpPr>
        <p:spPr/>
        <p:txBody>
          <a:bodyPr>
            <a:normAutofit/>
          </a:bodyPr>
          <a:lstStyle/>
          <a:p>
            <a:pPr marL="0" indent="0" algn="just">
              <a:buNone/>
            </a:pPr>
            <a:r>
              <a:rPr lang="en-IN" sz="2800" b="1" dirty="0"/>
              <a:t>Authentication</a:t>
            </a:r>
            <a:r>
              <a:rPr lang="en-IN" sz="2800" dirty="0"/>
              <a:t> is the process of determining whether someone or something is who or what they say they are. Authentication technology provides access control for systems by checking to see if a user's credentials match the credentials in a database of authorized users or a data authentication server. </a:t>
            </a:r>
          </a:p>
        </p:txBody>
      </p:sp>
    </p:spTree>
    <p:extLst>
      <p:ext uri="{BB962C8B-B14F-4D97-AF65-F5344CB8AC3E}">
        <p14:creationId xmlns:p14="http://schemas.microsoft.com/office/powerpoint/2010/main" val="3662206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317EA-6587-5CEC-D986-706434FBF04B}"/>
              </a:ext>
            </a:extLst>
          </p:cNvPr>
          <p:cNvSpPr>
            <a:spLocks noGrp="1"/>
          </p:cNvSpPr>
          <p:nvPr>
            <p:ph type="title"/>
          </p:nvPr>
        </p:nvSpPr>
        <p:spPr/>
        <p:txBody>
          <a:bodyPr/>
          <a:lstStyle/>
          <a:p>
            <a:r>
              <a:rPr lang="en-IN" b="1" dirty="0"/>
              <a:t>Different types of authentications?</a:t>
            </a:r>
            <a:endParaRPr lang="en-IN" dirty="0"/>
          </a:p>
        </p:txBody>
      </p:sp>
      <p:sp>
        <p:nvSpPr>
          <p:cNvPr id="3" name="Content Placeholder 2">
            <a:extLst>
              <a:ext uri="{FF2B5EF4-FFF2-40B4-BE49-F238E27FC236}">
                <a16:creationId xmlns:a16="http://schemas.microsoft.com/office/drawing/2014/main" id="{C19CBA67-923E-89F6-067B-26C7F07BC179}"/>
              </a:ext>
            </a:extLst>
          </p:cNvPr>
          <p:cNvSpPr>
            <a:spLocks noGrp="1"/>
          </p:cNvSpPr>
          <p:nvPr>
            <p:ph idx="1"/>
          </p:nvPr>
        </p:nvSpPr>
        <p:spPr/>
        <p:txBody>
          <a:bodyPr>
            <a:normAutofit/>
          </a:bodyPr>
          <a:lstStyle/>
          <a:p>
            <a:pPr marL="342900" indent="-342900">
              <a:buAutoNum type="arabicPeriod"/>
            </a:pPr>
            <a:r>
              <a:rPr lang="en-IN" sz="2400" dirty="0"/>
              <a:t>Single-factor authentication</a:t>
            </a:r>
          </a:p>
          <a:p>
            <a:pPr marL="342900" indent="-342900">
              <a:buFont typeface="Garamond" pitchFamily="18" charset="0"/>
              <a:buAutoNum type="arabicPeriod"/>
            </a:pPr>
            <a:r>
              <a:rPr lang="en-IN" sz="2400" dirty="0"/>
              <a:t>Two-Factor Authentication (2FA)</a:t>
            </a:r>
          </a:p>
          <a:p>
            <a:pPr marL="342900" indent="-342900">
              <a:buFont typeface="Garamond" pitchFamily="18" charset="0"/>
              <a:buAutoNum type="arabicPeriod"/>
            </a:pPr>
            <a:r>
              <a:rPr lang="en-IN" sz="2400" dirty="0"/>
              <a:t>Multifactor authentication</a:t>
            </a:r>
          </a:p>
          <a:p>
            <a:pPr marL="342900" indent="-342900">
              <a:buFont typeface="Garamond" pitchFamily="18" charset="0"/>
              <a:buAutoNum type="arabicPeriod"/>
            </a:pPr>
            <a:r>
              <a:rPr lang="en-IN" sz="2400" dirty="0"/>
              <a:t>One-time password</a:t>
            </a:r>
          </a:p>
          <a:p>
            <a:pPr marL="342900" indent="-342900">
              <a:buFont typeface="Garamond" pitchFamily="18" charset="0"/>
              <a:buAutoNum type="arabicPeriod"/>
            </a:pPr>
            <a:r>
              <a:rPr lang="en-IN" sz="2400" dirty="0"/>
              <a:t>Three-factor authentication</a:t>
            </a:r>
          </a:p>
          <a:p>
            <a:pPr marL="342900" indent="-342900">
              <a:buFont typeface="Garamond" pitchFamily="18" charset="0"/>
              <a:buAutoNum type="arabicPeriod"/>
            </a:pPr>
            <a:r>
              <a:rPr lang="en-IN" sz="2400" dirty="0"/>
              <a:t>Biometric authentication</a:t>
            </a:r>
          </a:p>
          <a:p>
            <a:pPr marL="342900" indent="-342900">
              <a:buFont typeface="Garamond" pitchFamily="18" charset="0"/>
              <a:buAutoNum type="arabicPeriod"/>
            </a:pPr>
            <a:r>
              <a:rPr lang="en-IN" sz="2400" dirty="0"/>
              <a:t>Mobile authentication</a:t>
            </a:r>
          </a:p>
          <a:p>
            <a:pPr marL="342900" indent="-342900">
              <a:buAutoNum type="arabicPeriod"/>
            </a:pPr>
            <a:r>
              <a:rPr lang="en-IN" sz="2400" dirty="0"/>
              <a:t>Continuous authentication</a:t>
            </a:r>
          </a:p>
          <a:p>
            <a:pPr marL="0" indent="0">
              <a:buNone/>
            </a:pPr>
            <a:endParaRPr lang="en-IN" sz="2400" dirty="0"/>
          </a:p>
        </p:txBody>
      </p:sp>
    </p:spTree>
    <p:extLst>
      <p:ext uri="{BB962C8B-B14F-4D97-AF65-F5344CB8AC3E}">
        <p14:creationId xmlns:p14="http://schemas.microsoft.com/office/powerpoint/2010/main" val="206246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9113-1026-A484-6892-D3C56028539D}"/>
              </a:ext>
            </a:extLst>
          </p:cNvPr>
          <p:cNvSpPr>
            <a:spLocks noGrp="1"/>
          </p:cNvSpPr>
          <p:nvPr>
            <p:ph type="title"/>
          </p:nvPr>
        </p:nvSpPr>
        <p:spPr/>
        <p:txBody>
          <a:bodyPr>
            <a:normAutofit/>
          </a:bodyPr>
          <a:lstStyle/>
          <a:p>
            <a:r>
              <a:rPr lang="en-IN" b="1" dirty="0"/>
              <a:t>AUTHORIZATION:</a:t>
            </a:r>
            <a:endParaRPr lang="en-IN" dirty="0"/>
          </a:p>
        </p:txBody>
      </p:sp>
      <p:sp>
        <p:nvSpPr>
          <p:cNvPr id="3" name="Content Placeholder 2">
            <a:extLst>
              <a:ext uri="{FF2B5EF4-FFF2-40B4-BE49-F238E27FC236}">
                <a16:creationId xmlns:a16="http://schemas.microsoft.com/office/drawing/2014/main" id="{3913D9E5-157E-2D2B-D77B-8626950DC649}"/>
              </a:ext>
            </a:extLst>
          </p:cNvPr>
          <p:cNvSpPr>
            <a:spLocks noGrp="1"/>
          </p:cNvSpPr>
          <p:nvPr>
            <p:ph idx="1"/>
          </p:nvPr>
        </p:nvSpPr>
        <p:spPr/>
        <p:txBody>
          <a:bodyPr>
            <a:normAutofit/>
          </a:bodyPr>
          <a:lstStyle/>
          <a:p>
            <a:pPr marL="0" indent="0" algn="just">
              <a:buNone/>
            </a:pPr>
            <a:r>
              <a:rPr lang="en-IN" sz="2800" dirty="0"/>
              <a:t>Authorization is the process of giving someone the ability to access a resource.</a:t>
            </a:r>
          </a:p>
          <a:p>
            <a:pPr marL="0" indent="0" algn="just">
              <a:buNone/>
            </a:pPr>
            <a:endParaRPr lang="en-IN" sz="2800" dirty="0"/>
          </a:p>
          <a:p>
            <a:pPr marL="0" indent="0" algn="just">
              <a:buNone/>
            </a:pPr>
            <a:r>
              <a:rPr lang="en-IN" sz="2800" b="1" dirty="0"/>
              <a:t>Types of authorization:</a:t>
            </a:r>
            <a:endParaRPr lang="en-IN" sz="2800" dirty="0"/>
          </a:p>
          <a:p>
            <a:pPr marL="342900" lvl="0" indent="-342900" algn="just">
              <a:buAutoNum type="arabicPeriod"/>
            </a:pPr>
            <a:r>
              <a:rPr lang="en-IN" sz="2800" dirty="0"/>
              <a:t>Role-Based Access Control (RBAC)</a:t>
            </a:r>
          </a:p>
          <a:p>
            <a:pPr marL="342900" indent="-342900" algn="just">
              <a:buFont typeface="Garamond" pitchFamily="18" charset="0"/>
              <a:buAutoNum type="arabicPeriod"/>
            </a:pPr>
            <a:r>
              <a:rPr lang="en-IN" sz="2800" dirty="0"/>
              <a:t>Attribute-Based Access Control (ABAC)</a:t>
            </a:r>
          </a:p>
          <a:p>
            <a:pPr marL="342900" indent="-342900" algn="just">
              <a:buFont typeface="Garamond" pitchFamily="18" charset="0"/>
              <a:buAutoNum type="arabicPeriod"/>
            </a:pPr>
            <a:r>
              <a:rPr lang="en-IN" sz="2800" dirty="0"/>
              <a:t>Relationship-Based Access Control (ReBAC)</a:t>
            </a:r>
          </a:p>
          <a:p>
            <a:pPr marL="0" indent="0" algn="just">
              <a:buNone/>
            </a:pPr>
            <a:endParaRPr lang="en-IN" sz="2800" dirty="0"/>
          </a:p>
        </p:txBody>
      </p:sp>
    </p:spTree>
    <p:extLst>
      <p:ext uri="{BB962C8B-B14F-4D97-AF65-F5344CB8AC3E}">
        <p14:creationId xmlns:p14="http://schemas.microsoft.com/office/powerpoint/2010/main" val="4085540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C409A-6783-388E-6238-D4D8CAF107AB}"/>
              </a:ext>
            </a:extLst>
          </p:cNvPr>
          <p:cNvSpPr>
            <a:spLocks noGrp="1"/>
          </p:cNvSpPr>
          <p:nvPr>
            <p:ph type="title"/>
          </p:nvPr>
        </p:nvSpPr>
        <p:spPr/>
        <p:txBody>
          <a:bodyPr>
            <a:normAutofit/>
          </a:bodyPr>
          <a:lstStyle/>
          <a:p>
            <a:r>
              <a:rPr lang="en-IN" b="1" dirty="0"/>
              <a:t>Defense In Depth:</a:t>
            </a:r>
            <a:endParaRPr lang="en-IN" dirty="0"/>
          </a:p>
        </p:txBody>
      </p:sp>
      <p:sp>
        <p:nvSpPr>
          <p:cNvPr id="3" name="Content Placeholder 2">
            <a:extLst>
              <a:ext uri="{FF2B5EF4-FFF2-40B4-BE49-F238E27FC236}">
                <a16:creationId xmlns:a16="http://schemas.microsoft.com/office/drawing/2014/main" id="{8CC19E9D-877C-3FA3-9875-97A57685F04D}"/>
              </a:ext>
            </a:extLst>
          </p:cNvPr>
          <p:cNvSpPr>
            <a:spLocks noGrp="1"/>
          </p:cNvSpPr>
          <p:nvPr>
            <p:ph idx="1"/>
          </p:nvPr>
        </p:nvSpPr>
        <p:spPr/>
        <p:txBody>
          <a:bodyPr>
            <a:normAutofit fontScale="92500"/>
          </a:bodyPr>
          <a:lstStyle/>
          <a:p>
            <a:pPr marL="0" indent="0" algn="just">
              <a:buNone/>
            </a:pPr>
            <a:r>
              <a:rPr lang="en-IN" sz="2400" dirty="0"/>
              <a:t>Defense in Depth is a cybersecurity strategy that uses multiple layers of security controls to protect information and systems. If one layer fails, the next layer will still protect the system.</a:t>
            </a:r>
          </a:p>
          <a:p>
            <a:pPr marL="0" indent="0" algn="just">
              <a:buNone/>
            </a:pPr>
            <a:endParaRPr lang="en-IN" sz="2400" dirty="0"/>
          </a:p>
          <a:p>
            <a:pPr marL="0" indent="0" algn="just">
              <a:buNone/>
            </a:pPr>
            <a:r>
              <a:rPr lang="en-IN" sz="2400" b="1" dirty="0"/>
              <a:t>Example of a Mobile phone</a:t>
            </a:r>
            <a:r>
              <a:rPr lang="en-IN" sz="2400" dirty="0"/>
              <a:t>:</a:t>
            </a:r>
          </a:p>
          <a:p>
            <a:pPr marL="342900" lvl="0" indent="-342900" algn="just">
              <a:buFont typeface="+mj-lt"/>
              <a:buAutoNum type="arabicPeriod"/>
            </a:pPr>
            <a:r>
              <a:rPr lang="en-IN" sz="2400" dirty="0"/>
              <a:t>A PIN or biometric lock is used to restrict unauthorized access </a:t>
            </a:r>
            <a:r>
              <a:rPr lang="en-IN" sz="2400" b="1" dirty="0"/>
              <a:t>(access control).</a:t>
            </a:r>
            <a:endParaRPr lang="en-IN" sz="2400" dirty="0"/>
          </a:p>
          <a:p>
            <a:pPr marL="342900" lvl="0" indent="-342900" algn="just">
              <a:buFont typeface="+mj-lt"/>
              <a:buAutoNum type="arabicPeriod"/>
            </a:pPr>
            <a:r>
              <a:rPr lang="en-IN" sz="2400" dirty="0"/>
              <a:t>Antivirus software is installed to detect and block malware </a:t>
            </a:r>
            <a:r>
              <a:rPr lang="en-IN" sz="2400" b="1" dirty="0"/>
              <a:t>(endpoint security).</a:t>
            </a:r>
            <a:endParaRPr lang="en-IN" sz="2400" dirty="0"/>
          </a:p>
          <a:p>
            <a:pPr marL="342900" lvl="0" indent="-342900" algn="just">
              <a:buFont typeface="+mj-lt"/>
              <a:buAutoNum type="arabicPeriod"/>
            </a:pPr>
            <a:r>
              <a:rPr lang="en-IN" sz="2400" dirty="0"/>
              <a:t>Installation of unknown or untrusted applications is avoided </a:t>
            </a:r>
            <a:r>
              <a:rPr lang="en-IN" sz="2400" b="1" dirty="0"/>
              <a:t>(user awareness).</a:t>
            </a:r>
            <a:endParaRPr lang="en-IN" sz="2400" dirty="0"/>
          </a:p>
          <a:p>
            <a:pPr marL="342900" lvl="0" indent="-342900" algn="just">
              <a:buFont typeface="+mj-lt"/>
              <a:buAutoNum type="arabicPeriod"/>
            </a:pPr>
            <a:r>
              <a:rPr lang="en-IN" sz="2400" dirty="0"/>
              <a:t>Important data is regularly backed up to secure cloud storage </a:t>
            </a:r>
            <a:r>
              <a:rPr lang="en-IN" sz="2400" b="1" dirty="0"/>
              <a:t>(data protection).</a:t>
            </a:r>
            <a:endParaRPr lang="en-IN" sz="2400" dirty="0"/>
          </a:p>
          <a:p>
            <a:pPr marL="0" indent="0" algn="just">
              <a:buNone/>
            </a:pPr>
            <a:endParaRPr lang="en-IN" sz="2400" dirty="0"/>
          </a:p>
        </p:txBody>
      </p:sp>
    </p:spTree>
    <p:extLst>
      <p:ext uri="{BB962C8B-B14F-4D97-AF65-F5344CB8AC3E}">
        <p14:creationId xmlns:p14="http://schemas.microsoft.com/office/powerpoint/2010/main" val="87930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87A93-E298-5F59-AE03-361A2048F46C}"/>
              </a:ext>
            </a:extLst>
          </p:cNvPr>
          <p:cNvSpPr>
            <a:spLocks noGrp="1"/>
          </p:cNvSpPr>
          <p:nvPr>
            <p:ph type="title"/>
          </p:nvPr>
        </p:nvSpPr>
        <p:spPr/>
        <p:txBody>
          <a:bodyPr>
            <a:normAutofit/>
          </a:bodyPr>
          <a:lstStyle/>
          <a:p>
            <a:r>
              <a:rPr lang="en-IN" b="1" dirty="0"/>
              <a:t>Principle of Least Privilege:</a:t>
            </a:r>
            <a:endParaRPr lang="en-IN" dirty="0"/>
          </a:p>
        </p:txBody>
      </p:sp>
      <p:pic>
        <p:nvPicPr>
          <p:cNvPr id="4" name="Picture 3">
            <a:extLst>
              <a:ext uri="{FF2B5EF4-FFF2-40B4-BE49-F238E27FC236}">
                <a16:creationId xmlns:a16="http://schemas.microsoft.com/office/drawing/2014/main" id="{17F919D0-A60F-4DA0-F8D0-8FC15B01D019}"/>
              </a:ext>
            </a:extLst>
          </p:cNvPr>
          <p:cNvPicPr>
            <a:picLocks noChangeAspect="1"/>
          </p:cNvPicPr>
          <p:nvPr/>
        </p:nvPicPr>
        <p:blipFill>
          <a:blip r:embed="rId2"/>
          <a:stretch>
            <a:fillRect/>
          </a:stretch>
        </p:blipFill>
        <p:spPr>
          <a:xfrm>
            <a:off x="1342104" y="1856673"/>
            <a:ext cx="9060426" cy="4424813"/>
          </a:xfrm>
          <a:prstGeom prst="rect">
            <a:avLst/>
          </a:prstGeom>
        </p:spPr>
      </p:pic>
    </p:spTree>
    <p:extLst>
      <p:ext uri="{BB962C8B-B14F-4D97-AF65-F5344CB8AC3E}">
        <p14:creationId xmlns:p14="http://schemas.microsoft.com/office/powerpoint/2010/main" val="18321801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Custom 1">
      <a:majorFont>
        <a:latin typeface="Times New Roman"/>
        <a:ea typeface=""/>
        <a:cs typeface=""/>
      </a:majorFont>
      <a:minorFont>
        <a:latin typeface="Times New Roman"/>
        <a:ea typeface=""/>
        <a:cs typeface=""/>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22</TotalTime>
  <Words>596</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Garamond</vt:lpstr>
      <vt:lpstr>Times New Roman</vt:lpstr>
      <vt:lpstr>Savon</vt:lpstr>
      <vt:lpstr>THREAT MODELING PROCESS  AND ITS BENEFITS </vt:lpstr>
      <vt:lpstr>Identifying the Threats by Using Attack Trees</vt:lpstr>
      <vt:lpstr>Rating Threats Using DREAD: </vt:lpstr>
      <vt:lpstr>Risk Mitigation Techniques and Security Best Practices: </vt:lpstr>
      <vt:lpstr>Risk Mitigation Techniques and Security Best Practices: </vt:lpstr>
      <vt:lpstr>AUTHENTICATION</vt:lpstr>
      <vt:lpstr>Different types of authentications?</vt:lpstr>
      <vt:lpstr>AUTHORIZATION:</vt:lpstr>
      <vt:lpstr>Defense In Depth:</vt:lpstr>
      <vt:lpstr>Principle of Least Privilege: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Rashmi Hegde</dc:creator>
  <cp:lastModifiedBy>Valen Mascarenhas</cp:lastModifiedBy>
  <cp:revision>5</cp:revision>
  <dcterms:created xsi:type="dcterms:W3CDTF">2025-07-05T11:42:06Z</dcterms:created>
  <dcterms:modified xsi:type="dcterms:W3CDTF">2026-08-21T13:41:26Z</dcterms:modified>
</cp:coreProperties>
</file>