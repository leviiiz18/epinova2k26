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3"/>
  </p:notesMasterIdLst>
  <p:sldIdLst>
    <p:sldId id="256" r:id="rId2"/>
    <p:sldId id="257" r:id="rId3"/>
    <p:sldId id="259" r:id="rId4"/>
    <p:sldId id="275" r:id="rId5"/>
    <p:sldId id="260" r:id="rId6"/>
    <p:sldId id="274" r:id="rId7"/>
    <p:sldId id="261" r:id="rId8"/>
    <p:sldId id="262" r:id="rId9"/>
    <p:sldId id="27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9" r:id="rId27"/>
    <p:sldId id="320" r:id="rId28"/>
    <p:sldId id="321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10" r:id="rId37"/>
    <p:sldId id="311" r:id="rId38"/>
    <p:sldId id="312" r:id="rId39"/>
    <p:sldId id="313" r:id="rId40"/>
    <p:sldId id="314" r:id="rId41"/>
    <p:sldId id="315" r:id="rId42"/>
    <p:sldId id="317" r:id="rId43"/>
    <p:sldId id="318" r:id="rId44"/>
    <p:sldId id="276" r:id="rId45"/>
    <p:sldId id="277" r:id="rId46"/>
    <p:sldId id="278" r:id="rId47"/>
    <p:sldId id="280" r:id="rId48"/>
    <p:sldId id="282" r:id="rId49"/>
    <p:sldId id="281" r:id="rId50"/>
    <p:sldId id="279" r:id="rId51"/>
    <p:sldId id="284" r:id="rId52"/>
    <p:sldId id="283" r:id="rId53"/>
    <p:sldId id="285" r:id="rId54"/>
    <p:sldId id="286" r:id="rId55"/>
    <p:sldId id="287" r:id="rId56"/>
    <p:sldId id="288" r:id="rId57"/>
    <p:sldId id="289" r:id="rId58"/>
    <p:sldId id="290" r:id="rId59"/>
    <p:sldId id="291" r:id="rId60"/>
    <p:sldId id="292" r:id="rId61"/>
    <p:sldId id="293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00E856-2891-4F1D-AC24-7FDA7A7CA1DE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DD15058-001E-4853-99ED-9C6B1EB59817}">
      <dgm:prSet phldrT="[Text]" custT="1"/>
      <dgm:spPr/>
      <dgm:t>
        <a:bodyPr/>
        <a:lstStyle/>
        <a:p>
          <a:r>
            <a:rPr lang="en-IN" sz="4000" b="1" dirty="0"/>
            <a:t>Data Types</a:t>
          </a:r>
          <a:endParaRPr lang="en-IN" sz="4000" dirty="0"/>
        </a:p>
      </dgm:t>
    </dgm:pt>
    <dgm:pt modelId="{3F1B0B08-EB12-4CB2-ACB5-B6800FED136B}" type="parTrans" cxnId="{DF0E84E7-DB5F-4F08-A27F-7B5CEC0772C0}">
      <dgm:prSet/>
      <dgm:spPr/>
      <dgm:t>
        <a:bodyPr/>
        <a:lstStyle/>
        <a:p>
          <a:endParaRPr lang="en-IN"/>
        </a:p>
      </dgm:t>
    </dgm:pt>
    <dgm:pt modelId="{A28A2D83-322B-4E78-85B8-688A36D75A59}" type="sibTrans" cxnId="{DF0E84E7-DB5F-4F08-A27F-7B5CEC0772C0}">
      <dgm:prSet/>
      <dgm:spPr/>
      <dgm:t>
        <a:bodyPr/>
        <a:lstStyle/>
        <a:p>
          <a:endParaRPr lang="en-IN"/>
        </a:p>
      </dgm:t>
    </dgm:pt>
    <dgm:pt modelId="{307849CA-C1AB-45E8-8A3F-20AD618E2CE3}">
      <dgm:prSet phldrT="[Text]" custT="1"/>
      <dgm:spPr/>
      <dgm:t>
        <a:bodyPr/>
        <a:lstStyle/>
        <a:p>
          <a:pPr>
            <a:buNone/>
          </a:pPr>
          <a:r>
            <a:rPr lang="en-IN" sz="4000" dirty="0"/>
            <a:t>Value Types</a:t>
          </a:r>
        </a:p>
      </dgm:t>
    </dgm:pt>
    <dgm:pt modelId="{A6367511-C026-4EF0-B2F1-DA40BB91DEAB}" type="parTrans" cxnId="{711BA678-0752-4BEE-8C45-1B7A5C590B97}">
      <dgm:prSet/>
      <dgm:spPr/>
      <dgm:t>
        <a:bodyPr/>
        <a:lstStyle/>
        <a:p>
          <a:endParaRPr lang="en-IN"/>
        </a:p>
      </dgm:t>
    </dgm:pt>
    <dgm:pt modelId="{CEBDDA31-ADF2-4269-9D46-FB882D04A956}" type="sibTrans" cxnId="{711BA678-0752-4BEE-8C45-1B7A5C590B97}">
      <dgm:prSet/>
      <dgm:spPr/>
      <dgm:t>
        <a:bodyPr/>
        <a:lstStyle/>
        <a:p>
          <a:endParaRPr lang="en-IN"/>
        </a:p>
      </dgm:t>
    </dgm:pt>
    <dgm:pt modelId="{FC353296-64F5-4EFC-8EBF-97EC4FD56428}">
      <dgm:prSet phldrT="[Text]" custT="1"/>
      <dgm:spPr/>
      <dgm:t>
        <a:bodyPr/>
        <a:lstStyle/>
        <a:p>
          <a:pPr>
            <a:buNone/>
          </a:pPr>
          <a:r>
            <a:rPr lang="en-IN" sz="4000" dirty="0"/>
            <a:t>Reference Types</a:t>
          </a:r>
        </a:p>
      </dgm:t>
    </dgm:pt>
    <dgm:pt modelId="{EAC64C1F-36E0-4CFB-9E06-607410BEC9A5}" type="parTrans" cxnId="{79A8CB5E-69D4-407C-B7A5-8BE3BC95860E}">
      <dgm:prSet/>
      <dgm:spPr/>
      <dgm:t>
        <a:bodyPr/>
        <a:lstStyle/>
        <a:p>
          <a:endParaRPr lang="en-IN"/>
        </a:p>
      </dgm:t>
    </dgm:pt>
    <dgm:pt modelId="{0DE2083B-9126-4BB6-B0CE-4286F5B6F42D}" type="sibTrans" cxnId="{79A8CB5E-69D4-407C-B7A5-8BE3BC95860E}">
      <dgm:prSet/>
      <dgm:spPr/>
      <dgm:t>
        <a:bodyPr/>
        <a:lstStyle/>
        <a:p>
          <a:endParaRPr lang="en-IN"/>
        </a:p>
      </dgm:t>
    </dgm:pt>
    <dgm:pt modelId="{0DF920FD-6A25-4858-8BF7-45D3C4D91EA8}" type="pres">
      <dgm:prSet presAssocID="{7B00E856-2891-4F1D-AC24-7FDA7A7CA1D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C1EFB95-7038-4A09-B135-4700696696FE}" type="pres">
      <dgm:prSet presAssocID="{9DD15058-001E-4853-99ED-9C6B1EB59817}" presName="hierRoot1" presStyleCnt="0">
        <dgm:presLayoutVars>
          <dgm:hierBranch val="init"/>
        </dgm:presLayoutVars>
      </dgm:prSet>
      <dgm:spPr/>
    </dgm:pt>
    <dgm:pt modelId="{6E02334B-5444-44CF-902A-2D069BE4191C}" type="pres">
      <dgm:prSet presAssocID="{9DD15058-001E-4853-99ED-9C6B1EB59817}" presName="rootComposite1" presStyleCnt="0"/>
      <dgm:spPr/>
    </dgm:pt>
    <dgm:pt modelId="{43B5F5EB-F453-4C74-B7FD-0A95FCD0C7CA}" type="pres">
      <dgm:prSet presAssocID="{9DD15058-001E-4853-99ED-9C6B1EB59817}" presName="rootText1" presStyleLbl="node0" presStyleIdx="0" presStyleCnt="1" custScaleX="227422">
        <dgm:presLayoutVars>
          <dgm:chPref val="3"/>
        </dgm:presLayoutVars>
      </dgm:prSet>
      <dgm:spPr/>
    </dgm:pt>
    <dgm:pt modelId="{FC1F9DDA-A4DD-4E88-967E-C55AD4A3182B}" type="pres">
      <dgm:prSet presAssocID="{9DD15058-001E-4853-99ED-9C6B1EB59817}" presName="rootConnector1" presStyleLbl="node1" presStyleIdx="0" presStyleCnt="0"/>
      <dgm:spPr/>
    </dgm:pt>
    <dgm:pt modelId="{AAF61F5E-EB6C-4D61-ABAE-7BA8C2D8B3A6}" type="pres">
      <dgm:prSet presAssocID="{9DD15058-001E-4853-99ED-9C6B1EB59817}" presName="hierChild2" presStyleCnt="0"/>
      <dgm:spPr/>
    </dgm:pt>
    <dgm:pt modelId="{82FDBA44-979C-4B36-A322-680C4EC61E74}" type="pres">
      <dgm:prSet presAssocID="{A6367511-C026-4EF0-B2F1-DA40BB91DEAB}" presName="Name37" presStyleLbl="parChTrans1D2" presStyleIdx="0" presStyleCnt="2"/>
      <dgm:spPr/>
    </dgm:pt>
    <dgm:pt modelId="{B62194FA-2286-40A6-B72C-1BF4D88C9A1E}" type="pres">
      <dgm:prSet presAssocID="{307849CA-C1AB-45E8-8A3F-20AD618E2CE3}" presName="hierRoot2" presStyleCnt="0">
        <dgm:presLayoutVars>
          <dgm:hierBranch val="init"/>
        </dgm:presLayoutVars>
      </dgm:prSet>
      <dgm:spPr/>
    </dgm:pt>
    <dgm:pt modelId="{7752827B-B6F7-4126-82DC-9B5B2878E859}" type="pres">
      <dgm:prSet presAssocID="{307849CA-C1AB-45E8-8A3F-20AD618E2CE3}" presName="rootComposite" presStyleCnt="0"/>
      <dgm:spPr/>
    </dgm:pt>
    <dgm:pt modelId="{AB84FBF5-D5BD-4995-BA96-8B314031EB38}" type="pres">
      <dgm:prSet presAssocID="{307849CA-C1AB-45E8-8A3F-20AD618E2CE3}" presName="rootText" presStyleLbl="node2" presStyleIdx="0" presStyleCnt="2">
        <dgm:presLayoutVars>
          <dgm:chPref val="3"/>
        </dgm:presLayoutVars>
      </dgm:prSet>
      <dgm:spPr/>
    </dgm:pt>
    <dgm:pt modelId="{8430362C-44E9-4B28-B5E6-5E2EC7920717}" type="pres">
      <dgm:prSet presAssocID="{307849CA-C1AB-45E8-8A3F-20AD618E2CE3}" presName="rootConnector" presStyleLbl="node2" presStyleIdx="0" presStyleCnt="2"/>
      <dgm:spPr/>
    </dgm:pt>
    <dgm:pt modelId="{19183210-A23B-4773-984F-23B5C1F6DB99}" type="pres">
      <dgm:prSet presAssocID="{307849CA-C1AB-45E8-8A3F-20AD618E2CE3}" presName="hierChild4" presStyleCnt="0"/>
      <dgm:spPr/>
    </dgm:pt>
    <dgm:pt modelId="{B5AEEFA2-B26C-4962-B97D-DA492BE245FB}" type="pres">
      <dgm:prSet presAssocID="{307849CA-C1AB-45E8-8A3F-20AD618E2CE3}" presName="hierChild5" presStyleCnt="0"/>
      <dgm:spPr/>
    </dgm:pt>
    <dgm:pt modelId="{73448F16-4F24-43F9-8850-3D1E398C840B}" type="pres">
      <dgm:prSet presAssocID="{EAC64C1F-36E0-4CFB-9E06-607410BEC9A5}" presName="Name37" presStyleLbl="parChTrans1D2" presStyleIdx="1" presStyleCnt="2"/>
      <dgm:spPr/>
    </dgm:pt>
    <dgm:pt modelId="{C10A6FF8-4FE2-45DE-8899-2239D8CF002E}" type="pres">
      <dgm:prSet presAssocID="{FC353296-64F5-4EFC-8EBF-97EC4FD56428}" presName="hierRoot2" presStyleCnt="0">
        <dgm:presLayoutVars>
          <dgm:hierBranch val="init"/>
        </dgm:presLayoutVars>
      </dgm:prSet>
      <dgm:spPr/>
    </dgm:pt>
    <dgm:pt modelId="{95C4AFC6-C58A-491E-9363-1A795EFDF55F}" type="pres">
      <dgm:prSet presAssocID="{FC353296-64F5-4EFC-8EBF-97EC4FD56428}" presName="rootComposite" presStyleCnt="0"/>
      <dgm:spPr/>
    </dgm:pt>
    <dgm:pt modelId="{0086232E-C380-42C5-8B9B-194778217CCE}" type="pres">
      <dgm:prSet presAssocID="{FC353296-64F5-4EFC-8EBF-97EC4FD56428}" presName="rootText" presStyleLbl="node2" presStyleIdx="1" presStyleCnt="2" custScaleX="129230">
        <dgm:presLayoutVars>
          <dgm:chPref val="3"/>
        </dgm:presLayoutVars>
      </dgm:prSet>
      <dgm:spPr/>
    </dgm:pt>
    <dgm:pt modelId="{1E6AD803-3A90-46CA-B27E-84B1C8B806B6}" type="pres">
      <dgm:prSet presAssocID="{FC353296-64F5-4EFC-8EBF-97EC4FD56428}" presName="rootConnector" presStyleLbl="node2" presStyleIdx="1" presStyleCnt="2"/>
      <dgm:spPr/>
    </dgm:pt>
    <dgm:pt modelId="{EEE13559-A4D4-43EF-BCF8-50C56B5832A9}" type="pres">
      <dgm:prSet presAssocID="{FC353296-64F5-4EFC-8EBF-97EC4FD56428}" presName="hierChild4" presStyleCnt="0"/>
      <dgm:spPr/>
    </dgm:pt>
    <dgm:pt modelId="{7FF0EB80-1A7D-4C85-A9E6-A131AF92197B}" type="pres">
      <dgm:prSet presAssocID="{FC353296-64F5-4EFC-8EBF-97EC4FD56428}" presName="hierChild5" presStyleCnt="0"/>
      <dgm:spPr/>
    </dgm:pt>
    <dgm:pt modelId="{88027A37-BF8E-466C-A410-7F32E8729631}" type="pres">
      <dgm:prSet presAssocID="{9DD15058-001E-4853-99ED-9C6B1EB59817}" presName="hierChild3" presStyleCnt="0"/>
      <dgm:spPr/>
    </dgm:pt>
  </dgm:ptLst>
  <dgm:cxnLst>
    <dgm:cxn modelId="{33BE2408-C17D-4279-AC01-AFE2BD706091}" type="presOf" srcId="{307849CA-C1AB-45E8-8A3F-20AD618E2CE3}" destId="{AB84FBF5-D5BD-4995-BA96-8B314031EB38}" srcOrd="0" destOrd="0" presId="urn:microsoft.com/office/officeart/2005/8/layout/orgChart1"/>
    <dgm:cxn modelId="{4C73BC35-2192-46FA-9D8A-43CA977B0A33}" type="presOf" srcId="{EAC64C1F-36E0-4CFB-9E06-607410BEC9A5}" destId="{73448F16-4F24-43F9-8850-3D1E398C840B}" srcOrd="0" destOrd="0" presId="urn:microsoft.com/office/officeart/2005/8/layout/orgChart1"/>
    <dgm:cxn modelId="{79A8CB5E-69D4-407C-B7A5-8BE3BC95860E}" srcId="{9DD15058-001E-4853-99ED-9C6B1EB59817}" destId="{FC353296-64F5-4EFC-8EBF-97EC4FD56428}" srcOrd="1" destOrd="0" parTransId="{EAC64C1F-36E0-4CFB-9E06-607410BEC9A5}" sibTransId="{0DE2083B-9126-4BB6-B0CE-4286F5B6F42D}"/>
    <dgm:cxn modelId="{F0FDA655-C607-4C21-BA7D-B0142C195221}" type="presOf" srcId="{307849CA-C1AB-45E8-8A3F-20AD618E2CE3}" destId="{8430362C-44E9-4B28-B5E6-5E2EC7920717}" srcOrd="1" destOrd="0" presId="urn:microsoft.com/office/officeart/2005/8/layout/orgChart1"/>
    <dgm:cxn modelId="{711BA678-0752-4BEE-8C45-1B7A5C590B97}" srcId="{9DD15058-001E-4853-99ED-9C6B1EB59817}" destId="{307849CA-C1AB-45E8-8A3F-20AD618E2CE3}" srcOrd="0" destOrd="0" parTransId="{A6367511-C026-4EF0-B2F1-DA40BB91DEAB}" sibTransId="{CEBDDA31-ADF2-4269-9D46-FB882D04A956}"/>
    <dgm:cxn modelId="{7F3C1988-549C-4F33-AA9E-F391BB8D75D1}" type="presOf" srcId="{7B00E856-2891-4F1D-AC24-7FDA7A7CA1DE}" destId="{0DF920FD-6A25-4858-8BF7-45D3C4D91EA8}" srcOrd="0" destOrd="0" presId="urn:microsoft.com/office/officeart/2005/8/layout/orgChart1"/>
    <dgm:cxn modelId="{BB6D14B2-9BC0-49D4-8C5C-ABBCC6BFBE6A}" type="presOf" srcId="{FC353296-64F5-4EFC-8EBF-97EC4FD56428}" destId="{0086232E-C380-42C5-8B9B-194778217CCE}" srcOrd="0" destOrd="0" presId="urn:microsoft.com/office/officeart/2005/8/layout/orgChart1"/>
    <dgm:cxn modelId="{6B4829B2-F302-4E4A-A4D0-7351BAA0D6B4}" type="presOf" srcId="{9DD15058-001E-4853-99ED-9C6B1EB59817}" destId="{FC1F9DDA-A4DD-4E88-967E-C55AD4A3182B}" srcOrd="1" destOrd="0" presId="urn:microsoft.com/office/officeart/2005/8/layout/orgChart1"/>
    <dgm:cxn modelId="{1EDFBEB8-3DE4-42A6-86EE-CDD5AE8E64A1}" type="presOf" srcId="{FC353296-64F5-4EFC-8EBF-97EC4FD56428}" destId="{1E6AD803-3A90-46CA-B27E-84B1C8B806B6}" srcOrd="1" destOrd="0" presId="urn:microsoft.com/office/officeart/2005/8/layout/orgChart1"/>
    <dgm:cxn modelId="{B6B799BE-98B9-42F3-9B86-8307E72B3D23}" type="presOf" srcId="{9DD15058-001E-4853-99ED-9C6B1EB59817}" destId="{43B5F5EB-F453-4C74-B7FD-0A95FCD0C7CA}" srcOrd="0" destOrd="0" presId="urn:microsoft.com/office/officeart/2005/8/layout/orgChart1"/>
    <dgm:cxn modelId="{9FBBEDE3-50BA-439B-BD30-50BA799DA42F}" type="presOf" srcId="{A6367511-C026-4EF0-B2F1-DA40BB91DEAB}" destId="{82FDBA44-979C-4B36-A322-680C4EC61E74}" srcOrd="0" destOrd="0" presId="urn:microsoft.com/office/officeart/2005/8/layout/orgChart1"/>
    <dgm:cxn modelId="{DF0E84E7-DB5F-4F08-A27F-7B5CEC0772C0}" srcId="{7B00E856-2891-4F1D-AC24-7FDA7A7CA1DE}" destId="{9DD15058-001E-4853-99ED-9C6B1EB59817}" srcOrd="0" destOrd="0" parTransId="{3F1B0B08-EB12-4CB2-ACB5-B6800FED136B}" sibTransId="{A28A2D83-322B-4E78-85B8-688A36D75A59}"/>
    <dgm:cxn modelId="{704E0A9B-2F6B-4F4B-9F81-14F59EFB4BF9}" type="presParOf" srcId="{0DF920FD-6A25-4858-8BF7-45D3C4D91EA8}" destId="{8C1EFB95-7038-4A09-B135-4700696696FE}" srcOrd="0" destOrd="0" presId="urn:microsoft.com/office/officeart/2005/8/layout/orgChart1"/>
    <dgm:cxn modelId="{5135CB81-C890-496E-9FD3-5FDCA7C19CAE}" type="presParOf" srcId="{8C1EFB95-7038-4A09-B135-4700696696FE}" destId="{6E02334B-5444-44CF-902A-2D069BE4191C}" srcOrd="0" destOrd="0" presId="urn:microsoft.com/office/officeart/2005/8/layout/orgChart1"/>
    <dgm:cxn modelId="{3EC1EDEF-4F7D-4348-8BF6-88C528CAFFAB}" type="presParOf" srcId="{6E02334B-5444-44CF-902A-2D069BE4191C}" destId="{43B5F5EB-F453-4C74-B7FD-0A95FCD0C7CA}" srcOrd="0" destOrd="0" presId="urn:microsoft.com/office/officeart/2005/8/layout/orgChart1"/>
    <dgm:cxn modelId="{222DE4F6-103C-4131-879D-2187573D22C0}" type="presParOf" srcId="{6E02334B-5444-44CF-902A-2D069BE4191C}" destId="{FC1F9DDA-A4DD-4E88-967E-C55AD4A3182B}" srcOrd="1" destOrd="0" presId="urn:microsoft.com/office/officeart/2005/8/layout/orgChart1"/>
    <dgm:cxn modelId="{3329A379-A7F0-4697-91B1-22B679A6A3BF}" type="presParOf" srcId="{8C1EFB95-7038-4A09-B135-4700696696FE}" destId="{AAF61F5E-EB6C-4D61-ABAE-7BA8C2D8B3A6}" srcOrd="1" destOrd="0" presId="urn:microsoft.com/office/officeart/2005/8/layout/orgChart1"/>
    <dgm:cxn modelId="{D3DB2C86-DACB-45AB-966B-A9768D2222B8}" type="presParOf" srcId="{AAF61F5E-EB6C-4D61-ABAE-7BA8C2D8B3A6}" destId="{82FDBA44-979C-4B36-A322-680C4EC61E74}" srcOrd="0" destOrd="0" presId="urn:microsoft.com/office/officeart/2005/8/layout/orgChart1"/>
    <dgm:cxn modelId="{EE9CB6D4-8DBF-4FC9-B49A-4BD543687D13}" type="presParOf" srcId="{AAF61F5E-EB6C-4D61-ABAE-7BA8C2D8B3A6}" destId="{B62194FA-2286-40A6-B72C-1BF4D88C9A1E}" srcOrd="1" destOrd="0" presId="urn:microsoft.com/office/officeart/2005/8/layout/orgChart1"/>
    <dgm:cxn modelId="{DAB3D441-079B-4F9F-BA73-DB406998F2EB}" type="presParOf" srcId="{B62194FA-2286-40A6-B72C-1BF4D88C9A1E}" destId="{7752827B-B6F7-4126-82DC-9B5B2878E859}" srcOrd="0" destOrd="0" presId="urn:microsoft.com/office/officeart/2005/8/layout/orgChart1"/>
    <dgm:cxn modelId="{997ACFB0-9272-4C85-BB22-0FBD7AA503D5}" type="presParOf" srcId="{7752827B-B6F7-4126-82DC-9B5B2878E859}" destId="{AB84FBF5-D5BD-4995-BA96-8B314031EB38}" srcOrd="0" destOrd="0" presId="urn:microsoft.com/office/officeart/2005/8/layout/orgChart1"/>
    <dgm:cxn modelId="{74DAC1F7-158E-4EAB-8C03-3AB47C7077C7}" type="presParOf" srcId="{7752827B-B6F7-4126-82DC-9B5B2878E859}" destId="{8430362C-44E9-4B28-B5E6-5E2EC7920717}" srcOrd="1" destOrd="0" presId="urn:microsoft.com/office/officeart/2005/8/layout/orgChart1"/>
    <dgm:cxn modelId="{627BF9EE-D904-4598-BE1F-26253275385B}" type="presParOf" srcId="{B62194FA-2286-40A6-B72C-1BF4D88C9A1E}" destId="{19183210-A23B-4773-984F-23B5C1F6DB99}" srcOrd="1" destOrd="0" presId="urn:microsoft.com/office/officeart/2005/8/layout/orgChart1"/>
    <dgm:cxn modelId="{B4346842-0ABA-4081-9729-44CAC526027F}" type="presParOf" srcId="{B62194FA-2286-40A6-B72C-1BF4D88C9A1E}" destId="{B5AEEFA2-B26C-4962-B97D-DA492BE245FB}" srcOrd="2" destOrd="0" presId="urn:microsoft.com/office/officeart/2005/8/layout/orgChart1"/>
    <dgm:cxn modelId="{87841F28-0FA4-4FF4-A6A0-F7A5A81D58A3}" type="presParOf" srcId="{AAF61F5E-EB6C-4D61-ABAE-7BA8C2D8B3A6}" destId="{73448F16-4F24-43F9-8850-3D1E398C840B}" srcOrd="2" destOrd="0" presId="urn:microsoft.com/office/officeart/2005/8/layout/orgChart1"/>
    <dgm:cxn modelId="{DD1BAE99-6757-41C0-8A99-115ECC9000E4}" type="presParOf" srcId="{AAF61F5E-EB6C-4D61-ABAE-7BA8C2D8B3A6}" destId="{C10A6FF8-4FE2-45DE-8899-2239D8CF002E}" srcOrd="3" destOrd="0" presId="urn:microsoft.com/office/officeart/2005/8/layout/orgChart1"/>
    <dgm:cxn modelId="{1F98A7FA-9E7C-4BEE-97B4-CD6AA9DEE4DC}" type="presParOf" srcId="{C10A6FF8-4FE2-45DE-8899-2239D8CF002E}" destId="{95C4AFC6-C58A-491E-9363-1A795EFDF55F}" srcOrd="0" destOrd="0" presId="urn:microsoft.com/office/officeart/2005/8/layout/orgChart1"/>
    <dgm:cxn modelId="{CA1E6AAC-C202-4048-B199-B1C1BD176D5D}" type="presParOf" srcId="{95C4AFC6-C58A-491E-9363-1A795EFDF55F}" destId="{0086232E-C380-42C5-8B9B-194778217CCE}" srcOrd="0" destOrd="0" presId="urn:microsoft.com/office/officeart/2005/8/layout/orgChart1"/>
    <dgm:cxn modelId="{17A31D13-B811-4819-B0BA-9CDCD1F02B26}" type="presParOf" srcId="{95C4AFC6-C58A-491E-9363-1A795EFDF55F}" destId="{1E6AD803-3A90-46CA-B27E-84B1C8B806B6}" srcOrd="1" destOrd="0" presId="urn:microsoft.com/office/officeart/2005/8/layout/orgChart1"/>
    <dgm:cxn modelId="{1550637C-7033-401A-AF7B-598C4F640DF3}" type="presParOf" srcId="{C10A6FF8-4FE2-45DE-8899-2239D8CF002E}" destId="{EEE13559-A4D4-43EF-BCF8-50C56B5832A9}" srcOrd="1" destOrd="0" presId="urn:microsoft.com/office/officeart/2005/8/layout/orgChart1"/>
    <dgm:cxn modelId="{6A083767-B687-4112-A28F-8040865FCC29}" type="presParOf" srcId="{C10A6FF8-4FE2-45DE-8899-2239D8CF002E}" destId="{7FF0EB80-1A7D-4C85-A9E6-A131AF92197B}" srcOrd="2" destOrd="0" presId="urn:microsoft.com/office/officeart/2005/8/layout/orgChart1"/>
    <dgm:cxn modelId="{6C33B2A6-E7DB-49D8-B16D-3FE7F4D1A57B}" type="presParOf" srcId="{8C1EFB95-7038-4A09-B135-4700696696FE}" destId="{88027A37-BF8E-466C-A410-7F32E872963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448F16-4F24-43F9-8850-3D1E398C840B}">
      <dsp:nvSpPr>
        <dsp:cNvPr id="0" name=""/>
        <dsp:cNvSpPr/>
      </dsp:nvSpPr>
      <dsp:spPr>
        <a:xfrm>
          <a:off x="3606934" y="1663606"/>
          <a:ext cx="1742133" cy="6047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2353"/>
              </a:lnTo>
              <a:lnTo>
                <a:pt x="1742133" y="302353"/>
              </a:lnTo>
              <a:lnTo>
                <a:pt x="1742133" y="6047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FDBA44-979C-4B36-A322-680C4EC61E74}">
      <dsp:nvSpPr>
        <dsp:cNvPr id="0" name=""/>
        <dsp:cNvSpPr/>
      </dsp:nvSpPr>
      <dsp:spPr>
        <a:xfrm>
          <a:off x="1443953" y="1663606"/>
          <a:ext cx="2162980" cy="604707"/>
        </a:xfrm>
        <a:custGeom>
          <a:avLst/>
          <a:gdLst/>
          <a:ahLst/>
          <a:cxnLst/>
          <a:rect l="0" t="0" r="0" b="0"/>
          <a:pathLst>
            <a:path>
              <a:moveTo>
                <a:pt x="2162980" y="0"/>
              </a:moveTo>
              <a:lnTo>
                <a:pt x="2162980" y="302353"/>
              </a:lnTo>
              <a:lnTo>
                <a:pt x="0" y="302353"/>
              </a:lnTo>
              <a:lnTo>
                <a:pt x="0" y="60470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B5F5EB-F453-4C74-B7FD-0A95FCD0C7CA}">
      <dsp:nvSpPr>
        <dsp:cNvPr id="0" name=""/>
        <dsp:cNvSpPr/>
      </dsp:nvSpPr>
      <dsp:spPr>
        <a:xfrm>
          <a:off x="332558" y="223826"/>
          <a:ext cx="6548750" cy="143977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b="1" kern="1200" dirty="0"/>
            <a:t>Data Types</a:t>
          </a:r>
          <a:endParaRPr lang="en-IN" sz="4000" kern="1200" dirty="0"/>
        </a:p>
      </dsp:txBody>
      <dsp:txXfrm>
        <a:off x="332558" y="223826"/>
        <a:ext cx="6548750" cy="1439779"/>
      </dsp:txXfrm>
    </dsp:sp>
    <dsp:sp modelId="{AB84FBF5-D5BD-4995-BA96-8B314031EB38}">
      <dsp:nvSpPr>
        <dsp:cNvPr id="0" name=""/>
        <dsp:cNvSpPr/>
      </dsp:nvSpPr>
      <dsp:spPr>
        <a:xfrm>
          <a:off x="4173" y="2268313"/>
          <a:ext cx="2879559" cy="143977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/>
            <a:t>Value Types</a:t>
          </a:r>
        </a:p>
      </dsp:txBody>
      <dsp:txXfrm>
        <a:off x="4173" y="2268313"/>
        <a:ext cx="2879559" cy="1439779"/>
      </dsp:txXfrm>
    </dsp:sp>
    <dsp:sp modelId="{0086232E-C380-42C5-8B9B-194778217CCE}">
      <dsp:nvSpPr>
        <dsp:cNvPr id="0" name=""/>
        <dsp:cNvSpPr/>
      </dsp:nvSpPr>
      <dsp:spPr>
        <a:xfrm>
          <a:off x="3488440" y="2268313"/>
          <a:ext cx="3721254" cy="143977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satMod val="105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5000"/>
                <a:satMod val="10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000" kern="1200" dirty="0"/>
            <a:t>Reference Types</a:t>
          </a:r>
        </a:p>
      </dsp:txBody>
      <dsp:txXfrm>
        <a:off x="3488440" y="2268313"/>
        <a:ext cx="3721254" cy="14397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2F14A-41E5-456D-9382-AE46547FFA0F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B9AD1-AEBA-46F9-9C4E-A63117E78F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593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610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738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731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5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44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8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7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1835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328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630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14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8D6B500-E99C-44F5-A3C7-960139E854D9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2FB4CD1-1818-48F6-ACD3-8A062098F4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13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30AE8-DF37-BC87-17A6-5E7B49CE9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444" y="2228914"/>
            <a:ext cx="9068586" cy="2590800"/>
          </a:xfrm>
        </p:spPr>
        <p:txBody>
          <a:bodyPr/>
          <a:lstStyle/>
          <a:p>
            <a:r>
              <a:rPr lang="en-IN" sz="5400" b="1" dirty="0"/>
              <a:t>Fundamentals </a:t>
            </a:r>
            <a:br>
              <a:rPr lang="en-IN" sz="5400" b="1" dirty="0"/>
            </a:br>
            <a:r>
              <a:rPr lang="en-IN" sz="5400" b="1" dirty="0"/>
              <a:t>and </a:t>
            </a:r>
            <a:br>
              <a:rPr lang="en-IN" sz="5400" b="1" dirty="0"/>
            </a:br>
            <a:r>
              <a:rPr lang="en-IN" sz="5400" b="1" dirty="0"/>
              <a:t>Data Structures in C#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59EC5-3827-80B7-397E-2184B0E988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444" y="4927868"/>
            <a:ext cx="9070848" cy="457201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u="sng" dirty="0"/>
              <a:t>UNIT 1</a:t>
            </a:r>
            <a:endParaRPr lang="en-IN" sz="2800" b="1" u="sng" dirty="0"/>
          </a:p>
        </p:txBody>
      </p:sp>
    </p:spTree>
    <p:extLst>
      <p:ext uri="{BB962C8B-B14F-4D97-AF65-F5344CB8AC3E}">
        <p14:creationId xmlns:p14="http://schemas.microsoft.com/office/powerpoint/2010/main" val="4066998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06E3-F636-3A31-9A2D-5FE1577E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014C-ABC3-6B84-FFC0-E14810DAC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2400" dirty="0"/>
              <a:t>C# is a modern, object-oriented programming language developed by Microsoft. C# is part of the .NET ecosystem and is known for its simplicity, safety, and performance. 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IN" sz="2400" b="1" dirty="0"/>
              <a:t>Applications of C#:</a:t>
            </a:r>
            <a:endParaRPr lang="en-IN" sz="2400" dirty="0"/>
          </a:p>
          <a:p>
            <a:pPr lvl="0" algn="just">
              <a:spcBef>
                <a:spcPts val="600"/>
              </a:spcBef>
            </a:pPr>
            <a:r>
              <a:rPr lang="en-IN" sz="2400" dirty="0"/>
              <a:t>Desktop Applications</a:t>
            </a:r>
          </a:p>
          <a:p>
            <a:pPr lvl="0" algn="just">
              <a:spcBef>
                <a:spcPts val="600"/>
              </a:spcBef>
            </a:pPr>
            <a:r>
              <a:rPr lang="en-IN" sz="2400" dirty="0"/>
              <a:t>Web Applications</a:t>
            </a:r>
          </a:p>
          <a:p>
            <a:pPr lvl="0" algn="just">
              <a:spcBef>
                <a:spcPts val="600"/>
              </a:spcBef>
            </a:pPr>
            <a:r>
              <a:rPr lang="en-IN" sz="2400" dirty="0"/>
              <a:t>Mobile Applications </a:t>
            </a:r>
          </a:p>
          <a:p>
            <a:pPr lvl="0" algn="just">
              <a:spcBef>
                <a:spcPts val="600"/>
              </a:spcBef>
            </a:pPr>
            <a:r>
              <a:rPr lang="en-IN" sz="2400" dirty="0"/>
              <a:t>Game Development </a:t>
            </a:r>
          </a:p>
          <a:p>
            <a:pPr lvl="0" algn="just">
              <a:spcBef>
                <a:spcPts val="600"/>
              </a:spcBef>
            </a:pPr>
            <a:r>
              <a:rPr lang="en-IN" sz="2400" dirty="0"/>
              <a:t>Cloud-Based Applications </a:t>
            </a:r>
          </a:p>
          <a:p>
            <a:pPr lvl="0" algn="just">
              <a:spcBef>
                <a:spcPts val="600"/>
              </a:spcBef>
            </a:pPr>
            <a:r>
              <a:rPr lang="en-IN" sz="2400" dirty="0"/>
              <a:t>IoT and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2699853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94DA-A033-C6EE-1F73-EF95D1E5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36" y="376982"/>
            <a:ext cx="10058400" cy="7851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Evolution from C# 1.0 to C# 13 (2024)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27EEB9-28AE-4323-0453-04967739E7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2148232"/>
              </p:ext>
            </p:extLst>
          </p:nvPr>
        </p:nvGraphicFramePr>
        <p:xfrm>
          <a:off x="569494" y="1620253"/>
          <a:ext cx="11053011" cy="473836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684337">
                  <a:extLst>
                    <a:ext uri="{9D8B030D-6E8A-4147-A177-3AD203B41FA5}">
                      <a16:colId xmlns:a16="http://schemas.microsoft.com/office/drawing/2014/main" val="1990371564"/>
                    </a:ext>
                  </a:extLst>
                </a:gridCol>
                <a:gridCol w="3684337">
                  <a:extLst>
                    <a:ext uri="{9D8B030D-6E8A-4147-A177-3AD203B41FA5}">
                      <a16:colId xmlns:a16="http://schemas.microsoft.com/office/drawing/2014/main" val="2278410460"/>
                    </a:ext>
                  </a:extLst>
                </a:gridCol>
                <a:gridCol w="3684337">
                  <a:extLst>
                    <a:ext uri="{9D8B030D-6E8A-4147-A177-3AD203B41FA5}">
                      <a16:colId xmlns:a16="http://schemas.microsoft.com/office/drawing/2014/main" val="233846813"/>
                    </a:ext>
                  </a:extLst>
                </a:gridCol>
              </a:tblGrid>
              <a:tr h="5820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Version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Year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Main Improvement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170625581"/>
                  </a:ext>
                </a:extLst>
              </a:tr>
              <a:tr h="58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C# 1.0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2002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Basic Object-Oriented Language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1014183941"/>
                  </a:ext>
                </a:extLst>
              </a:tr>
              <a:tr h="58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2.0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2005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Generics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1837499201"/>
                  </a:ext>
                </a:extLst>
              </a:tr>
              <a:tr h="58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C# 3.0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2007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LINQ, Lambda Expressions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1876602482"/>
                  </a:ext>
                </a:extLst>
              </a:tr>
              <a:tr h="58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4.0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2010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Dynamic Type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1184965229"/>
                  </a:ext>
                </a:extLst>
              </a:tr>
              <a:tr h="58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5.0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2012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Async and Await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2852030310"/>
                  </a:ext>
                </a:extLst>
              </a:tr>
              <a:tr h="5820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C# 6.0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2015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Simpler Syntax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2145119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6294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E3B0-7272-6497-9D71-D710315FF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D3A30-BCA8-B5B3-8101-25C40F87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36" y="376982"/>
            <a:ext cx="10058400" cy="78515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Evolution from C# 1.0 to C# 13 (2024)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80354D-C326-B87B-AD97-3238EDAE1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872064"/>
              </p:ext>
            </p:extLst>
          </p:nvPr>
        </p:nvGraphicFramePr>
        <p:xfrm>
          <a:off x="1066800" y="1162135"/>
          <a:ext cx="10058400" cy="517788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191889500"/>
                    </a:ext>
                  </a:extLst>
                </a:gridCol>
                <a:gridCol w="2342147">
                  <a:extLst>
                    <a:ext uri="{9D8B030D-6E8A-4147-A177-3AD203B41FA5}">
                      <a16:colId xmlns:a16="http://schemas.microsoft.com/office/drawing/2014/main" val="983967371"/>
                    </a:ext>
                  </a:extLst>
                </a:gridCol>
                <a:gridCol w="5430253">
                  <a:extLst>
                    <a:ext uri="{9D8B030D-6E8A-4147-A177-3AD203B41FA5}">
                      <a16:colId xmlns:a16="http://schemas.microsoft.com/office/drawing/2014/main" val="925691099"/>
                    </a:ext>
                  </a:extLst>
                </a:gridCol>
              </a:tblGrid>
              <a:tr h="476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Version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Year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Main Improvement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2684131424"/>
                  </a:ext>
                </a:extLst>
              </a:tr>
              <a:tr h="476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C# 7.0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2017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Tuples, Pattern Matching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3965825630"/>
                  </a:ext>
                </a:extLst>
              </a:tr>
              <a:tr h="476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8.0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2019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Nullable Reference Types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2485532860"/>
                  </a:ext>
                </a:extLst>
              </a:tr>
              <a:tr h="476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9.0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2020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Records, Init Properties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1414636941"/>
                  </a:ext>
                </a:extLst>
              </a:tr>
              <a:tr h="88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10.0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2021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Global Using, File-Scoped Namespace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566258596"/>
                  </a:ext>
                </a:extLst>
              </a:tr>
              <a:tr h="88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11.0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2022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Required Members, Raw String Literals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4059405657"/>
                  </a:ext>
                </a:extLst>
              </a:tr>
              <a:tr h="4765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12.0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2023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Primary Constructors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4277924023"/>
                  </a:ext>
                </a:extLst>
              </a:tr>
              <a:tr h="884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C# 13.0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2024</a:t>
                      </a:r>
                    </a:p>
                  </a:txBody>
                  <a:tcPr marL="60496" marR="60496" marT="30248" marB="302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Collection Improvements and Better Performance</a:t>
                      </a:r>
                    </a:p>
                  </a:txBody>
                  <a:tcPr marL="60496" marR="60496" marT="30248" marB="30248" anchor="ctr"/>
                </a:tc>
                <a:extLst>
                  <a:ext uri="{0D108BD9-81ED-4DB2-BD59-A6C34878D82A}">
                    <a16:rowId xmlns:a16="http://schemas.microsoft.com/office/drawing/2014/main" val="2459215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967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97ECD-C7D9-DE93-7E5A-8EC2C725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CLR, CLS, CTS: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5006C4-F0A1-14DE-00B6-53C1FCEB9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594780"/>
              </p:ext>
            </p:extLst>
          </p:nvPr>
        </p:nvGraphicFramePr>
        <p:xfrm>
          <a:off x="1195137" y="2133274"/>
          <a:ext cx="10058400" cy="408213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49144798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8905026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172057764"/>
                    </a:ext>
                  </a:extLst>
                </a:gridCol>
              </a:tblGrid>
              <a:tr h="5102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Full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5224833"/>
                  </a:ext>
                </a:extLst>
              </a:tr>
              <a:tr h="9184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CLR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Common Language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Executes .NET programs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464175"/>
                  </a:ext>
                </a:extLst>
              </a:tr>
              <a:tr h="132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Common Language Specification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Defines rules so all .NET languages can work together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0422778"/>
                  </a:ext>
                </a:extLst>
              </a:tr>
              <a:tr h="13266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Common Type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Defines common data types used by all .NET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9008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33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C972-4B43-2623-7CEF-B9F14672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Execution of C# Program: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51AA-44C6-4C0D-0832-BA31D2BFF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sz="2400" b="1" dirty="0"/>
              <a:t>Source Code (.cs file) –</a:t>
            </a:r>
            <a:r>
              <a:rPr lang="en-IN" sz="2400" dirty="0"/>
              <a:t> The programmer writes C# code.</a:t>
            </a:r>
          </a:p>
          <a:p>
            <a:pPr lvl="0" algn="just"/>
            <a:r>
              <a:rPr lang="en-IN" sz="2400" b="1" dirty="0"/>
              <a:t>Compilation – </a:t>
            </a:r>
            <a:r>
              <a:rPr lang="en-IN" sz="2400" dirty="0"/>
              <a:t>The C# compiler (csc.exe) compiles the code into Intermediate Language (IL).</a:t>
            </a:r>
          </a:p>
          <a:p>
            <a:pPr lvl="0" algn="just"/>
            <a:r>
              <a:rPr lang="en-IN" sz="2400" b="1" dirty="0"/>
              <a:t>.NET Runtime (CLR) – </a:t>
            </a:r>
            <a:r>
              <a:rPr lang="en-IN" sz="2400" dirty="0"/>
              <a:t>The Common Language Runtime (CLR) executes the IL code using Just-In-Time (JIT) compilation.</a:t>
            </a:r>
          </a:p>
          <a:p>
            <a:pPr lvl="0" algn="just"/>
            <a:r>
              <a:rPr lang="en-IN" sz="2400" b="1" dirty="0"/>
              <a:t>Execution – </a:t>
            </a:r>
            <a:r>
              <a:rPr lang="en-IN" sz="2400" dirty="0"/>
              <a:t>The program runs on the machine, with memory and security managed by the CLR.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567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B36A-417A-B582-B865-E306BD04F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Role of CLR: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F9CED-71AF-EB1C-F3BE-63CFF8068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b="1" dirty="0"/>
              <a:t>CLR (Common Language Runtime)</a:t>
            </a:r>
            <a:r>
              <a:rPr lang="en-IN" sz="2800" dirty="0"/>
              <a:t> is the </a:t>
            </a:r>
            <a:r>
              <a:rPr lang="en-IN" sz="2800" b="1" dirty="0"/>
              <a:t>execution engine of .NET</a:t>
            </a:r>
            <a:r>
              <a:rPr lang="en-IN" sz="2800" dirty="0"/>
              <a:t>. </a:t>
            </a:r>
          </a:p>
          <a:p>
            <a:pPr marL="0" indent="0" algn="just">
              <a:buNone/>
            </a:pPr>
            <a:r>
              <a:rPr lang="en-IN" sz="2800" dirty="0"/>
              <a:t>CLR is the runtime environment that executes .NET applications and provides services such as memory management, security, exception handling, and garbage collection</a:t>
            </a:r>
          </a:p>
        </p:txBody>
      </p:sp>
    </p:spTree>
    <p:extLst>
      <p:ext uri="{BB962C8B-B14F-4D97-AF65-F5344CB8AC3E}">
        <p14:creationId xmlns:p14="http://schemas.microsoft.com/office/powerpoint/2010/main" val="3020276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D341-A9F9-F6FB-B978-EBF07A120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Difference between CLS and CTS.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C89653-06C0-1FE4-E722-90CD261AA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83948"/>
              </p:ext>
            </p:extLst>
          </p:nvPr>
        </p:nvGraphicFramePr>
        <p:xfrm>
          <a:off x="1066800" y="1718585"/>
          <a:ext cx="10058400" cy="473396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0934897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81164016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277002605"/>
                    </a:ext>
                  </a:extLst>
                </a:gridCol>
              </a:tblGrid>
              <a:tr h="4111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IN" sz="2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CLS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263404"/>
                  </a:ext>
                </a:extLst>
              </a:tr>
              <a:tr h="411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Full 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Common Language Specification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Common Type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6908786"/>
                  </a:ext>
                </a:extLst>
              </a:tr>
              <a:tr h="71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Defines rules for .NET languages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Defines common data types for .NET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531818"/>
                  </a:ext>
                </a:extLst>
              </a:tr>
              <a:tr h="4111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Language compatibility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Type compatibility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905217"/>
                  </a:ext>
                </a:extLst>
              </a:tr>
              <a:tr h="71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Used 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Language developers and programmers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All .NET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1406073"/>
                  </a:ext>
                </a:extLst>
              </a:tr>
              <a:tr h="71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Ensures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Code written in one .NET language can be used by another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All .NET languages use the same data types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5464548"/>
                  </a:ext>
                </a:extLst>
              </a:tr>
              <a:tr h="719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Public class can be used in C#, VB.NET,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int, string, bool, double behave consistently across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292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52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ED4C7-1DB9-D44A-491D-A735A9BFE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Key Features: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15036-7CB2-01FB-F878-DD4BF860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617220" lvl="1" indent="-342900" algn="just">
              <a:buFont typeface="+mj-lt"/>
              <a:buAutoNum type="arabicPeriod"/>
            </a:pPr>
            <a:r>
              <a:rPr lang="en-IN" sz="2800" b="1" dirty="0"/>
              <a:t>OOPS: </a:t>
            </a:r>
            <a:r>
              <a:rPr lang="en-US" sz="2800" dirty="0"/>
              <a:t>C# is an Object-Oriented Programming language that uses classes and objects to organize code.</a:t>
            </a:r>
            <a:endParaRPr lang="en-IN" sz="2800" dirty="0"/>
          </a:p>
          <a:p>
            <a:pPr marL="617220" lvl="1" indent="-342900" algn="just">
              <a:buFont typeface="+mj-lt"/>
              <a:buAutoNum type="arabicPeriod"/>
            </a:pPr>
            <a:r>
              <a:rPr lang="en-IN" sz="2800" b="1" dirty="0"/>
              <a:t>Simplicity: </a:t>
            </a:r>
            <a:r>
              <a:rPr lang="en-US" sz="2800" dirty="0"/>
              <a:t>It is simple because its syntax is easy to learn and understand.</a:t>
            </a:r>
            <a:endParaRPr lang="en-IN" sz="2800" dirty="0"/>
          </a:p>
          <a:p>
            <a:pPr marL="617220" lvl="1" indent="-342900" algn="just">
              <a:buFont typeface="+mj-lt"/>
              <a:buAutoNum type="arabicPeriod"/>
            </a:pPr>
            <a:r>
              <a:rPr lang="en-IN" sz="2800" b="1" dirty="0"/>
              <a:t>Security: </a:t>
            </a:r>
            <a:r>
              <a:rPr lang="en-US" sz="2800" dirty="0"/>
              <a:t>It is secure because it provides features that protect applications from unsafe operations and unauthorized access.</a:t>
            </a:r>
            <a:endParaRPr lang="en-IN" sz="2800" dirty="0"/>
          </a:p>
          <a:p>
            <a:pPr marL="617220" lvl="1" indent="-342900" algn="just">
              <a:buFont typeface="+mj-lt"/>
              <a:buAutoNum type="arabicPeriod"/>
            </a:pPr>
            <a:r>
              <a:rPr lang="en-IN" sz="2800" b="1" dirty="0"/>
              <a:t>Type-safe: </a:t>
            </a:r>
            <a:r>
              <a:rPr lang="en-US" sz="2800" dirty="0"/>
              <a:t>It checks that variables store only the correct type of data.</a:t>
            </a:r>
            <a:endParaRPr lang="en-IN" sz="2800" dirty="0"/>
          </a:p>
          <a:p>
            <a:pPr marL="617220" lvl="1" indent="-342900" algn="just">
              <a:buFont typeface="+mj-lt"/>
              <a:buAutoNum type="arabicPeriod"/>
            </a:pPr>
            <a:r>
              <a:rPr lang="en-IN" sz="2800" b="1" dirty="0"/>
              <a:t>Robustness: </a:t>
            </a:r>
            <a:r>
              <a:rPr lang="en-US" sz="2800" dirty="0"/>
              <a:t>It provides exception handling and automatic memory management, making programs reliable.</a:t>
            </a:r>
            <a:endParaRPr lang="en-IN" sz="2800" dirty="0"/>
          </a:p>
          <a:p>
            <a:pPr marL="617220" lvl="1" indent="-342900" algn="just">
              <a:buFont typeface="+mj-lt"/>
              <a:buAutoNum type="arabicPeriod"/>
            </a:pPr>
            <a:r>
              <a:rPr lang="en-IN" sz="2800" b="1" dirty="0"/>
              <a:t>Portability: </a:t>
            </a:r>
            <a:r>
              <a:rPr lang="en-US" sz="2800" dirty="0"/>
              <a:t>C# is portable because the same program can run on Windows, Linux, and macOS with .NET.</a:t>
            </a:r>
            <a:endParaRPr lang="en-IN" sz="2800" dirty="0"/>
          </a:p>
          <a:p>
            <a:pPr marL="617220" lvl="1" indent="-342900" algn="just">
              <a:buFont typeface="+mj-lt"/>
              <a:buAutoNum type="arabicPeriod"/>
            </a:pPr>
            <a:r>
              <a:rPr lang="en-IN" sz="2800" b="1" dirty="0"/>
              <a:t>High Performance: </a:t>
            </a:r>
            <a:r>
              <a:rPr lang="en-US" sz="2800" dirty="0"/>
              <a:t>C# offers high performance because the JIT compiler converts IL into optimized machine code for faster execution.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25487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CA4AD-8724-3E4B-72E9-1C7EA1A0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2566-7DE0-D55D-ED1C-2D4EA751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Types: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51FEF-4C41-4DCD-672C-59D7FF8B1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19"/>
            <a:ext cx="10058400" cy="43778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600" dirty="0"/>
              <a:t>A </a:t>
            </a:r>
            <a:r>
              <a:rPr lang="en-IN" sz="2600" b="1" dirty="0"/>
              <a:t>Data Type</a:t>
            </a:r>
            <a:r>
              <a:rPr lang="en-IN" sz="2600" dirty="0"/>
              <a:t> specifies:</a:t>
            </a:r>
          </a:p>
          <a:p>
            <a:r>
              <a:rPr lang="en-IN" sz="2600" dirty="0"/>
              <a:t>What kind of data a variable can store </a:t>
            </a:r>
          </a:p>
          <a:p>
            <a:r>
              <a:rPr lang="en-IN" sz="2600" dirty="0"/>
              <a:t>How much memory should be allocated </a:t>
            </a:r>
          </a:p>
          <a:p>
            <a:r>
              <a:rPr lang="en-IN" sz="2600" dirty="0"/>
              <a:t>What operations can be performed on that data</a:t>
            </a:r>
          </a:p>
          <a:p>
            <a:endParaRPr lang="en-IN" sz="2600" dirty="0"/>
          </a:p>
          <a:p>
            <a:pPr marL="0" indent="0">
              <a:buNone/>
            </a:pPr>
            <a:r>
              <a:rPr lang="en-IN" sz="2600" dirty="0"/>
              <a:t>Example: int age = 21;</a:t>
            </a:r>
          </a:p>
          <a:p>
            <a:pPr marL="0" indent="0">
              <a:buNone/>
            </a:pPr>
            <a:r>
              <a:rPr lang="en-IN" sz="2600" dirty="0"/>
              <a:t>Example: bool </a:t>
            </a:r>
            <a:r>
              <a:rPr lang="en-IN" sz="2600" dirty="0" err="1"/>
              <a:t>isPassed</a:t>
            </a:r>
            <a:r>
              <a:rPr lang="en-IN" sz="2600" dirty="0"/>
              <a:t> = true;</a:t>
            </a:r>
          </a:p>
          <a:p>
            <a:pPr marL="0" indent="0">
              <a:buNone/>
            </a:pPr>
            <a:r>
              <a:rPr lang="en-IN" sz="2600" dirty="0"/>
              <a:t>The variable stores either</a:t>
            </a:r>
          </a:p>
          <a:p>
            <a:r>
              <a:rPr lang="en-IN" sz="2600" dirty="0"/>
              <a:t>true </a:t>
            </a:r>
          </a:p>
          <a:p>
            <a:r>
              <a:rPr lang="en-IN" sz="2600" dirty="0"/>
              <a:t>false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63531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39E5-2327-5F78-2B24-4485ACF42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09A41-E920-043C-DC5F-A7AB5D91A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sz="2400" dirty="0"/>
              <a:t>A variable is a named memory location used to store data.</a:t>
            </a:r>
          </a:p>
          <a:p>
            <a:pPr marL="0" indent="0">
              <a:buNone/>
            </a:pPr>
            <a:r>
              <a:rPr lang="en-IN" sz="2400" dirty="0"/>
              <a:t>Declaring (Creating) Variables:</a:t>
            </a:r>
          </a:p>
          <a:p>
            <a:pPr marL="0" indent="0">
              <a:buNone/>
            </a:pPr>
            <a:r>
              <a:rPr lang="en-US" sz="2400" dirty="0"/>
              <a:t>Syntax: type </a:t>
            </a:r>
            <a:r>
              <a:rPr lang="en-US" sz="2400" dirty="0" err="1"/>
              <a:t>variableName</a:t>
            </a:r>
            <a:r>
              <a:rPr lang="en-US" sz="2400" dirty="0"/>
              <a:t> = value;</a:t>
            </a:r>
          </a:p>
          <a:p>
            <a:pPr marL="0" indent="0">
              <a:buNone/>
            </a:pPr>
            <a:r>
              <a:rPr lang="en-US" sz="2400" dirty="0"/>
              <a:t>Ex: char grade = 'A';</a:t>
            </a:r>
          </a:p>
          <a:p>
            <a:pPr marL="0" indent="0" fontAlgn="base">
              <a:buNone/>
            </a:pPr>
            <a:r>
              <a:rPr lang="en-IN" sz="2400" b="1" dirty="0"/>
              <a:t>Rules for Naming Variables</a:t>
            </a:r>
          </a:p>
          <a:p>
            <a:r>
              <a:rPr lang="en-IN" dirty="0"/>
              <a:t>Variable names must be unique.</a:t>
            </a:r>
          </a:p>
          <a:p>
            <a:r>
              <a:rPr lang="en-IN" dirty="0"/>
              <a:t>Variable names can contain letters, digits, and the underscore _ only.</a:t>
            </a:r>
          </a:p>
          <a:p>
            <a:r>
              <a:rPr lang="en-IN" dirty="0"/>
              <a:t>Variable names must start with a letter.</a:t>
            </a:r>
          </a:p>
          <a:p>
            <a:r>
              <a:rPr lang="en-IN" dirty="0"/>
              <a:t>Variable names cannot start with a digit.</a:t>
            </a:r>
          </a:p>
          <a:p>
            <a:r>
              <a:rPr lang="en-IN" dirty="0"/>
              <a:t>Variable names are case-sensitive, </a:t>
            </a:r>
            <a:r>
              <a:rPr lang="en-IN" dirty="0" err="1"/>
              <a:t>num</a:t>
            </a:r>
            <a:r>
              <a:rPr lang="en-IN" dirty="0"/>
              <a:t> and Num are considered different names.</a:t>
            </a:r>
          </a:p>
          <a:p>
            <a:r>
              <a:rPr lang="en-IN" dirty="0"/>
              <a:t>Variable names cannot contain reserved keywords. Must prefix @ before keyword if want reserve keywords as identifiers.</a:t>
            </a:r>
          </a:p>
          <a:p>
            <a:pPr fontAlgn="base"/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1072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104F-93EF-73E9-0BB1-DEF845610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4FE72-E35B-D4E7-5ED3-002C77AFA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C# divides data types into two major categories: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106D66C-5708-3D75-D7EC-06C0E3E4BB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5091184"/>
              </p:ext>
            </p:extLst>
          </p:nvPr>
        </p:nvGraphicFramePr>
        <p:xfrm>
          <a:off x="1448869" y="2669514"/>
          <a:ext cx="7213868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4079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B6024-F75D-0D74-1B6B-7E8E96C0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a. Value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9AE94-D7F8-2D7B-2713-C3430C841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04372"/>
            <a:ext cx="10058400" cy="70857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 Value Type stores the </a:t>
            </a:r>
            <a:r>
              <a:rPr lang="en-IN" b="1" dirty="0"/>
              <a:t>actual value directly inside the variable</a:t>
            </a:r>
            <a:r>
              <a:rPr lang="en-IN" dirty="0"/>
              <a:t>. There is no separate object. The variable itself contains the data.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44967F-0AAF-F5BE-BB1C-DA1553103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288457"/>
              </p:ext>
            </p:extLst>
          </p:nvPr>
        </p:nvGraphicFramePr>
        <p:xfrm>
          <a:off x="1524000" y="2325859"/>
          <a:ext cx="9144000" cy="409127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28284768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606930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45324050"/>
                    </a:ext>
                  </a:extLst>
                </a:gridCol>
              </a:tblGrid>
              <a:tr h="4091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Data Type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Stores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Example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2859223551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Integer numbers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25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1076621515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float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Decimal numbers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25.5f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4149571815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double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Large decimal numbers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25.567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3489602811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decimal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Financial values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999.99m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253485227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char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One character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'A'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926818553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bool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True or False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true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4142470685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byte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Small integers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255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3701338883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short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Small integer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32000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3902770193"/>
                  </a:ext>
                </a:extLst>
              </a:tr>
              <a:tr h="4091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long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Large integer</a:t>
                      </a:r>
                    </a:p>
                  </a:txBody>
                  <a:tcPr marL="89369" marR="89369" marT="44685" marB="446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999999999L</a:t>
                      </a:r>
                    </a:p>
                  </a:txBody>
                  <a:tcPr marL="89369" marR="89369" marT="44685" marB="44685" anchor="ctr"/>
                </a:tc>
                <a:extLst>
                  <a:ext uri="{0D108BD9-81ED-4DB2-BD59-A6C34878D82A}">
                    <a16:rowId xmlns:a16="http://schemas.microsoft.com/office/drawing/2014/main" val="233589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109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1C76-3382-EB08-87F6-8EB8BD4D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Reference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7F030-04EE-0548-26CC-EE1A9AF8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A </a:t>
            </a:r>
            <a:r>
              <a:rPr lang="en-IN" sz="2400" b="1" dirty="0"/>
              <a:t>Reference Type</a:t>
            </a:r>
            <a:r>
              <a:rPr lang="en-IN" sz="2400" dirty="0"/>
              <a:t> does not store the actual object. Instead, it stores the memory address (reference) where the object is located. The actual object is stored elsewhere in memory (commonly on the heap).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7198B5-EEB4-9DB3-8BC9-441DEAC6860E}"/>
              </a:ext>
            </a:extLst>
          </p:cNvPr>
          <p:cNvGraphicFramePr>
            <a:graphicFrameLocks noGrp="1"/>
          </p:cNvGraphicFramePr>
          <p:nvPr/>
        </p:nvGraphicFramePr>
        <p:xfrm>
          <a:off x="2194560" y="3289326"/>
          <a:ext cx="6979920" cy="316992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489960">
                  <a:extLst>
                    <a:ext uri="{9D8B030D-6E8A-4147-A177-3AD203B41FA5}">
                      <a16:colId xmlns:a16="http://schemas.microsoft.com/office/drawing/2014/main" val="287011177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1779602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611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"Hello"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293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Student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02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array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int[]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38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object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549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 err="1"/>
                        <a:t>IDisposable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429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delegate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5141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record (class)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Person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3346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638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E56B5-9EF5-71A2-3197-F93725C5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Copying a Reference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456AF-AE52-6EE7-3D72-8ABB4A3ED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2069485"/>
            <a:ext cx="4754880" cy="43129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Consider this class:</a:t>
            </a:r>
          </a:p>
          <a:p>
            <a:pPr marL="0" indent="0">
              <a:buNone/>
            </a:pPr>
            <a:r>
              <a:rPr lang="en-IN" sz="2400" dirty="0"/>
              <a:t>class Student</a:t>
            </a:r>
            <a:br>
              <a:rPr lang="en-IN" sz="2400" dirty="0"/>
            </a:br>
            <a:r>
              <a:rPr lang="en-IN" sz="2400" dirty="0"/>
              <a:t>{</a:t>
            </a:r>
            <a:br>
              <a:rPr lang="en-IN" sz="2400" dirty="0"/>
            </a:br>
            <a:r>
              <a:rPr lang="en-IN" sz="2400" dirty="0"/>
              <a:t>    public string Name;</a:t>
            </a:r>
            <a:br>
              <a:rPr lang="en-IN" sz="2400" dirty="0"/>
            </a:br>
            <a:r>
              <a:rPr lang="en-IN" sz="2400" dirty="0"/>
              <a:t>}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Now create an object:</a:t>
            </a:r>
          </a:p>
          <a:p>
            <a:pPr marL="0" indent="0">
              <a:buNone/>
            </a:pPr>
            <a:r>
              <a:rPr lang="en-IN" sz="2400" dirty="0"/>
              <a:t>Student s1 = new Student();</a:t>
            </a:r>
            <a:br>
              <a:rPr lang="en-IN" sz="2400" dirty="0"/>
            </a:br>
            <a:r>
              <a:rPr lang="en-IN" sz="2400" dirty="0"/>
              <a:t>s1.Name = "Alice";</a:t>
            </a:r>
            <a:br>
              <a:rPr lang="en-IN" sz="2400" dirty="0"/>
            </a:br>
            <a:r>
              <a:rPr lang="en-IN" sz="2400" dirty="0"/>
              <a:t>Student s2 = s1;</a:t>
            </a:r>
          </a:p>
          <a:p>
            <a:pPr marL="0" indent="0">
              <a:buNone/>
            </a:pPr>
            <a:r>
              <a:rPr lang="en-IN" sz="2400" dirty="0"/>
              <a:t>Both variables point to the same object.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4FBE9-4247-DA1B-97B6-9ADB319B29D3}"/>
              </a:ext>
            </a:extLst>
          </p:cNvPr>
          <p:cNvSpPr txBox="1"/>
          <p:nvPr/>
        </p:nvSpPr>
        <p:spPr>
          <a:xfrm>
            <a:off x="5943600" y="2148453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Now change the value:</a:t>
            </a:r>
          </a:p>
          <a:p>
            <a:pPr rtl="0">
              <a:buNone/>
            </a:pPr>
            <a:r>
              <a:rPr lang="en-IN" sz="2400" dirty="0"/>
              <a:t>s2.Name = "Bob";</a:t>
            </a:r>
          </a:p>
          <a:p>
            <a:pPr>
              <a:buNone/>
            </a:pPr>
            <a:r>
              <a:rPr lang="en-IN" sz="2400" dirty="0"/>
              <a:t>Output:</a:t>
            </a:r>
          </a:p>
          <a:p>
            <a:pPr rtl="0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(s1.Name);</a:t>
            </a:r>
            <a:br>
              <a:rPr lang="en-IN" sz="2400" dirty="0"/>
            </a:br>
            <a:r>
              <a:rPr lang="en-IN" sz="2400" dirty="0" err="1"/>
              <a:t>Console.WriteLine</a:t>
            </a:r>
            <a:r>
              <a:rPr lang="en-IN" sz="2400" dirty="0"/>
              <a:t>(s2.Name);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Output:</a:t>
            </a:r>
          </a:p>
          <a:p>
            <a:pPr rtl="0">
              <a:buNone/>
            </a:pPr>
            <a:r>
              <a:rPr lang="en-IN" sz="2400" dirty="0"/>
              <a:t>Bob</a:t>
            </a:r>
            <a:br>
              <a:rPr lang="en-IN" sz="2400" dirty="0"/>
            </a:br>
            <a:r>
              <a:rPr lang="en-IN" sz="2400" dirty="0" err="1"/>
              <a:t>Bob</a:t>
            </a:r>
            <a:endParaRPr lang="en-IN" sz="2400" dirty="0"/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dirty="0"/>
              <a:t>Because both variables refer to the same object.</a:t>
            </a:r>
          </a:p>
        </p:txBody>
      </p:sp>
    </p:spTree>
    <p:extLst>
      <p:ext uri="{BB962C8B-B14F-4D97-AF65-F5344CB8AC3E}">
        <p14:creationId xmlns:p14="http://schemas.microsoft.com/office/powerpoint/2010/main" val="2861492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36FF-3805-7663-E87A-5159EE2A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Nullable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FA737-2AC7-EF69-5CF3-A18B50958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4194"/>
            <a:ext cx="10058400" cy="4559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Value types cannot store null.</a:t>
            </a:r>
          </a:p>
          <a:p>
            <a:pPr marL="0" indent="0">
              <a:buNone/>
            </a:pPr>
            <a:r>
              <a:rPr lang="en-IN" b="1" dirty="0"/>
              <a:t>Example: </a:t>
            </a:r>
            <a:r>
              <a:rPr lang="en-IN" dirty="0"/>
              <a:t>int age = null;</a:t>
            </a:r>
          </a:p>
          <a:p>
            <a:pPr marL="0" indent="0" algn="just">
              <a:buNone/>
            </a:pPr>
            <a:r>
              <a:rPr lang="en-IN" dirty="0"/>
              <a:t>This causes a compile-time error because int must always contain a valid integer. However, sometimes a value may be unknown. </a:t>
            </a:r>
            <a:r>
              <a:rPr lang="en-IN" b="1" dirty="0"/>
              <a:t>Example: </a:t>
            </a:r>
            <a:r>
              <a:rPr lang="en-IN" dirty="0"/>
              <a:t>Salary not decided, Date of joining not available, Marks not entered yet, For such situations, C# provides </a:t>
            </a:r>
            <a:r>
              <a:rPr lang="en-IN" b="1" dirty="0"/>
              <a:t>Nullable Types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Syntax: </a:t>
            </a:r>
            <a:r>
              <a:rPr lang="en-IN" dirty="0"/>
              <a:t>int? age = null;</a:t>
            </a:r>
          </a:p>
          <a:p>
            <a:pPr marL="0" indent="0">
              <a:buNone/>
            </a:pPr>
            <a:r>
              <a:rPr lang="en-IN" dirty="0"/>
              <a:t>or</a:t>
            </a:r>
          </a:p>
          <a:p>
            <a:pPr marL="0" indent="0">
              <a:buNone/>
            </a:pPr>
            <a:r>
              <a:rPr lang="en-IN" dirty="0"/>
              <a:t>Nullable&lt;int&gt; age = null;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</a:t>
            </a:r>
          </a:p>
          <a:p>
            <a:pPr marL="0" indent="0">
              <a:buNone/>
            </a:pPr>
            <a:r>
              <a:rPr lang="en-IN" dirty="0"/>
              <a:t>int? age = null;</a:t>
            </a:r>
            <a:br>
              <a:rPr lang="en-IN" dirty="0"/>
            </a:br>
            <a:r>
              <a:rPr lang="en-IN" dirty="0" err="1"/>
              <a:t>Console.WriteLine</a:t>
            </a:r>
            <a:r>
              <a:rPr lang="en-IN" dirty="0"/>
              <a:t>(age);</a:t>
            </a:r>
          </a:p>
        </p:txBody>
      </p:sp>
    </p:spTree>
    <p:extLst>
      <p:ext uri="{BB962C8B-B14F-4D97-AF65-F5344CB8AC3E}">
        <p14:creationId xmlns:p14="http://schemas.microsoft.com/office/powerpoint/2010/main" val="4041886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10668-5890-907D-7DB3-AA4EDC54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8803-46CC-8010-C631-4C7D8D59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Control Structures: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64980-5CE5-A276-34CB-59B07D20E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607040" cy="41122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200" dirty="0"/>
              <a:t>Control statements in C# are essential for controlling the flow of execution in a program. They allow you to make decisions, execute code conditionally, and repeat code blocks. </a:t>
            </a:r>
          </a:p>
          <a:p>
            <a:pPr marL="0" indent="0" algn="just">
              <a:buNone/>
            </a:pPr>
            <a:r>
              <a:rPr lang="en-IN" sz="3200" b="1" dirty="0"/>
              <a:t>There are two major categories:</a:t>
            </a:r>
          </a:p>
          <a:p>
            <a:pPr marL="742950" indent="-742950" algn="just">
              <a:buAutoNum type="arabicPeriod"/>
            </a:pPr>
            <a:r>
              <a:rPr lang="en-IN" sz="3200" b="1" dirty="0"/>
              <a:t>Decision Making: </a:t>
            </a:r>
            <a:r>
              <a:rPr lang="en-IN" sz="3200" dirty="0"/>
              <a:t>if, else, switch</a:t>
            </a:r>
          </a:p>
          <a:p>
            <a:pPr marL="742950" indent="-742950" algn="just">
              <a:buAutoNum type="arabicPeriod"/>
            </a:pPr>
            <a:r>
              <a:rPr lang="en-IN" sz="3200" b="1" dirty="0"/>
              <a:t>Looping Statements: </a:t>
            </a:r>
            <a:r>
              <a:rPr lang="en-IN" sz="3200" dirty="0"/>
              <a:t>While, do-while, for, for each</a:t>
            </a:r>
          </a:p>
          <a:p>
            <a:pPr marL="0" indent="0" algn="just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7939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AC337-D37B-EABA-3D7A-0FB186F05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704AF-12FE-0E43-1E63-23CB0095F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if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D3839-A18F-7999-83A7-9E14FE6CD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dirty="0"/>
              <a:t>The </a:t>
            </a:r>
            <a:r>
              <a:rPr lang="en-IN" dirty="0"/>
              <a:t>if</a:t>
            </a:r>
            <a:r>
              <a:rPr lang="en-IN" sz="2400" dirty="0"/>
              <a:t> statement executes a block of code </a:t>
            </a:r>
            <a:r>
              <a:rPr lang="en-IN" sz="2400" b="1" dirty="0"/>
              <a:t>only if a condition is true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b="1" dirty="0"/>
              <a:t>Syntax:</a:t>
            </a:r>
          </a:p>
          <a:p>
            <a:pPr marL="0" indent="0">
              <a:buNone/>
            </a:pPr>
            <a:r>
              <a:rPr lang="en-IN" dirty="0"/>
              <a:t>if (condition)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// Code to execute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sz="2400" b="1" dirty="0"/>
              <a:t>Ex: </a:t>
            </a:r>
            <a:r>
              <a:rPr lang="en-US" sz="2400" dirty="0"/>
              <a:t>int age = 20;</a:t>
            </a:r>
          </a:p>
          <a:p>
            <a:pPr marL="0" indent="0">
              <a:buNone/>
            </a:pPr>
            <a:r>
              <a:rPr lang="en-US" sz="2400" dirty="0"/>
              <a:t>if (age &gt;= 18)</a:t>
            </a:r>
          </a:p>
          <a:p>
            <a:pPr marL="0" indent="0">
              <a:buNone/>
            </a:pPr>
            <a:r>
              <a:rPr lang="en-US" sz="2400" dirty="0"/>
              <a:t>{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Console.WriteLine</a:t>
            </a:r>
            <a:r>
              <a:rPr lang="en-US" sz="2400" dirty="0"/>
              <a:t>("You are eligible to vote.");</a:t>
            </a:r>
          </a:p>
          <a:p>
            <a:pPr marL="0" indent="0">
              <a:buNone/>
            </a:pPr>
            <a:r>
              <a:rPr lang="en-US" sz="2400" dirty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54780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E1AAA-0D2B-D1F1-D050-EACDF669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70FE-138F-284B-75B4-F3E37CD2F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if...else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E4ED-BEC8-3A42-CDB9-A4ED36A00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The </a:t>
            </a:r>
            <a:r>
              <a:rPr lang="en-IN" dirty="0"/>
              <a:t>else</a:t>
            </a:r>
            <a:r>
              <a:rPr lang="en-IN" sz="2400" dirty="0"/>
              <a:t> block executes when the </a:t>
            </a:r>
            <a:r>
              <a:rPr lang="en-IN" dirty="0"/>
              <a:t>if</a:t>
            </a:r>
            <a:r>
              <a:rPr lang="en-IN" sz="2400" dirty="0"/>
              <a:t> condition is </a:t>
            </a:r>
            <a:r>
              <a:rPr lang="en-IN" sz="2400" b="1" dirty="0"/>
              <a:t>false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b="1" dirty="0"/>
              <a:t>Syntax:</a:t>
            </a:r>
          </a:p>
          <a:p>
            <a:pPr marL="0" indent="0">
              <a:buNone/>
            </a:pPr>
            <a:r>
              <a:rPr lang="en-IN" dirty="0"/>
              <a:t>if (condition)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// True block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else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// False block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8B2D2-0AF3-BA95-3E00-9888DE69FDEB}"/>
              </a:ext>
            </a:extLst>
          </p:cNvPr>
          <p:cNvSpPr txBox="1"/>
          <p:nvPr/>
        </p:nvSpPr>
        <p:spPr>
          <a:xfrm>
            <a:off x="6583680" y="2761238"/>
            <a:ext cx="60960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Example: </a:t>
            </a:r>
          </a:p>
          <a:p>
            <a:r>
              <a:rPr lang="en-IN" sz="2000" dirty="0"/>
              <a:t>int age = 16;</a:t>
            </a:r>
          </a:p>
          <a:p>
            <a:r>
              <a:rPr lang="en-IN" sz="2000" dirty="0"/>
              <a:t>if (age &gt;= 18)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Console.WriteLine</a:t>
            </a:r>
            <a:r>
              <a:rPr lang="en-IN" sz="2000" dirty="0"/>
              <a:t>("Eligible");</a:t>
            </a:r>
          </a:p>
          <a:p>
            <a:r>
              <a:rPr lang="en-IN" sz="2000" dirty="0"/>
              <a:t>}</a:t>
            </a:r>
          </a:p>
          <a:p>
            <a:r>
              <a:rPr lang="en-IN" sz="2000" dirty="0"/>
              <a:t>else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Console.WriteLine</a:t>
            </a:r>
            <a:r>
              <a:rPr lang="en-IN" sz="2000" dirty="0"/>
              <a:t>("Not Eligible");</a:t>
            </a:r>
          </a:p>
          <a:p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00359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D31F0-02D9-0B9F-9593-CAC8B7E8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8D90-D92D-E3A1-6A65-E4A27F0B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else if Ladder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A5C30-3E65-13AD-A25F-5C02276B6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3891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dirty="0"/>
              <a:t>Used when there are </a:t>
            </a:r>
            <a:r>
              <a:rPr lang="en-IN" sz="2400" b="1" dirty="0"/>
              <a:t>multiple conditions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0" indent="0">
              <a:buNone/>
            </a:pPr>
            <a:r>
              <a:rPr lang="en-IN" dirty="0"/>
              <a:t>int marks = 75;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 (marks &gt;= 90)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Console.WriteLine</a:t>
            </a:r>
            <a:r>
              <a:rPr lang="en-IN" dirty="0"/>
              <a:t>("Grade A");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else if (marks &gt;= 75)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Console.WriteLine</a:t>
            </a:r>
            <a:r>
              <a:rPr lang="en-IN" dirty="0"/>
              <a:t>("Grade B");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else if (marks &gt;= 50)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Console.WriteLine</a:t>
            </a:r>
            <a:r>
              <a:rPr lang="en-IN" dirty="0"/>
              <a:t>("Grade C");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else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Console.WriteLine</a:t>
            </a:r>
            <a:r>
              <a:rPr lang="en-IN" dirty="0"/>
              <a:t>("Fail");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4913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A84D4-62A4-BA12-1049-E940BC30B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1DB6C-C33D-1A6F-675B-FAE0D1E1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29043"/>
            <a:ext cx="10058400" cy="1371600"/>
          </a:xfrm>
        </p:spPr>
        <p:txBody>
          <a:bodyPr/>
          <a:lstStyle/>
          <a:p>
            <a:r>
              <a:rPr lang="en-IN" b="1" dirty="0"/>
              <a:t>switch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99CA1-E6C3-C8EB-0649-E18093743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30698"/>
            <a:ext cx="5852160" cy="5216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dirty="0"/>
              <a:t>The switch statement is used when a variable has many possible values, and you want to execute different code for each value.</a:t>
            </a:r>
          </a:p>
          <a:p>
            <a:pPr marL="0" indent="0">
              <a:buNone/>
            </a:pPr>
            <a:r>
              <a:rPr lang="en-IN" b="1" dirty="0"/>
              <a:t>Syntax</a:t>
            </a:r>
          </a:p>
          <a:p>
            <a:pPr marL="0" indent="0">
              <a:buNone/>
            </a:pPr>
            <a:r>
              <a:rPr lang="en-IN" dirty="0"/>
              <a:t>switch (expression)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case value1:</a:t>
            </a:r>
            <a:br>
              <a:rPr lang="en-IN" dirty="0"/>
            </a:br>
            <a:r>
              <a:rPr lang="en-IN" dirty="0"/>
              <a:t>        // Code</a:t>
            </a:r>
            <a:br>
              <a:rPr lang="en-IN" dirty="0"/>
            </a:br>
            <a:r>
              <a:rPr lang="en-IN" dirty="0"/>
              <a:t>        break;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case value2:</a:t>
            </a:r>
            <a:br>
              <a:rPr lang="en-IN" dirty="0"/>
            </a:br>
            <a:r>
              <a:rPr lang="en-IN" dirty="0"/>
              <a:t>        // Code</a:t>
            </a:r>
            <a:br>
              <a:rPr lang="en-IN" dirty="0"/>
            </a:br>
            <a:r>
              <a:rPr lang="en-IN" dirty="0"/>
              <a:t>        break;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default:</a:t>
            </a:r>
            <a:br>
              <a:rPr lang="en-IN" dirty="0"/>
            </a:br>
            <a:r>
              <a:rPr lang="en-IN" dirty="0"/>
              <a:t>        // Code</a:t>
            </a:r>
            <a:br>
              <a:rPr lang="en-IN" dirty="0"/>
            </a:br>
            <a:r>
              <a:rPr lang="en-IN" dirty="0"/>
              <a:t>        break;</a:t>
            </a:r>
            <a:br>
              <a:rPr lang="en-IN" dirty="0"/>
            </a:b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E1415-35E0-2974-61F7-362B91BEC37E}"/>
              </a:ext>
            </a:extLst>
          </p:cNvPr>
          <p:cNvSpPr txBox="1"/>
          <p:nvPr/>
        </p:nvSpPr>
        <p:spPr>
          <a:xfrm>
            <a:off x="7071360" y="1014843"/>
            <a:ext cx="60960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Example: </a:t>
            </a:r>
          </a:p>
          <a:p>
            <a:r>
              <a:rPr lang="en-IN" sz="2000" dirty="0"/>
              <a:t>int day = 3;</a:t>
            </a:r>
          </a:p>
          <a:p>
            <a:r>
              <a:rPr lang="en-IN" sz="2000" dirty="0"/>
              <a:t>switch (day)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    case 1: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Console.WriteLine</a:t>
            </a:r>
            <a:r>
              <a:rPr lang="en-IN" sz="2000" dirty="0"/>
              <a:t>("Monday");</a:t>
            </a:r>
          </a:p>
          <a:p>
            <a:r>
              <a:rPr lang="en-IN" sz="2000" dirty="0"/>
              <a:t>        break;</a:t>
            </a:r>
          </a:p>
          <a:p>
            <a:r>
              <a:rPr lang="en-IN" sz="2000" dirty="0"/>
              <a:t>    case 2: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Console.WriteLine</a:t>
            </a:r>
            <a:r>
              <a:rPr lang="en-IN" sz="2000" dirty="0"/>
              <a:t>("Tuesday");</a:t>
            </a:r>
          </a:p>
          <a:p>
            <a:r>
              <a:rPr lang="en-IN" sz="2000" dirty="0"/>
              <a:t>        break;</a:t>
            </a:r>
          </a:p>
          <a:p>
            <a:r>
              <a:rPr lang="en-IN" sz="2000" dirty="0"/>
              <a:t>    case 3: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Console.WriteLine</a:t>
            </a:r>
            <a:r>
              <a:rPr lang="en-IN" sz="2000" dirty="0"/>
              <a:t>("Wednesday");</a:t>
            </a:r>
          </a:p>
          <a:p>
            <a:r>
              <a:rPr lang="en-IN" sz="2000" dirty="0"/>
              <a:t>        break;</a:t>
            </a:r>
          </a:p>
          <a:p>
            <a:r>
              <a:rPr lang="en-IN" sz="2000" dirty="0"/>
              <a:t>    default: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Console.WriteLine</a:t>
            </a:r>
            <a:r>
              <a:rPr lang="en-IN" sz="2000" dirty="0"/>
              <a:t>("Invalid Day");</a:t>
            </a:r>
          </a:p>
          <a:p>
            <a:r>
              <a:rPr lang="en-IN" sz="2000" dirty="0"/>
              <a:t>        break;</a:t>
            </a:r>
          </a:p>
          <a:p>
            <a:r>
              <a:rPr lang="en-IN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6705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87D3D-EAD2-FD2E-8B83-47494DC7A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0360-3DCC-ECDB-6C04-E19B4955D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34353-65C5-D2DC-7407-A07315B6C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655320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/>
              <a:t>The while loop repeats code as long as the condition is true.</a:t>
            </a:r>
          </a:p>
          <a:p>
            <a:pPr marL="0" indent="0">
              <a:buNone/>
            </a:pPr>
            <a:r>
              <a:rPr lang="en-IN" sz="2800" b="1" dirty="0"/>
              <a:t>Syntax</a:t>
            </a:r>
          </a:p>
          <a:p>
            <a:pPr marL="0" indent="0">
              <a:buNone/>
            </a:pPr>
            <a:r>
              <a:rPr lang="en-IN" sz="2800" dirty="0"/>
              <a:t>while (condition)</a:t>
            </a:r>
            <a:br>
              <a:rPr lang="en-IN" sz="2800" dirty="0"/>
            </a:br>
            <a:r>
              <a:rPr lang="en-IN" sz="2800" dirty="0"/>
              <a:t>{</a:t>
            </a:r>
            <a:br>
              <a:rPr lang="en-IN" sz="2800" dirty="0"/>
            </a:br>
            <a:r>
              <a:rPr lang="en-IN" sz="2800" dirty="0"/>
              <a:t>    // Code</a:t>
            </a:r>
            <a:br>
              <a:rPr lang="en-IN" sz="2800" dirty="0"/>
            </a:br>
            <a:r>
              <a:rPr lang="en-IN" sz="28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A3899-C2C5-71DD-5E6C-880C2D80E90A}"/>
              </a:ext>
            </a:extLst>
          </p:cNvPr>
          <p:cNvSpPr txBox="1"/>
          <p:nvPr/>
        </p:nvSpPr>
        <p:spPr>
          <a:xfrm>
            <a:off x="7620000" y="2103120"/>
            <a:ext cx="39928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Example:</a:t>
            </a:r>
          </a:p>
          <a:p>
            <a:r>
              <a:rPr lang="en-IN" sz="2800" dirty="0"/>
              <a:t>int </a:t>
            </a:r>
            <a:r>
              <a:rPr lang="en-IN" sz="2800" dirty="0" err="1"/>
              <a:t>i</a:t>
            </a:r>
            <a:r>
              <a:rPr lang="en-IN" sz="2800" dirty="0"/>
              <a:t> = 1;</a:t>
            </a:r>
          </a:p>
          <a:p>
            <a:r>
              <a:rPr lang="en-IN" sz="2800" dirty="0"/>
              <a:t>while (</a:t>
            </a:r>
            <a:r>
              <a:rPr lang="en-IN" sz="2800" dirty="0" err="1"/>
              <a:t>i</a:t>
            </a:r>
            <a:r>
              <a:rPr lang="en-IN" sz="2800" dirty="0"/>
              <a:t> &lt;= 5)</a:t>
            </a:r>
          </a:p>
          <a:p>
            <a:r>
              <a:rPr lang="en-IN" sz="2800" dirty="0"/>
              <a:t>{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Console.WriteLine</a:t>
            </a:r>
            <a:r>
              <a:rPr lang="en-IN" sz="2800" dirty="0"/>
              <a:t>(</a:t>
            </a:r>
            <a:r>
              <a:rPr lang="en-IN" sz="2800" dirty="0" err="1"/>
              <a:t>i</a:t>
            </a:r>
            <a:r>
              <a:rPr lang="en-IN" sz="2800" dirty="0"/>
              <a:t>);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i</a:t>
            </a:r>
            <a:r>
              <a:rPr lang="en-IN" sz="2800" dirty="0"/>
              <a:t>++;</a:t>
            </a:r>
          </a:p>
          <a:p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341749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37C23-33F2-2FD6-1FE3-35882ADCB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BAF1-FEFF-3EEC-2A0E-32EE2F928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do...while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3377A-D339-0DF2-00A3-AD64C2C50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577840" cy="393192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800" dirty="0"/>
              <a:t>The do...while loop executes the block at least once, because the condition is checked after the loop body.</a:t>
            </a:r>
          </a:p>
          <a:p>
            <a:pPr marL="0" indent="0" algn="just">
              <a:buNone/>
            </a:pPr>
            <a:r>
              <a:rPr lang="en-IN" sz="2800" b="1" dirty="0"/>
              <a:t>Syntax:</a:t>
            </a:r>
          </a:p>
          <a:p>
            <a:pPr marL="0" indent="0">
              <a:buNone/>
            </a:pPr>
            <a:r>
              <a:rPr lang="en-IN" sz="2400" dirty="0"/>
              <a:t>do</a:t>
            </a:r>
            <a:br>
              <a:rPr lang="en-IN" sz="2400" dirty="0"/>
            </a:br>
            <a:r>
              <a:rPr lang="en-IN" sz="2400" dirty="0"/>
              <a:t>{</a:t>
            </a:r>
            <a:br>
              <a:rPr lang="en-IN" sz="2400" dirty="0"/>
            </a:br>
            <a:r>
              <a:rPr lang="en-IN" sz="2400" dirty="0"/>
              <a:t>    // Code</a:t>
            </a:r>
            <a:br>
              <a:rPr lang="en-IN" sz="2400" dirty="0"/>
            </a:br>
            <a:r>
              <a:rPr lang="en-IN" sz="2400" dirty="0"/>
              <a:t>}</a:t>
            </a:r>
            <a:br>
              <a:rPr lang="en-IN" sz="2400" dirty="0"/>
            </a:br>
            <a:r>
              <a:rPr lang="en-IN" sz="2400" dirty="0"/>
              <a:t>while (condition);</a:t>
            </a:r>
          </a:p>
          <a:p>
            <a:pPr marL="0" indent="0" algn="just">
              <a:buNone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F31A9-DF0F-0048-68AB-D4879DA3A31E}"/>
              </a:ext>
            </a:extLst>
          </p:cNvPr>
          <p:cNvSpPr txBox="1"/>
          <p:nvPr/>
        </p:nvSpPr>
        <p:spPr>
          <a:xfrm>
            <a:off x="6812280" y="2103120"/>
            <a:ext cx="4038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Example: </a:t>
            </a:r>
          </a:p>
          <a:p>
            <a:r>
              <a:rPr lang="en-IN" sz="2800" dirty="0"/>
              <a:t>int </a:t>
            </a:r>
            <a:r>
              <a:rPr lang="en-IN" sz="2800" dirty="0" err="1"/>
              <a:t>i</a:t>
            </a:r>
            <a:r>
              <a:rPr lang="en-IN" sz="2800" dirty="0"/>
              <a:t> = 1;</a:t>
            </a:r>
          </a:p>
          <a:p>
            <a:r>
              <a:rPr lang="en-IN" sz="2800" dirty="0"/>
              <a:t>do</a:t>
            </a:r>
          </a:p>
          <a:p>
            <a:r>
              <a:rPr lang="en-IN" sz="2800" dirty="0"/>
              <a:t>{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Console.WriteLine</a:t>
            </a:r>
            <a:r>
              <a:rPr lang="en-IN" sz="2800" dirty="0"/>
              <a:t>(</a:t>
            </a:r>
            <a:r>
              <a:rPr lang="en-IN" sz="2800" dirty="0" err="1"/>
              <a:t>i</a:t>
            </a:r>
            <a:r>
              <a:rPr lang="en-IN" sz="2800" dirty="0"/>
              <a:t>);</a:t>
            </a:r>
          </a:p>
          <a:p>
            <a:r>
              <a:rPr lang="en-IN" sz="2800" dirty="0"/>
              <a:t>    </a:t>
            </a:r>
            <a:r>
              <a:rPr lang="en-IN" sz="2800" dirty="0" err="1"/>
              <a:t>i</a:t>
            </a:r>
            <a:r>
              <a:rPr lang="en-IN" sz="2800" dirty="0"/>
              <a:t>++;</a:t>
            </a:r>
          </a:p>
          <a:p>
            <a:r>
              <a:rPr lang="en-IN" sz="2800" dirty="0"/>
              <a:t>}</a:t>
            </a:r>
          </a:p>
          <a:p>
            <a:r>
              <a:rPr lang="en-IN" sz="2800" dirty="0"/>
              <a:t>while (</a:t>
            </a:r>
            <a:r>
              <a:rPr lang="en-IN" sz="2800" dirty="0" err="1"/>
              <a:t>i</a:t>
            </a:r>
            <a:r>
              <a:rPr lang="en-IN" sz="2800" dirty="0"/>
              <a:t> &lt;= 5);</a:t>
            </a:r>
          </a:p>
        </p:txBody>
      </p:sp>
    </p:spTree>
    <p:extLst>
      <p:ext uri="{BB962C8B-B14F-4D97-AF65-F5344CB8AC3E}">
        <p14:creationId xmlns:p14="http://schemas.microsoft.com/office/powerpoint/2010/main" val="3346981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010F-C184-EBDF-C1F1-941C2F61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334A-0797-8B61-0205-725DAABB1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F58BD-C0CA-4E3E-7A6E-7E8829FCD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" y="2103120"/>
            <a:ext cx="5897880" cy="4297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The for loop is commonly used when you know how many times you want to repeat a task.</a:t>
            </a:r>
          </a:p>
          <a:p>
            <a:pPr marL="0" indent="0">
              <a:buNone/>
            </a:pPr>
            <a:r>
              <a:rPr lang="en-IN" sz="2000" b="1" dirty="0"/>
              <a:t>Syntax</a:t>
            </a:r>
          </a:p>
          <a:p>
            <a:pPr marL="0" indent="0">
              <a:buNone/>
            </a:pPr>
            <a:r>
              <a:rPr lang="en-IN" sz="2000" dirty="0"/>
              <a:t>for (initialization; condition; increment)</a:t>
            </a:r>
            <a:br>
              <a:rPr lang="en-IN" sz="2000" dirty="0"/>
            </a:br>
            <a:r>
              <a:rPr lang="en-IN" sz="2000" dirty="0"/>
              <a:t>{</a:t>
            </a:r>
            <a:br>
              <a:rPr lang="en-IN" sz="2000" dirty="0"/>
            </a:br>
            <a:r>
              <a:rPr lang="en-IN" sz="2000" dirty="0"/>
              <a:t>    // Code</a:t>
            </a:r>
            <a:br>
              <a:rPr lang="en-IN" sz="2000" dirty="0"/>
            </a:br>
            <a:r>
              <a:rPr lang="en-IN" sz="2000" dirty="0"/>
              <a:t>}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US" sz="2000" dirty="0"/>
              <a:t>Initialization → Runs once</a:t>
            </a:r>
          </a:p>
          <a:p>
            <a:pPr marL="0" indent="0">
              <a:buNone/>
            </a:pPr>
            <a:r>
              <a:rPr lang="en-US" sz="2000" dirty="0"/>
              <a:t>Condition      → Checked before each iteration</a:t>
            </a:r>
          </a:p>
          <a:p>
            <a:pPr marL="0" indent="0">
              <a:buNone/>
            </a:pPr>
            <a:r>
              <a:rPr lang="en-US" sz="2000" dirty="0"/>
              <a:t>Increment      → Runs after each iteration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DB32F-88C9-E5F4-A375-CABB3D2D0D59}"/>
              </a:ext>
            </a:extLst>
          </p:cNvPr>
          <p:cNvSpPr txBox="1"/>
          <p:nvPr/>
        </p:nvSpPr>
        <p:spPr>
          <a:xfrm>
            <a:off x="7071360" y="2014194"/>
            <a:ext cx="31699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 dirty="0"/>
              <a:t>Example: </a:t>
            </a:r>
          </a:p>
          <a:p>
            <a:r>
              <a:rPr lang="en-IN" sz="2200" dirty="0"/>
              <a:t>for (int </a:t>
            </a:r>
            <a:r>
              <a:rPr lang="en-IN" sz="2200" dirty="0" err="1"/>
              <a:t>i</a:t>
            </a:r>
            <a:r>
              <a:rPr lang="en-IN" sz="2200" dirty="0"/>
              <a:t> = 1; </a:t>
            </a:r>
            <a:r>
              <a:rPr lang="en-IN" sz="2200" dirty="0" err="1"/>
              <a:t>i</a:t>
            </a:r>
            <a:r>
              <a:rPr lang="en-IN" sz="2200" dirty="0"/>
              <a:t> &lt;= 5; </a:t>
            </a:r>
            <a:r>
              <a:rPr lang="en-IN" sz="2200" dirty="0" err="1"/>
              <a:t>i</a:t>
            </a:r>
            <a:r>
              <a:rPr lang="en-IN" sz="2200" dirty="0"/>
              <a:t>++)</a:t>
            </a:r>
          </a:p>
          <a:p>
            <a:r>
              <a:rPr lang="en-IN" sz="2200" dirty="0"/>
              <a:t>{</a:t>
            </a:r>
          </a:p>
          <a:p>
            <a:r>
              <a:rPr lang="en-IN" sz="2200" dirty="0"/>
              <a:t>    </a:t>
            </a:r>
            <a:r>
              <a:rPr lang="en-IN" sz="2200" dirty="0" err="1"/>
              <a:t>Console.WriteLine</a:t>
            </a:r>
            <a:r>
              <a:rPr lang="en-IN" sz="2200" dirty="0"/>
              <a:t>(</a:t>
            </a:r>
            <a:r>
              <a:rPr lang="en-IN" sz="2200" dirty="0" err="1"/>
              <a:t>i</a:t>
            </a:r>
            <a:r>
              <a:rPr lang="en-IN" sz="2200" dirty="0"/>
              <a:t>);</a:t>
            </a:r>
          </a:p>
          <a:p>
            <a:r>
              <a:rPr lang="en-IN" sz="2200" dirty="0"/>
              <a:t>}</a:t>
            </a:r>
          </a:p>
          <a:p>
            <a:endParaRPr lang="en-IN" sz="2200" dirty="0"/>
          </a:p>
          <a:p>
            <a:r>
              <a:rPr lang="en-IN" sz="2200" b="1" dirty="0"/>
              <a:t>OUTPUT:</a:t>
            </a:r>
          </a:p>
          <a:p>
            <a:r>
              <a:rPr lang="en-IN" sz="2200" dirty="0"/>
              <a:t>1</a:t>
            </a:r>
          </a:p>
          <a:p>
            <a:r>
              <a:rPr lang="en-IN" sz="2200" dirty="0"/>
              <a:t>2</a:t>
            </a:r>
          </a:p>
          <a:p>
            <a:r>
              <a:rPr lang="en-IN" sz="2200" dirty="0"/>
              <a:t>3</a:t>
            </a:r>
          </a:p>
          <a:p>
            <a:r>
              <a:rPr lang="en-IN" sz="2200" dirty="0"/>
              <a:t>4</a:t>
            </a:r>
          </a:p>
          <a:p>
            <a:r>
              <a:rPr lang="en-IN" sz="2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66558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D0421-5CEA-030A-0344-7F14EBE2C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4899D-0460-177D-AD11-F0DC76DF0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foreach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9F649-A030-74B3-0813-9A354F02C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684520" cy="3931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The </a:t>
            </a:r>
            <a:r>
              <a:rPr lang="en-IN" sz="2200" dirty="0"/>
              <a:t>foreach</a:t>
            </a:r>
            <a:r>
              <a:rPr lang="en-IN" sz="2400" dirty="0"/>
              <a:t> loop is used to iterate through every element in a collection, such as an array or a list.</a:t>
            </a:r>
          </a:p>
          <a:p>
            <a:pPr marL="0" indent="0">
              <a:buNone/>
            </a:pPr>
            <a:r>
              <a:rPr lang="en-IN" sz="2400" dirty="0"/>
              <a:t>You </a:t>
            </a:r>
            <a:r>
              <a:rPr lang="en-IN" sz="2400" b="1" dirty="0"/>
              <a:t>do not</a:t>
            </a:r>
            <a:r>
              <a:rPr lang="en-IN" sz="2400" dirty="0"/>
              <a:t> need to manage an index.</a:t>
            </a:r>
          </a:p>
          <a:p>
            <a:pPr marL="0" indent="0">
              <a:buNone/>
            </a:pPr>
            <a:r>
              <a:rPr lang="en-IN" sz="2400" b="1" dirty="0"/>
              <a:t>Syntax</a:t>
            </a:r>
          </a:p>
          <a:p>
            <a:pPr marL="0" indent="0">
              <a:buNone/>
            </a:pPr>
            <a:r>
              <a:rPr lang="en-IN" dirty="0"/>
              <a:t>foreach (type item in collection)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    // Code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6849F-CD56-C401-49CE-CD7E5F7DA757}"/>
              </a:ext>
            </a:extLst>
          </p:cNvPr>
          <p:cNvSpPr txBox="1"/>
          <p:nvPr/>
        </p:nvSpPr>
        <p:spPr>
          <a:xfrm>
            <a:off x="6537960" y="2014194"/>
            <a:ext cx="5074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Example:</a:t>
            </a:r>
          </a:p>
          <a:p>
            <a:r>
              <a:rPr lang="en-IN" sz="2000" dirty="0"/>
              <a:t>string[] fruits = { "Apple", "Banana", "Mango" };</a:t>
            </a:r>
          </a:p>
          <a:p>
            <a:r>
              <a:rPr lang="en-IN" sz="2000" dirty="0"/>
              <a:t>foreach (string fruit in fruits)</a:t>
            </a:r>
          </a:p>
          <a:p>
            <a:r>
              <a:rPr lang="en-IN" sz="2000" dirty="0"/>
              <a:t>{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Console.WriteLine</a:t>
            </a:r>
            <a:r>
              <a:rPr lang="en-IN" sz="2000" dirty="0"/>
              <a:t>(fruit);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b="1" dirty="0"/>
              <a:t>OUTPUT:</a:t>
            </a:r>
          </a:p>
          <a:p>
            <a:r>
              <a:rPr lang="en-IN" sz="2000" dirty="0"/>
              <a:t>Apple</a:t>
            </a:r>
          </a:p>
          <a:p>
            <a:r>
              <a:rPr lang="en-IN" sz="2000" dirty="0"/>
              <a:t>Banana</a:t>
            </a:r>
          </a:p>
          <a:p>
            <a:r>
              <a:rPr lang="en-IN" sz="2000" dirty="0"/>
              <a:t>Mango</a:t>
            </a:r>
          </a:p>
        </p:txBody>
      </p:sp>
    </p:spTree>
    <p:extLst>
      <p:ext uri="{BB962C8B-B14F-4D97-AF65-F5344CB8AC3E}">
        <p14:creationId xmlns:p14="http://schemas.microsoft.com/office/powerpoint/2010/main" val="2865133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9801-E507-FF7E-E975-E1BDE5D7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Operators: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C7F0D-1129-CD31-7CE8-7F28BAD05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An </a:t>
            </a:r>
            <a:r>
              <a:rPr lang="en-IN" sz="3200" b="1" dirty="0"/>
              <a:t>operator</a:t>
            </a:r>
            <a:r>
              <a:rPr lang="en-IN" sz="3200" dirty="0"/>
              <a:t> is a symbol that performs an operation on one or more operands (variables or values).</a:t>
            </a:r>
          </a:p>
          <a:p>
            <a:pPr marL="0" indent="0">
              <a:buNone/>
            </a:pPr>
            <a:r>
              <a:rPr lang="en-US" sz="3200" b="1" dirty="0"/>
              <a:t>Ex: </a:t>
            </a:r>
            <a:r>
              <a:rPr lang="en-US" sz="3200" dirty="0"/>
              <a:t>int a = 10;</a:t>
            </a:r>
          </a:p>
          <a:p>
            <a:pPr marL="0" indent="0">
              <a:buNone/>
            </a:pPr>
            <a:r>
              <a:rPr lang="en-US" sz="3200" dirty="0"/>
              <a:t>int b = 5;</a:t>
            </a:r>
          </a:p>
          <a:p>
            <a:pPr marL="0" indent="0">
              <a:buNone/>
            </a:pPr>
            <a:r>
              <a:rPr lang="en-US" sz="3200" dirty="0"/>
              <a:t>int sum = a + b;</a:t>
            </a:r>
          </a:p>
          <a:p>
            <a:pPr marL="0" indent="0">
              <a:buNone/>
            </a:pPr>
            <a:r>
              <a:rPr lang="en-IN" sz="3200" dirty="0"/>
              <a:t>Here, a and b are </a:t>
            </a:r>
            <a:r>
              <a:rPr lang="en-IN" sz="3200" b="1" dirty="0"/>
              <a:t>operands</a:t>
            </a:r>
            <a:r>
              <a:rPr lang="en-IN" sz="3200" dirty="0"/>
              <a:t> and + is the </a:t>
            </a:r>
            <a:r>
              <a:rPr lang="en-IN" sz="3200" b="1" dirty="0"/>
              <a:t>operator</a:t>
            </a:r>
            <a:r>
              <a:rPr lang="en-IN" sz="3200" dirty="0"/>
              <a:t> .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91767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63FCC-9AD3-CB44-47D6-BB824821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Arithmetic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D3C3F-F124-3156-14E8-AF460ED1D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Arithmetic operators are used to perform </a:t>
            </a:r>
            <a:r>
              <a:rPr lang="en-IN" b="1" dirty="0"/>
              <a:t>mathematical calculations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2AFDD5-DA17-482C-2AB0-A1D7096CB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332924"/>
              </p:ext>
            </p:extLst>
          </p:nvPr>
        </p:nvGraphicFramePr>
        <p:xfrm>
          <a:off x="1066800" y="2606516"/>
          <a:ext cx="10058400" cy="36576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44885350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67080857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106419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023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 + 5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86187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10 - 5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300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 *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356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Division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10 /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156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Modulus (Remainder)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10 %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7612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a++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318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Decrement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223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319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4E7B5-1FC9-4EE8-50C0-59CFC458D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641684"/>
            <a:ext cx="10058400" cy="53933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Ex: </a:t>
            </a:r>
            <a:r>
              <a:rPr lang="en-IN" sz="2400" dirty="0"/>
              <a:t>class Program</a:t>
            </a:r>
          </a:p>
          <a:p>
            <a:pPr marL="0" indent="0">
              <a:buNone/>
            </a:pPr>
            <a:r>
              <a:rPr lang="en-IN" sz="2400" dirty="0"/>
              <a:t>{</a:t>
            </a:r>
          </a:p>
          <a:p>
            <a:pPr marL="0" indent="0">
              <a:buNone/>
            </a:pPr>
            <a:r>
              <a:rPr lang="en-IN" sz="2400" dirty="0"/>
              <a:t>    static void Main()</a:t>
            </a:r>
          </a:p>
          <a:p>
            <a:pPr marL="0" indent="0">
              <a:buNone/>
            </a:pPr>
            <a:r>
              <a:rPr lang="en-IN" sz="2400" dirty="0"/>
              <a:t>    {</a:t>
            </a:r>
          </a:p>
          <a:p>
            <a:pPr marL="0" indent="0">
              <a:buNone/>
            </a:pPr>
            <a:r>
              <a:rPr lang="en-IN" sz="2400" dirty="0"/>
              <a:t>        int a = 10;</a:t>
            </a:r>
          </a:p>
          <a:p>
            <a:pPr marL="0" indent="0">
              <a:buNone/>
            </a:pPr>
            <a:r>
              <a:rPr lang="en-IN" sz="2400" dirty="0"/>
              <a:t>        int b = 3;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("Addition = " + (a + b));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("Subtraction = " + (a - b));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("Multiplication = " + (a * b));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("Division = " + (a / b));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("Remainder = " + (a % b));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4665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F520A-C2F6-1828-42CD-3718E104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2. Comparison (Relational)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EF668-7177-7F48-DCF2-0506EA84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Comparison operators are used to compare two values. The result is always True or False.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8E12D2-979F-5E92-3D21-13DE3E669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330668"/>
              </p:ext>
            </p:extLst>
          </p:nvPr>
        </p:nvGraphicFramePr>
        <p:xfrm>
          <a:off x="1066800" y="2917731"/>
          <a:ext cx="10058400" cy="3413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47511314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8301366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945007873"/>
                    </a:ext>
                  </a:extLst>
                </a:gridCol>
              </a:tblGrid>
              <a:tr h="4621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015840"/>
                  </a:ext>
                </a:extLst>
              </a:tr>
              <a:tr h="46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==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 ==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453996"/>
                  </a:ext>
                </a:extLst>
              </a:tr>
              <a:tr h="46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Not Equal 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 !=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007833"/>
                  </a:ext>
                </a:extLst>
              </a:tr>
              <a:tr h="46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Greater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 &gt;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117046"/>
                  </a:ext>
                </a:extLst>
              </a:tr>
              <a:tr h="46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&lt;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Less Than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 &lt;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8509790"/>
                  </a:ext>
                </a:extLst>
              </a:tr>
              <a:tr h="46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Greater Than or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a &gt;=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414422"/>
                  </a:ext>
                </a:extLst>
              </a:tr>
              <a:tr h="462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&lt;=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/>
                        <a:t>Less Than or Equal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/>
                        <a:t>a &lt;=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846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79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52F89-C44B-9E92-89CD-92D7397DC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609600"/>
            <a:ext cx="10058400" cy="54254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dirty="0"/>
              <a:t>Ex: class Program</a:t>
            </a:r>
          </a:p>
          <a:p>
            <a:pPr marL="0" indent="0">
              <a:buNone/>
            </a:pPr>
            <a:r>
              <a:rPr lang="en-IN" sz="2400" dirty="0"/>
              <a:t>{</a:t>
            </a:r>
          </a:p>
          <a:p>
            <a:pPr marL="0" indent="0">
              <a:buNone/>
            </a:pPr>
            <a:r>
              <a:rPr lang="en-IN" sz="2400" dirty="0"/>
              <a:t>    static void Main()</a:t>
            </a:r>
          </a:p>
          <a:p>
            <a:pPr marL="0" indent="0">
              <a:buNone/>
            </a:pPr>
            <a:r>
              <a:rPr lang="en-IN" sz="2400" dirty="0"/>
              <a:t>    {</a:t>
            </a:r>
          </a:p>
          <a:p>
            <a:pPr marL="0" indent="0">
              <a:buNone/>
            </a:pPr>
            <a:r>
              <a:rPr lang="en-IN" sz="2400" dirty="0"/>
              <a:t>        int a = 10;</a:t>
            </a:r>
          </a:p>
          <a:p>
            <a:pPr marL="0" indent="0">
              <a:buNone/>
            </a:pPr>
            <a:r>
              <a:rPr lang="en-IN" sz="2400" dirty="0"/>
              <a:t>        int b = 20;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(a == b);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(a != b);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(a &gt; b);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(a &lt; b);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(a &gt;= b);</a:t>
            </a:r>
          </a:p>
          <a:p>
            <a:pPr marL="0" indent="0">
              <a:buNone/>
            </a:pPr>
            <a:r>
              <a:rPr lang="en-IN" sz="2400" dirty="0"/>
              <a:t>        </a:t>
            </a:r>
            <a:r>
              <a:rPr lang="en-IN" sz="2400" dirty="0" err="1"/>
              <a:t>Console.WriteLine</a:t>
            </a:r>
            <a:r>
              <a:rPr lang="en-IN" sz="2400" dirty="0"/>
              <a:t>(a &lt;= b);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5197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AF2D3-F288-3345-E45F-C3EAA93C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CE3C6-996F-7683-D0ED-5EEE56C8A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Logical operators are used to combine two or more conditions. The result is always True or False.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E016A5-8C32-2A39-6D66-A24514DE0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975897"/>
              </p:ext>
            </p:extLst>
          </p:nvPr>
        </p:nvGraphicFramePr>
        <p:xfrm>
          <a:off x="1066800" y="3338036"/>
          <a:ext cx="10058400" cy="20726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1528032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57902278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2749550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038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Logical 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 &gt; 5 &amp;&amp; b &lt;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647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|</a:t>
                      </a:r>
                      <a:r>
                        <a:rPr lang="en-IN" sz="2800" dirty="0"/>
                        <a:t>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Logical </a:t>
                      </a:r>
                      <a:r>
                        <a:rPr lang="en-IN" sz="2800" dirty="0"/>
                        <a:t>OR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/>
                        <a:t>a &gt; 5 || b &lt;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6076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Logical NOT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!(a &gt; 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924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869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6CBC6-9410-9548-34A9-9592C1A64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85011"/>
            <a:ext cx="10058400" cy="60157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/>
              <a:t>Logical AND (&amp;&amp;): </a:t>
            </a:r>
            <a:r>
              <a:rPr lang="en-IN" sz="2400" dirty="0"/>
              <a:t>Returns </a:t>
            </a:r>
            <a:r>
              <a:rPr lang="en-IN" sz="2400" b="1" dirty="0"/>
              <a:t>True</a:t>
            </a:r>
            <a:r>
              <a:rPr lang="en-IN" sz="2400" dirty="0"/>
              <a:t> only if </a:t>
            </a:r>
            <a:r>
              <a:rPr lang="en-IN" sz="2400" b="1" dirty="0"/>
              <a:t>both conditions are True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dirty="0"/>
              <a:t>int marks = 80; </a:t>
            </a:r>
          </a:p>
          <a:p>
            <a:pPr marL="0" indent="0">
              <a:buNone/>
            </a:pPr>
            <a:r>
              <a:rPr lang="en-IN" sz="2400" dirty="0"/>
              <a:t>int attendance = 85; </a:t>
            </a:r>
          </a:p>
          <a:p>
            <a:pPr marL="0" indent="0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(marks &gt;= 40 &amp;&amp; attendance &gt;= 75);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IN" sz="2400" b="1" dirty="0"/>
              <a:t>Logical OR (||): </a:t>
            </a:r>
            <a:r>
              <a:rPr lang="en-IN" sz="2400" dirty="0"/>
              <a:t>Returns </a:t>
            </a:r>
            <a:r>
              <a:rPr lang="en-IN" sz="2400" b="1" dirty="0"/>
              <a:t>True</a:t>
            </a:r>
            <a:r>
              <a:rPr lang="en-IN" sz="2400" dirty="0"/>
              <a:t> if </a:t>
            </a:r>
            <a:r>
              <a:rPr lang="en-IN" sz="2400" b="1" dirty="0"/>
              <a:t>at least one condition is True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dirty="0"/>
              <a:t>int marks = 35; </a:t>
            </a:r>
          </a:p>
          <a:p>
            <a:pPr marL="0" indent="0">
              <a:buNone/>
            </a:pPr>
            <a:r>
              <a:rPr lang="en-IN" sz="2400" dirty="0"/>
              <a:t>int attendance = 85; </a:t>
            </a:r>
          </a:p>
          <a:p>
            <a:pPr marL="0" indent="0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(marks &gt;= 40 || attendance &gt;= 75);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Logical NOT (!): </a:t>
            </a:r>
            <a:r>
              <a:rPr lang="en-IN" sz="2400" dirty="0"/>
              <a:t>Reverses the result</a:t>
            </a:r>
          </a:p>
          <a:p>
            <a:pPr marL="0" indent="0">
              <a:buNone/>
            </a:pPr>
            <a:r>
              <a:rPr lang="en-IN" sz="2400" dirty="0"/>
              <a:t>int marks = 35; </a:t>
            </a:r>
          </a:p>
          <a:p>
            <a:pPr marL="0" indent="0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(!(marks &gt;= 40));</a:t>
            </a:r>
          </a:p>
        </p:txBody>
      </p:sp>
    </p:spTree>
    <p:extLst>
      <p:ext uri="{BB962C8B-B14F-4D97-AF65-F5344CB8AC3E}">
        <p14:creationId xmlns:p14="http://schemas.microsoft.com/office/powerpoint/2010/main" val="39842343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0330-E6CF-6EE3-8262-086E4161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4. Assignment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10704-FF30-51C7-1F59-C505544D4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Assignment operators are used to </a:t>
            </a:r>
            <a:r>
              <a:rPr lang="en-IN" b="1" dirty="0"/>
              <a:t>assign values to variables</a:t>
            </a:r>
            <a:r>
              <a:rPr lang="en-IN" dirty="0"/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821FC6-C4B4-DF54-F11F-74994FE007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986656"/>
              </p:ext>
            </p:extLst>
          </p:nvPr>
        </p:nvGraphicFramePr>
        <p:xfrm>
          <a:off x="1066800" y="2789396"/>
          <a:ext cx="10058400" cy="3200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111490347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279559496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9457471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9611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 = 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014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+=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Add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 +=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3373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Subtract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 -=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116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Multiply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 *=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640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Divide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 /=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70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Modulus and Assign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 %=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79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6405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AE2B3-203E-996A-F485-188D2FCCAE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668594"/>
            <a:ext cx="10058400" cy="5366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= (Assignment Operator): </a:t>
            </a:r>
            <a:r>
              <a:rPr lang="en-IN" dirty="0"/>
              <a:t>Assigns a value to a variable.</a:t>
            </a:r>
          </a:p>
          <a:p>
            <a:pPr marL="0" indent="0">
              <a:buNone/>
            </a:pPr>
            <a:r>
              <a:rPr lang="en-IN" dirty="0"/>
              <a:t>int marks = 80;</a:t>
            </a:r>
          </a:p>
          <a:p>
            <a:pPr marL="0" indent="0">
              <a:buNone/>
            </a:pPr>
            <a:r>
              <a:rPr lang="en-IN" dirty="0" err="1"/>
              <a:t>Console.WriteLine</a:t>
            </a:r>
            <a:r>
              <a:rPr lang="en-IN" dirty="0"/>
              <a:t>(marks);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+= (Add and Assign): </a:t>
            </a:r>
            <a:r>
              <a:rPr lang="en-IN" dirty="0"/>
              <a:t>Adds a value to the existing value.</a:t>
            </a:r>
          </a:p>
          <a:p>
            <a:pPr marL="0" indent="0">
              <a:buNone/>
            </a:pPr>
            <a:r>
              <a:rPr lang="en-IN" dirty="0"/>
              <a:t>int salary = 20000;</a:t>
            </a:r>
          </a:p>
          <a:p>
            <a:pPr marL="0" indent="0">
              <a:buNone/>
            </a:pPr>
            <a:r>
              <a:rPr lang="en-IN" dirty="0"/>
              <a:t>salary += 5000;</a:t>
            </a:r>
          </a:p>
          <a:p>
            <a:pPr marL="0" indent="0">
              <a:buNone/>
            </a:pPr>
            <a:r>
              <a:rPr lang="en-IN" dirty="0" err="1"/>
              <a:t>Console.WriteLine</a:t>
            </a:r>
            <a:r>
              <a:rPr lang="en-IN" dirty="0"/>
              <a:t>(salary);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 -= (Subtract and Assign): </a:t>
            </a:r>
            <a:r>
              <a:rPr lang="en-IN" dirty="0"/>
              <a:t>Subtracts a value from the existing value.</a:t>
            </a:r>
          </a:p>
          <a:p>
            <a:pPr marL="0" indent="0">
              <a:buNone/>
            </a:pPr>
            <a:r>
              <a:rPr lang="en-IN" dirty="0"/>
              <a:t>int balance = 1000;</a:t>
            </a:r>
          </a:p>
          <a:p>
            <a:pPr marL="0" indent="0">
              <a:buNone/>
            </a:pPr>
            <a:r>
              <a:rPr lang="en-IN" dirty="0"/>
              <a:t>balance -= 300;</a:t>
            </a:r>
          </a:p>
          <a:p>
            <a:pPr marL="0" indent="0">
              <a:buNone/>
            </a:pPr>
            <a:r>
              <a:rPr lang="en-IN" dirty="0" err="1"/>
              <a:t>Console.WriteLine</a:t>
            </a:r>
            <a:r>
              <a:rPr lang="en-IN" dirty="0"/>
              <a:t>(balance);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09249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FA345-0991-A054-8363-EB08C0EAD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796413"/>
            <a:ext cx="10058400" cy="52386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*= (Multiply and Assign): </a:t>
            </a:r>
            <a:r>
              <a:rPr lang="en-IN" dirty="0"/>
              <a:t>Multiplies the current value.</a:t>
            </a:r>
          </a:p>
          <a:p>
            <a:pPr marL="0" indent="0">
              <a:buNone/>
            </a:pPr>
            <a:r>
              <a:rPr lang="en-IN" dirty="0"/>
              <a:t>int number = 6;</a:t>
            </a:r>
          </a:p>
          <a:p>
            <a:pPr marL="0" indent="0">
              <a:buNone/>
            </a:pPr>
            <a:r>
              <a:rPr lang="en-IN" dirty="0"/>
              <a:t>number *= 4;</a:t>
            </a:r>
          </a:p>
          <a:p>
            <a:pPr marL="0" indent="0">
              <a:buNone/>
            </a:pPr>
            <a:r>
              <a:rPr lang="en-IN" dirty="0" err="1"/>
              <a:t>Console.WriteLine</a:t>
            </a:r>
            <a:r>
              <a:rPr lang="en-IN" dirty="0"/>
              <a:t>(number);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/= (Divide and Assign): </a:t>
            </a:r>
            <a:r>
              <a:rPr lang="en-IN" dirty="0"/>
              <a:t>Divides the current value.</a:t>
            </a:r>
          </a:p>
          <a:p>
            <a:pPr marL="0" indent="0">
              <a:buNone/>
            </a:pPr>
            <a:r>
              <a:rPr lang="en-IN" dirty="0"/>
              <a:t>int number = 20;</a:t>
            </a:r>
          </a:p>
          <a:p>
            <a:pPr marL="0" indent="0">
              <a:buNone/>
            </a:pPr>
            <a:r>
              <a:rPr lang="en-IN" dirty="0"/>
              <a:t>number /= 4;</a:t>
            </a:r>
          </a:p>
          <a:p>
            <a:pPr marL="0" indent="0">
              <a:buNone/>
            </a:pPr>
            <a:r>
              <a:rPr lang="en-IN" dirty="0" err="1"/>
              <a:t>Console.WriteLine</a:t>
            </a:r>
            <a:r>
              <a:rPr lang="en-IN" dirty="0"/>
              <a:t>(number);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%= (Modulus and Assign): </a:t>
            </a:r>
            <a:r>
              <a:rPr lang="en-IN" dirty="0"/>
              <a:t>Stores the remainder after division.</a:t>
            </a:r>
          </a:p>
          <a:p>
            <a:pPr marL="0" indent="0">
              <a:buNone/>
            </a:pPr>
            <a:r>
              <a:rPr lang="en-IN" dirty="0"/>
              <a:t>int number = 17;</a:t>
            </a:r>
          </a:p>
          <a:p>
            <a:pPr marL="0" indent="0">
              <a:buNone/>
            </a:pPr>
            <a:r>
              <a:rPr lang="en-IN" dirty="0"/>
              <a:t>number %= 5;</a:t>
            </a:r>
          </a:p>
          <a:p>
            <a:pPr marL="0" indent="0">
              <a:buNone/>
            </a:pPr>
            <a:r>
              <a:rPr lang="en-IN" dirty="0" err="1"/>
              <a:t>Console.WriteLine</a:t>
            </a:r>
            <a:r>
              <a:rPr lang="en-IN" dirty="0"/>
              <a:t>(number);</a:t>
            </a:r>
          </a:p>
        </p:txBody>
      </p:sp>
    </p:spTree>
    <p:extLst>
      <p:ext uri="{BB962C8B-B14F-4D97-AF65-F5344CB8AC3E}">
        <p14:creationId xmlns:p14="http://schemas.microsoft.com/office/powerpoint/2010/main" val="3453014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E135D-9C20-DA3B-0B51-722DD8FF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 Conversions: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71D60-258D-ED40-71AE-6ACA21B52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Type Conversion</a:t>
            </a:r>
            <a:r>
              <a:rPr lang="en-IN" sz="2400" dirty="0"/>
              <a:t> is the process of converting a value from one data type to another.</a:t>
            </a:r>
          </a:p>
          <a:p>
            <a:pPr marL="0" indent="0">
              <a:buNone/>
            </a:pPr>
            <a:r>
              <a:rPr lang="en-IN" sz="2400" b="1" dirty="0"/>
              <a:t>For example:</a:t>
            </a:r>
          </a:p>
          <a:p>
            <a:r>
              <a:rPr lang="en-IN" sz="2000" dirty="0"/>
              <a:t>Convert int to double </a:t>
            </a:r>
          </a:p>
          <a:p>
            <a:r>
              <a:rPr lang="en-IN" sz="2000" dirty="0"/>
              <a:t>Convert double to int </a:t>
            </a:r>
          </a:p>
          <a:p>
            <a:r>
              <a:rPr lang="en-IN" sz="2000" dirty="0"/>
              <a:t>Convert char to int </a:t>
            </a:r>
          </a:p>
          <a:p>
            <a:r>
              <a:rPr lang="en-IN" sz="2000" dirty="0"/>
              <a:t>Convert string to int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453341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02FF9-D96B-2023-5C0F-BA11EA834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E1F42-A2A7-7ED1-664B-42D752279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Type Conversion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23A6E1-4172-0289-6F8B-9A096B7ED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dirty="0"/>
              <a:t>There are mainly </a:t>
            </a:r>
            <a:r>
              <a:rPr lang="en-IN" sz="2400" b="1" dirty="0"/>
              <a:t>two types</a:t>
            </a:r>
            <a:r>
              <a:rPr lang="en-IN" sz="2400" dirty="0"/>
              <a:t> of type conversions in C#.</a:t>
            </a:r>
          </a:p>
          <a:p>
            <a:pPr marL="0" indent="0">
              <a:buNone/>
            </a:pPr>
            <a:r>
              <a:rPr lang="en-IN" sz="2400" b="1" dirty="0"/>
              <a:t>1. Implicit Conversion (Automatic Conversion):</a:t>
            </a:r>
          </a:p>
          <a:p>
            <a:pPr marL="0" indent="0">
              <a:buNone/>
            </a:pPr>
            <a:r>
              <a:rPr lang="en-IN" sz="2400" b="1" dirty="0"/>
              <a:t>Implicit Conversion</a:t>
            </a:r>
            <a:r>
              <a:rPr lang="en-IN" sz="2400" dirty="0"/>
              <a:t> is the automatic conversion performed by the C# compiler.</a:t>
            </a:r>
          </a:p>
          <a:p>
            <a:pPr marL="0" indent="0">
              <a:buNone/>
            </a:pPr>
            <a:r>
              <a:rPr lang="en-IN" sz="2400" dirty="0"/>
              <a:t>It happens when:</a:t>
            </a:r>
          </a:p>
          <a:p>
            <a:r>
              <a:rPr lang="en-IN" sz="2400" dirty="0"/>
              <a:t>There is no risk of losing data. </a:t>
            </a:r>
          </a:p>
          <a:p>
            <a:r>
              <a:rPr lang="en-IN" sz="2400" dirty="0"/>
              <a:t>The destination data type is larger than the source data type. </a:t>
            </a:r>
          </a:p>
          <a:p>
            <a:r>
              <a:rPr lang="en-IN" sz="2400" dirty="0"/>
              <a:t>The compiler performs the conversion automatically.</a:t>
            </a:r>
          </a:p>
          <a:p>
            <a:pPr marL="0" indent="0">
              <a:buNone/>
            </a:pPr>
            <a:r>
              <a:rPr lang="en-IN" sz="2400" b="1" dirty="0"/>
              <a:t>Example 1</a:t>
            </a:r>
          </a:p>
          <a:p>
            <a:pPr marL="0" indent="0">
              <a:buNone/>
            </a:pPr>
            <a:r>
              <a:rPr lang="en-IN" dirty="0"/>
              <a:t>int number = 100;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double value = number;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Console.WriteLine</a:t>
            </a:r>
            <a:r>
              <a:rPr lang="en-IN" dirty="0"/>
              <a:t>(value);</a:t>
            </a:r>
          </a:p>
          <a:p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83994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853DB-768F-1AF1-E15B-E6E97F880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Type Conversion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2ED41-76D3-F0C7-F75B-3AC5D8E6A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2. Explicit Conversion (Manual Conversion)</a:t>
            </a:r>
          </a:p>
          <a:p>
            <a:pPr marL="0" indent="0">
              <a:buNone/>
            </a:pPr>
            <a:r>
              <a:rPr lang="en-IN" sz="2400" b="1" dirty="0"/>
              <a:t>Explicit Conversion</a:t>
            </a:r>
            <a:r>
              <a:rPr lang="en-IN" sz="2400" dirty="0"/>
              <a:t> is a conversion that you perform manually. It is required when there is a possibility of data loss.</a:t>
            </a:r>
          </a:p>
          <a:p>
            <a:pPr marL="0" indent="0">
              <a:buNone/>
            </a:pPr>
            <a:r>
              <a:rPr lang="en-IN" sz="2400" b="1" dirty="0"/>
              <a:t>Syntax: </a:t>
            </a:r>
            <a:r>
              <a:rPr lang="en-IN" sz="2400" dirty="0"/>
              <a:t>(</a:t>
            </a:r>
            <a:r>
              <a:rPr lang="en-IN" sz="2400" dirty="0" err="1"/>
              <a:t>TargetType</a:t>
            </a:r>
            <a:r>
              <a:rPr lang="en-IN" sz="2400" dirty="0"/>
              <a:t>) value</a:t>
            </a:r>
          </a:p>
          <a:p>
            <a:pPr marL="0" indent="0">
              <a:buNone/>
            </a:pPr>
            <a:r>
              <a:rPr lang="en-IN" sz="2400" b="1" dirty="0"/>
              <a:t>Ex: </a:t>
            </a:r>
          </a:p>
          <a:p>
            <a:pPr marL="0" indent="0">
              <a:buNone/>
            </a:pPr>
            <a:r>
              <a:rPr lang="en-US" sz="2400" dirty="0"/>
              <a:t>double price = 99.99;</a:t>
            </a:r>
          </a:p>
          <a:p>
            <a:pPr marL="0" indent="0">
              <a:buNone/>
            </a:pPr>
            <a:r>
              <a:rPr lang="en-US" sz="2400" dirty="0"/>
              <a:t>int amount = (int)price;</a:t>
            </a:r>
          </a:p>
          <a:p>
            <a:pPr marL="0" indent="0">
              <a:buNone/>
            </a:pPr>
            <a:r>
              <a:rPr lang="en-US" sz="2400" dirty="0" err="1"/>
              <a:t>Console.WriteLine</a:t>
            </a:r>
            <a:r>
              <a:rPr lang="en-US" sz="2400" dirty="0"/>
              <a:t>(amount);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748271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785C-6DE3-841D-2748-BFCC386C5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 Conversion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5F699-B93E-6327-1660-76D1C3C5F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Type Conversion Methods</a:t>
            </a:r>
            <a:r>
              <a:rPr lang="en-IN" sz="2400" dirty="0"/>
              <a:t> are built-in methods provided by C# to convert one data type into another safely and conveniently.</a:t>
            </a:r>
          </a:p>
          <a:p>
            <a:pPr marL="0" indent="0">
              <a:buNone/>
            </a:pPr>
            <a:r>
              <a:rPr lang="en-IN" sz="2400" dirty="0"/>
              <a:t>For example:</a:t>
            </a:r>
          </a:p>
          <a:p>
            <a:pPr marL="0" indent="0">
              <a:buNone/>
            </a:pPr>
            <a:r>
              <a:rPr lang="en-IN" sz="2400" dirty="0"/>
              <a:t>string age = "25";</a:t>
            </a:r>
            <a:br>
              <a:rPr lang="en-IN" sz="2400" dirty="0"/>
            </a:br>
            <a:r>
              <a:rPr lang="en-IN" sz="2400" dirty="0"/>
              <a:t>int number = Convert.ToInt32(age);</a:t>
            </a:r>
          </a:p>
          <a:p>
            <a:pPr marL="0" indent="0">
              <a:buNone/>
            </a:pPr>
            <a:r>
              <a:rPr lang="en-IN" sz="2400" dirty="0"/>
              <a:t>The string "25" is converted into the integer 25.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53402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F75A-BB1B-FC20-E0B0-A4E67D7D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Convert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11927-FD08-9E79-1E23-F6886A837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3886"/>
            <a:ext cx="10058400" cy="45415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/>
              <a:t>The </a:t>
            </a:r>
            <a:r>
              <a:rPr lang="en-IN" sz="2000" b="1" dirty="0"/>
              <a:t>Convert</a:t>
            </a:r>
            <a:r>
              <a:rPr lang="en-IN" sz="2000" dirty="0"/>
              <a:t> class is a built-in .NET class that provides methods for converting between different data types. Some commonly used methods:</a:t>
            </a:r>
          </a:p>
          <a:p>
            <a:r>
              <a:rPr lang="en-IN" sz="2000" dirty="0"/>
              <a:t>Convert.ToInt32() </a:t>
            </a:r>
          </a:p>
          <a:p>
            <a:r>
              <a:rPr lang="en-IN" sz="2000" dirty="0" err="1"/>
              <a:t>Convert.ToDouble</a:t>
            </a:r>
            <a:r>
              <a:rPr lang="en-IN" sz="2000" dirty="0"/>
              <a:t>() </a:t>
            </a:r>
          </a:p>
          <a:p>
            <a:r>
              <a:rPr lang="en-IN" sz="2000" dirty="0" err="1"/>
              <a:t>Convert.ToDecimal</a:t>
            </a:r>
            <a:r>
              <a:rPr lang="en-IN" sz="2000" dirty="0"/>
              <a:t>() </a:t>
            </a:r>
          </a:p>
          <a:p>
            <a:r>
              <a:rPr lang="en-IN" sz="2000" dirty="0" err="1"/>
              <a:t>Convert.ToBoolean</a:t>
            </a:r>
            <a:r>
              <a:rPr lang="en-IN" sz="2000" dirty="0"/>
              <a:t>() </a:t>
            </a:r>
          </a:p>
          <a:p>
            <a:r>
              <a:rPr lang="en-IN" sz="2000" dirty="0" err="1"/>
              <a:t>Convert.ToChar</a:t>
            </a:r>
            <a:r>
              <a:rPr lang="en-IN" sz="2000" dirty="0"/>
              <a:t>() </a:t>
            </a:r>
          </a:p>
          <a:p>
            <a:r>
              <a:rPr lang="en-IN" sz="2000" dirty="0" err="1"/>
              <a:t>Convert.ToString</a:t>
            </a:r>
            <a:r>
              <a:rPr lang="en-IN" sz="2000" dirty="0"/>
              <a:t>() </a:t>
            </a:r>
            <a:br>
              <a:rPr lang="en-IN" sz="2000" dirty="0"/>
            </a:b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Example – String to Integer</a:t>
            </a:r>
          </a:p>
          <a:p>
            <a:pPr marL="0" indent="0">
              <a:buNone/>
            </a:pPr>
            <a:r>
              <a:rPr lang="en-IN" sz="2000" dirty="0"/>
              <a:t>string age = "25";</a:t>
            </a:r>
            <a:br>
              <a:rPr lang="en-IN" sz="2000" dirty="0"/>
            </a:br>
            <a:r>
              <a:rPr lang="en-IN" sz="2000" dirty="0"/>
              <a:t>int number = Convert.ToInt32(age);</a:t>
            </a:r>
            <a:br>
              <a:rPr lang="en-IN" sz="2000" dirty="0"/>
            </a:br>
            <a:r>
              <a:rPr lang="en-IN" sz="2000" dirty="0" err="1"/>
              <a:t>Console.WriteLine</a:t>
            </a:r>
            <a:r>
              <a:rPr lang="en-IN" sz="2000" dirty="0"/>
              <a:t>(number);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88715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6D9F-7128-DE2D-9AEB-1E9FE8068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Parse()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14A0B-D001-45EB-6B0D-03A40DBB7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5567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dirty="0"/>
              <a:t>Parse() converts a string into another data type. Every numeric type has its own Parse() method.</a:t>
            </a:r>
          </a:p>
          <a:p>
            <a:pPr marL="0" indent="0">
              <a:buNone/>
            </a:pPr>
            <a:r>
              <a:rPr lang="en-IN" sz="2000" dirty="0"/>
              <a:t>Examples:</a:t>
            </a:r>
          </a:p>
          <a:p>
            <a:r>
              <a:rPr lang="en-IN" sz="2000" dirty="0" err="1"/>
              <a:t>int.Parse</a:t>
            </a:r>
            <a:r>
              <a:rPr lang="en-IN" sz="2000" dirty="0"/>
              <a:t>() </a:t>
            </a:r>
          </a:p>
          <a:p>
            <a:r>
              <a:rPr lang="en-IN" sz="2000" dirty="0" err="1"/>
              <a:t>double.Parse</a:t>
            </a:r>
            <a:r>
              <a:rPr lang="en-IN" sz="2000" dirty="0"/>
              <a:t>() </a:t>
            </a:r>
          </a:p>
          <a:p>
            <a:r>
              <a:rPr lang="en-IN" sz="2000" dirty="0" err="1"/>
              <a:t>decimal.Parse</a:t>
            </a:r>
            <a:r>
              <a:rPr lang="en-IN" sz="2000" dirty="0"/>
              <a:t>() </a:t>
            </a:r>
          </a:p>
          <a:p>
            <a:r>
              <a:rPr lang="en-IN" sz="2000" dirty="0" err="1"/>
              <a:t>bool.Parse</a:t>
            </a:r>
            <a:r>
              <a:rPr lang="en-IN" sz="2000" dirty="0"/>
              <a:t>() </a:t>
            </a:r>
          </a:p>
          <a:p>
            <a:r>
              <a:rPr lang="en-IN" sz="2000" dirty="0" err="1"/>
              <a:t>DateTime.Parse</a:t>
            </a:r>
            <a:r>
              <a:rPr lang="en-IN" sz="2000" dirty="0"/>
              <a:t>() 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Example:</a:t>
            </a:r>
          </a:p>
          <a:p>
            <a:pPr marL="0" indent="0">
              <a:buNone/>
            </a:pPr>
            <a:r>
              <a:rPr lang="en-IN" sz="2000" dirty="0"/>
              <a:t>string number = "100";</a:t>
            </a:r>
            <a:br>
              <a:rPr lang="en-IN" sz="2000" dirty="0"/>
            </a:br>
            <a:r>
              <a:rPr lang="en-IN" sz="2000" dirty="0"/>
              <a:t>int value = </a:t>
            </a:r>
            <a:r>
              <a:rPr lang="en-IN" sz="2000" dirty="0" err="1"/>
              <a:t>int.Parse</a:t>
            </a:r>
            <a:r>
              <a:rPr lang="en-IN" sz="2000" dirty="0"/>
              <a:t>(number);</a:t>
            </a:r>
            <a:br>
              <a:rPr lang="en-IN" sz="2000" dirty="0"/>
            </a:br>
            <a:r>
              <a:rPr lang="en-IN" sz="2000" dirty="0" err="1"/>
              <a:t>Console.WriteLine</a:t>
            </a:r>
            <a:r>
              <a:rPr lang="en-IN" sz="2000" dirty="0"/>
              <a:t>(value);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186945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7EEE6-13BB-687C-AE75-A81359815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FE73-AA0A-3CA0-590F-74DF4D560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is Operator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E38E-7479-FC09-8F59-ADA5EC50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5141495" cy="39319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dirty="0"/>
              <a:t>The is operator checks whether an object is compatible with a specified type. It returns: true or false .</a:t>
            </a:r>
          </a:p>
          <a:p>
            <a:pPr marL="0" indent="0">
              <a:buNone/>
            </a:pPr>
            <a:r>
              <a:rPr lang="en-IN" sz="2800" b="1" dirty="0"/>
              <a:t>Syntax: </a:t>
            </a:r>
            <a:r>
              <a:rPr lang="en-IN" sz="2800" dirty="0"/>
              <a:t>object is Type</a:t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E12BE-5DC1-378C-477B-031ACF8C02FF}"/>
              </a:ext>
            </a:extLst>
          </p:cNvPr>
          <p:cNvSpPr txBox="1"/>
          <p:nvPr/>
        </p:nvSpPr>
        <p:spPr>
          <a:xfrm>
            <a:off x="6385330" y="1814201"/>
            <a:ext cx="53420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class Animal { </a:t>
            </a:r>
          </a:p>
          <a:p>
            <a:r>
              <a:rPr lang="en-IN" sz="2800" dirty="0"/>
              <a:t>} </a:t>
            </a:r>
          </a:p>
          <a:p>
            <a:r>
              <a:rPr lang="en-IN" sz="2800" dirty="0"/>
              <a:t>class Dog : Animal {</a:t>
            </a:r>
          </a:p>
          <a:p>
            <a:r>
              <a:rPr lang="en-IN" sz="2800" dirty="0"/>
              <a:t> }</a:t>
            </a:r>
          </a:p>
          <a:p>
            <a:r>
              <a:rPr lang="en-IN" sz="2800" dirty="0"/>
              <a:t>class Program {</a:t>
            </a:r>
          </a:p>
          <a:p>
            <a:r>
              <a:rPr lang="en-IN" sz="2800" dirty="0"/>
              <a:t> static void Main() { </a:t>
            </a:r>
          </a:p>
          <a:p>
            <a:r>
              <a:rPr lang="en-IN" sz="2800" dirty="0"/>
              <a:t>Animal </a:t>
            </a:r>
            <a:r>
              <a:rPr lang="en-IN" sz="2800" dirty="0" err="1"/>
              <a:t>animal</a:t>
            </a:r>
            <a:r>
              <a:rPr lang="en-IN" sz="2800" dirty="0"/>
              <a:t> = new Dog(); </a:t>
            </a:r>
          </a:p>
          <a:p>
            <a:r>
              <a:rPr lang="en-IN" sz="2800" dirty="0" err="1"/>
              <a:t>Console.WriteLine</a:t>
            </a:r>
            <a:r>
              <a:rPr lang="en-IN" sz="2800" dirty="0"/>
              <a:t>(animal is Dog); </a:t>
            </a:r>
          </a:p>
          <a:p>
            <a:r>
              <a:rPr lang="en-IN" sz="2800" dirty="0"/>
              <a:t>} </a:t>
            </a:r>
          </a:p>
          <a:p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10843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95BD0-213B-612C-91C9-87A7ECBF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5F1E5-21E4-7CCD-5F1A-1EC12C5E6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34380"/>
            <a:ext cx="10058400" cy="1371600"/>
          </a:xfrm>
        </p:spPr>
        <p:txBody>
          <a:bodyPr/>
          <a:lstStyle/>
          <a:p>
            <a:r>
              <a:rPr lang="en-IN" b="1" dirty="0"/>
              <a:t>as Operator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ED78C-5F9D-0E54-C352-0FFDB3648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05980"/>
            <a:ext cx="10058400" cy="46177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800" dirty="0"/>
              <a:t>The as operator attempts to cast an object. If successful  returns the object. If unsuccessful returns null. Unlike direct casting, it does not throw an exception.</a:t>
            </a:r>
          </a:p>
          <a:p>
            <a:pPr marL="0" indent="0">
              <a:buNone/>
            </a:pPr>
            <a:r>
              <a:rPr lang="en-IN" sz="2800" b="1" dirty="0"/>
              <a:t>Syntax: </a:t>
            </a:r>
            <a:r>
              <a:rPr lang="en-IN" sz="2800" dirty="0"/>
              <a:t>object as Type</a:t>
            </a:r>
          </a:p>
          <a:p>
            <a:pPr marL="0" indent="0">
              <a:buNone/>
            </a:pPr>
            <a:r>
              <a:rPr lang="en-IN" sz="2800" b="1" dirty="0"/>
              <a:t>Example:</a:t>
            </a:r>
          </a:p>
          <a:p>
            <a:pPr marL="0" indent="0">
              <a:buNone/>
            </a:pPr>
            <a:r>
              <a:rPr lang="en-IN" sz="2800" dirty="0"/>
              <a:t>Animal </a:t>
            </a:r>
            <a:r>
              <a:rPr lang="en-IN" sz="2800" dirty="0" err="1"/>
              <a:t>animal</a:t>
            </a:r>
            <a:r>
              <a:rPr lang="en-IN" sz="2800" dirty="0"/>
              <a:t> = new Dog();</a:t>
            </a:r>
            <a:br>
              <a:rPr lang="en-IN" sz="2800" dirty="0"/>
            </a:br>
            <a:r>
              <a:rPr lang="en-IN" sz="2800" dirty="0"/>
              <a:t>Dog </a:t>
            </a:r>
            <a:r>
              <a:rPr lang="en-IN" sz="2800" dirty="0" err="1"/>
              <a:t>dog</a:t>
            </a:r>
            <a:r>
              <a:rPr lang="en-IN" sz="2800" dirty="0"/>
              <a:t> = animal as Dog;</a:t>
            </a:r>
            <a:br>
              <a:rPr lang="en-IN" sz="2800" dirty="0"/>
            </a:br>
            <a:r>
              <a:rPr lang="en-IN" sz="2800" dirty="0"/>
              <a:t>if (dog != null)</a:t>
            </a:r>
            <a:br>
              <a:rPr lang="en-IN" sz="2800" dirty="0"/>
            </a:br>
            <a:r>
              <a:rPr lang="en-IN" sz="2800" dirty="0"/>
              <a:t>{</a:t>
            </a:r>
            <a:br>
              <a:rPr lang="en-IN" sz="2800" dirty="0"/>
            </a:br>
            <a:r>
              <a:rPr lang="en-IN" sz="2800" dirty="0"/>
              <a:t>    </a:t>
            </a:r>
            <a:r>
              <a:rPr lang="en-IN" sz="2800" dirty="0" err="1"/>
              <a:t>dog.Bark</a:t>
            </a:r>
            <a:r>
              <a:rPr lang="en-IN" sz="2800" dirty="0"/>
              <a:t>();</a:t>
            </a:r>
            <a:br>
              <a:rPr lang="en-IN" sz="2800" dirty="0"/>
            </a:br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40835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F2127-92BA-B539-13A6-3EA882EB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Structures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FD73D-17A4-CC96-82FA-940E4E371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4195"/>
            <a:ext cx="10058400" cy="448285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400" dirty="0"/>
              <a:t>A </a:t>
            </a:r>
            <a:r>
              <a:rPr lang="en-IN" sz="2400" b="1" dirty="0"/>
              <a:t>Data Structure</a:t>
            </a:r>
            <a:r>
              <a:rPr lang="en-IN" sz="2400" dirty="0"/>
              <a:t> is a method of storing and organizing data so it can be used efficiently.</a:t>
            </a:r>
          </a:p>
          <a:p>
            <a:pPr marL="0" indent="0">
              <a:buNone/>
            </a:pPr>
            <a:r>
              <a:rPr lang="en-IN" sz="2400" b="1" dirty="0"/>
              <a:t>Example: </a:t>
            </a:r>
            <a:r>
              <a:rPr lang="en-IN" sz="2400" dirty="0"/>
              <a:t>Suppose you want to store the marks of 5 students.</a:t>
            </a:r>
          </a:p>
          <a:p>
            <a:pPr marL="0" indent="0">
              <a:buNone/>
            </a:pPr>
            <a:r>
              <a:rPr lang="en-IN" sz="2400" dirty="0"/>
              <a:t>Without an array:</a:t>
            </a:r>
          </a:p>
          <a:p>
            <a:pPr marL="0" indent="0">
              <a:buNone/>
            </a:pPr>
            <a:r>
              <a:rPr lang="en-IN" dirty="0"/>
              <a:t>int mark1 = 85;</a:t>
            </a:r>
          </a:p>
          <a:p>
            <a:pPr marL="0" indent="0">
              <a:buNone/>
            </a:pPr>
            <a:r>
              <a:rPr lang="en-IN" dirty="0"/>
              <a:t>int mark2 = 90;</a:t>
            </a:r>
          </a:p>
          <a:p>
            <a:pPr marL="0" indent="0">
              <a:buNone/>
            </a:pPr>
            <a:r>
              <a:rPr lang="en-IN" dirty="0"/>
              <a:t>int mark3 = 78;</a:t>
            </a:r>
          </a:p>
          <a:p>
            <a:pPr marL="0" indent="0">
              <a:buNone/>
            </a:pPr>
            <a:r>
              <a:rPr lang="en-IN" dirty="0"/>
              <a:t>int mark4 = 88;</a:t>
            </a:r>
          </a:p>
          <a:p>
            <a:pPr marL="0" indent="0">
              <a:buNone/>
            </a:pPr>
            <a:r>
              <a:rPr lang="en-IN" dirty="0"/>
              <a:t>int mark5 = 95; </a:t>
            </a:r>
          </a:p>
          <a:p>
            <a:pPr marL="0" indent="0">
              <a:buNone/>
            </a:pPr>
            <a:r>
              <a:rPr lang="en-IN" sz="2400" dirty="0"/>
              <a:t>Using an array: </a:t>
            </a:r>
            <a:r>
              <a:rPr lang="en-IN" dirty="0"/>
              <a:t>int[] marks = { 85, 90, 78, 88, 95 };</a:t>
            </a:r>
          </a:p>
          <a:p>
            <a:pPr marL="0" indent="0">
              <a:buNone/>
            </a:pPr>
            <a:r>
              <a:rPr lang="en-IN" sz="2400" dirty="0"/>
              <a:t>All marks are stored in a single variable.</a:t>
            </a:r>
          </a:p>
          <a:p>
            <a:pPr marL="0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72853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E52F-B0F3-9E26-2F60-607740539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D1704-BC15-E1CE-70E8-CD5C4C5AB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IN" sz="2800" dirty="0"/>
              <a:t>An </a:t>
            </a:r>
            <a:r>
              <a:rPr lang="en-IN" sz="2800" b="1" dirty="0"/>
              <a:t>Array</a:t>
            </a:r>
            <a:r>
              <a:rPr lang="en-IN" sz="2800" dirty="0"/>
              <a:t> is a collection of elements of the same data type stored in continuous memory locations. Each element is identified by an index. </a:t>
            </a:r>
          </a:p>
          <a:p>
            <a:pPr marL="0" indent="0" algn="just">
              <a:buNone/>
            </a:pPr>
            <a:r>
              <a:rPr lang="en-IN" sz="2800" u="sng" dirty="0"/>
              <a:t>Index always starts from 0.</a:t>
            </a:r>
          </a:p>
          <a:p>
            <a:pPr marL="0" indent="0">
              <a:buNone/>
            </a:pPr>
            <a:r>
              <a:rPr lang="en-IN" sz="2800" b="1" dirty="0"/>
              <a:t>Example: </a:t>
            </a:r>
            <a:r>
              <a:rPr lang="en-IN" sz="2600" dirty="0"/>
              <a:t>int[] numbers = {10, 20, 30, 40, 50};</a:t>
            </a:r>
          </a:p>
          <a:p>
            <a:pPr marL="0" indent="0">
              <a:buNone/>
            </a:pPr>
            <a:r>
              <a:rPr lang="en-IN" sz="2800" dirty="0"/>
              <a:t>Here:</a:t>
            </a:r>
          </a:p>
          <a:p>
            <a:r>
              <a:rPr lang="en-IN" sz="2600" dirty="0"/>
              <a:t>numbers[0] → 10 </a:t>
            </a:r>
          </a:p>
          <a:p>
            <a:r>
              <a:rPr lang="en-IN" sz="2600" dirty="0"/>
              <a:t>numbers[1] → 20 </a:t>
            </a:r>
          </a:p>
          <a:p>
            <a:r>
              <a:rPr lang="en-IN" sz="2600" dirty="0"/>
              <a:t>numbers[4] → 50 </a:t>
            </a:r>
          </a:p>
          <a:p>
            <a:pPr marL="0" indent="0" algn="just">
              <a:buNone/>
            </a:pPr>
            <a:endParaRPr lang="en-IN" sz="2800" dirty="0"/>
          </a:p>
          <a:p>
            <a:pPr marL="0" indent="0" algn="just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185412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090A7-256C-A665-B7E6-D5E30A17E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Arrays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74553-B414-CCF5-2064-4C370F89D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sz="2800" b="1" dirty="0"/>
              <a:t>One-Dimensional (1D) Array:</a:t>
            </a:r>
          </a:p>
          <a:p>
            <a:pPr marL="0" indent="0">
              <a:buNone/>
            </a:pPr>
            <a:r>
              <a:rPr lang="en-IN" sz="2800" dirty="0"/>
              <a:t>A One-Dimensional Array stores elements in a single row.</a:t>
            </a:r>
          </a:p>
          <a:p>
            <a:pPr marL="0" indent="0">
              <a:buNone/>
            </a:pPr>
            <a:r>
              <a:rPr lang="en-IN" sz="2800" b="1" dirty="0"/>
              <a:t>Syntax: </a:t>
            </a:r>
            <a:r>
              <a:rPr lang="en-IN" sz="2400" dirty="0"/>
              <a:t>datatype[] </a:t>
            </a:r>
            <a:r>
              <a:rPr lang="en-IN" sz="2400" dirty="0" err="1"/>
              <a:t>arrayName</a:t>
            </a:r>
            <a:r>
              <a:rPr lang="en-IN" sz="2400" dirty="0"/>
              <a:t> = new datatype[size];</a:t>
            </a:r>
          </a:p>
          <a:p>
            <a:pPr marL="0" indent="0">
              <a:buNone/>
            </a:pPr>
            <a:r>
              <a:rPr lang="en-IN" sz="2000" b="1" dirty="0"/>
              <a:t>Example:</a:t>
            </a:r>
          </a:p>
          <a:p>
            <a:pPr marL="0" indent="0">
              <a:buNone/>
            </a:pPr>
            <a:r>
              <a:rPr lang="en-IN" sz="2000" dirty="0"/>
              <a:t>int[] numbers = {10, 20, 30, 40, 50};</a:t>
            </a:r>
          </a:p>
          <a:p>
            <a:pPr marL="0" indent="0">
              <a:buNone/>
            </a:pPr>
            <a:r>
              <a:rPr lang="en-IN" sz="2000" dirty="0" err="1"/>
              <a:t>Console.WriteLine</a:t>
            </a:r>
            <a:r>
              <a:rPr lang="en-IN" sz="2000" dirty="0"/>
              <a:t>(numbers[0]);</a:t>
            </a:r>
          </a:p>
          <a:p>
            <a:pPr marL="0" indent="0">
              <a:buNone/>
            </a:pPr>
            <a:r>
              <a:rPr lang="en-IN" sz="2000" dirty="0" err="1"/>
              <a:t>Console.WriteLine</a:t>
            </a:r>
            <a:r>
              <a:rPr lang="en-IN" sz="2000" dirty="0"/>
              <a:t>(numbers[2]);</a:t>
            </a:r>
          </a:p>
          <a:p>
            <a:pPr marL="0" indent="0">
              <a:buNone/>
            </a:pPr>
            <a:r>
              <a:rPr lang="en-IN" sz="2000" dirty="0" err="1"/>
              <a:t>Console.WriteLine</a:t>
            </a:r>
            <a:r>
              <a:rPr lang="en-IN" sz="2000" dirty="0"/>
              <a:t>(numbers[4]);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709571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62758-2FE0-AC59-E8EA-29FFE5232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E138-C493-ECD5-C850-137779DC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Arrays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C32CE-4DB2-9F5D-B1E7-D8B1E326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/>
              <a:t>2. Multi-Dimensional (2D) Array:</a:t>
            </a:r>
          </a:p>
          <a:p>
            <a:pPr marL="0" indent="0">
              <a:buNone/>
            </a:pPr>
            <a:r>
              <a:rPr lang="en-IN" sz="2800" dirty="0"/>
              <a:t>A Multi-Dimensional Array stores data in rows and columns, like a table or matrix.</a:t>
            </a:r>
          </a:p>
          <a:p>
            <a:pPr marL="0" indent="0">
              <a:buNone/>
            </a:pPr>
            <a:r>
              <a:rPr lang="en-IN" sz="2800" b="1" dirty="0"/>
              <a:t>Syntax: </a:t>
            </a:r>
            <a:r>
              <a:rPr lang="en-US" sz="2400" dirty="0"/>
              <a:t>datatype[,] </a:t>
            </a:r>
            <a:r>
              <a:rPr lang="en-US" sz="2400" dirty="0" err="1"/>
              <a:t>arrayName</a:t>
            </a:r>
            <a:r>
              <a:rPr lang="en-US" sz="2400" dirty="0"/>
              <a:t> = new datatype[rows, columns];</a:t>
            </a:r>
          </a:p>
          <a:p>
            <a:pPr marL="0" indent="0">
              <a:buNone/>
            </a:pPr>
            <a:r>
              <a:rPr lang="en-IN" sz="2000" b="1" dirty="0"/>
              <a:t>Example 1</a:t>
            </a:r>
          </a:p>
          <a:p>
            <a:pPr marL="0" indent="0">
              <a:buNone/>
            </a:pPr>
            <a:r>
              <a:rPr lang="en-IN" sz="2000" dirty="0"/>
              <a:t>int[,] marks = { {80, 85, 90}, {75, 88, 95} }; </a:t>
            </a:r>
          </a:p>
          <a:p>
            <a:pPr marL="0" indent="0">
              <a:buNone/>
            </a:pPr>
            <a:r>
              <a:rPr lang="en-IN" sz="2000" dirty="0" err="1"/>
              <a:t>Console.WriteLine</a:t>
            </a:r>
            <a:r>
              <a:rPr lang="en-IN" sz="2000" dirty="0"/>
              <a:t>(marks[0,0]); </a:t>
            </a:r>
          </a:p>
          <a:p>
            <a:pPr marL="0" indent="0">
              <a:buNone/>
            </a:pPr>
            <a:r>
              <a:rPr lang="en-IN" sz="2000" dirty="0" err="1"/>
              <a:t>Console.WriteLine</a:t>
            </a:r>
            <a:r>
              <a:rPr lang="en-IN" sz="2000" dirty="0"/>
              <a:t>(marks[0,2]); </a:t>
            </a:r>
          </a:p>
          <a:p>
            <a:pPr marL="0" indent="0">
              <a:buNone/>
            </a:pPr>
            <a:r>
              <a:rPr lang="en-IN" sz="2000" dirty="0" err="1"/>
              <a:t>Console.WriteLine</a:t>
            </a:r>
            <a:r>
              <a:rPr lang="en-IN" sz="2000" dirty="0"/>
              <a:t>(marks[1,1]);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108693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16D86-D825-D28F-3787-EA59872DA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561475"/>
            <a:ext cx="10058400" cy="57751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/>
              <a:t>class Program</a:t>
            </a:r>
          </a:p>
          <a:p>
            <a:pPr marL="0" indent="0">
              <a:buNone/>
            </a:pPr>
            <a:r>
              <a:rPr lang="en-IN" sz="2400" dirty="0"/>
              <a:t>{</a:t>
            </a:r>
          </a:p>
          <a:p>
            <a:pPr marL="0" indent="0">
              <a:buNone/>
            </a:pPr>
            <a:r>
              <a:rPr lang="en-IN" sz="2400" dirty="0"/>
              <a:t>    static void Main()</a:t>
            </a:r>
          </a:p>
          <a:p>
            <a:pPr marL="0" indent="0">
              <a:buNone/>
            </a:pPr>
            <a:r>
              <a:rPr lang="en-IN" sz="2400" dirty="0"/>
              <a:t>    {</a:t>
            </a:r>
          </a:p>
          <a:p>
            <a:pPr marL="0" indent="0">
              <a:buNone/>
            </a:pPr>
            <a:r>
              <a:rPr lang="en-IN" sz="2400" dirty="0"/>
              <a:t>        int[,] marks =  {  {80,85,90},  {75,88,95} };</a:t>
            </a:r>
          </a:p>
          <a:p>
            <a:pPr marL="0" indent="0">
              <a:buNone/>
            </a:pPr>
            <a:r>
              <a:rPr lang="en-IN" sz="2400" dirty="0"/>
              <a:t>        for(int </a:t>
            </a:r>
            <a:r>
              <a:rPr lang="en-IN" sz="2400" dirty="0" err="1"/>
              <a:t>i</a:t>
            </a:r>
            <a:r>
              <a:rPr lang="en-IN" sz="2400" dirty="0"/>
              <a:t> = 0; </a:t>
            </a:r>
            <a:r>
              <a:rPr lang="en-IN" sz="2400" dirty="0" err="1"/>
              <a:t>i</a:t>
            </a:r>
            <a:r>
              <a:rPr lang="en-IN" sz="2400" dirty="0"/>
              <a:t> &lt; 2; </a:t>
            </a:r>
            <a:r>
              <a:rPr lang="en-IN" sz="2400" dirty="0" err="1"/>
              <a:t>i</a:t>
            </a:r>
            <a:r>
              <a:rPr lang="en-IN" sz="2400" dirty="0"/>
              <a:t>++)    {</a:t>
            </a:r>
          </a:p>
          <a:p>
            <a:pPr marL="0" indent="0">
              <a:buNone/>
            </a:pPr>
            <a:r>
              <a:rPr lang="en-IN" sz="2400" dirty="0"/>
              <a:t>            for(int j = 0; j &lt; 3; </a:t>
            </a:r>
            <a:r>
              <a:rPr lang="en-IN" sz="2400" dirty="0" err="1"/>
              <a:t>j++</a:t>
            </a:r>
            <a:r>
              <a:rPr lang="en-IN" sz="2400" dirty="0"/>
              <a:t>)  {</a:t>
            </a:r>
          </a:p>
          <a:p>
            <a:pPr marL="0" indent="0">
              <a:buNone/>
            </a:pPr>
            <a:r>
              <a:rPr lang="en-IN" sz="2400" dirty="0"/>
              <a:t>                </a:t>
            </a:r>
            <a:r>
              <a:rPr lang="en-IN" sz="2400" dirty="0" err="1"/>
              <a:t>Console.Write</a:t>
            </a:r>
            <a:r>
              <a:rPr lang="en-IN" sz="2400" dirty="0"/>
              <a:t>(marks[</a:t>
            </a:r>
            <a:r>
              <a:rPr lang="en-IN" sz="2400" dirty="0" err="1"/>
              <a:t>i,j</a:t>
            </a:r>
            <a:r>
              <a:rPr lang="en-IN" sz="2400" dirty="0"/>
              <a:t>] + " ");</a:t>
            </a:r>
          </a:p>
          <a:p>
            <a:pPr marL="0" indent="0">
              <a:buNone/>
            </a:pPr>
            <a:r>
              <a:rPr lang="en-IN" sz="2400" dirty="0"/>
              <a:t>            }</a:t>
            </a:r>
          </a:p>
          <a:p>
            <a:pPr marL="0" indent="0">
              <a:buNone/>
            </a:pPr>
            <a:r>
              <a:rPr lang="en-IN" sz="2400" dirty="0"/>
              <a:t>            </a:t>
            </a:r>
            <a:r>
              <a:rPr lang="en-IN" sz="2400" dirty="0" err="1"/>
              <a:t>Console.WriteLine</a:t>
            </a:r>
            <a:r>
              <a:rPr lang="en-IN" sz="2400" dirty="0"/>
              <a:t>();</a:t>
            </a:r>
          </a:p>
          <a:p>
            <a:pPr marL="0" indent="0">
              <a:buNone/>
            </a:pPr>
            <a:r>
              <a:rPr lang="en-IN" sz="2400" dirty="0"/>
              <a:t>        }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638013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A8F98-E214-7A94-4EC8-2DCAFD29F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E7B9-98E0-7F3D-58E2-CF4714695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Arrays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7D6C8-0346-2460-BFAB-A12234C11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3. Jagged</a:t>
            </a:r>
            <a:r>
              <a:rPr lang="en-IN" sz="2800" dirty="0"/>
              <a:t> </a:t>
            </a:r>
            <a:r>
              <a:rPr lang="en-IN" sz="2800" b="1" dirty="0"/>
              <a:t>Array:</a:t>
            </a:r>
          </a:p>
          <a:p>
            <a:pPr marL="0" indent="0" algn="just">
              <a:buNone/>
            </a:pPr>
            <a:r>
              <a:rPr lang="en-IN" sz="2800" dirty="0"/>
              <a:t>A Jagged Array is an array of arrays. Each row can have a different number of elements.</a:t>
            </a:r>
          </a:p>
          <a:p>
            <a:pPr marL="0" indent="0" algn="just">
              <a:buNone/>
            </a:pPr>
            <a:endParaRPr lang="en-IN" sz="2800" dirty="0"/>
          </a:p>
          <a:p>
            <a:pPr marL="0" indent="0">
              <a:buNone/>
            </a:pPr>
            <a:r>
              <a:rPr lang="en-IN" sz="2800" b="1" dirty="0"/>
              <a:t>Syntax: </a:t>
            </a:r>
            <a:r>
              <a:rPr lang="en-US" sz="2400" dirty="0"/>
              <a:t>datatype[][] </a:t>
            </a:r>
            <a:r>
              <a:rPr lang="en-US" sz="2400" dirty="0" err="1"/>
              <a:t>arrayName</a:t>
            </a:r>
            <a:r>
              <a:rPr lang="en-US" sz="2400" dirty="0"/>
              <a:t> = new datatype[</a:t>
            </a:r>
            <a:r>
              <a:rPr lang="en-US" sz="2400" dirty="0" err="1"/>
              <a:t>numberOfRows</a:t>
            </a:r>
            <a:r>
              <a:rPr lang="en-US" sz="2400" dirty="0"/>
              <a:t>][];</a:t>
            </a:r>
            <a:endParaRPr lang="en-IN" sz="2400" dirty="0"/>
          </a:p>
          <a:p>
            <a:pPr marL="0" indent="0">
              <a:buNone/>
            </a:pP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4947223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01DB-46DF-5703-8F5F-7B4E57320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978568"/>
            <a:ext cx="10058400" cy="5056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Example: </a:t>
            </a:r>
          </a:p>
          <a:p>
            <a:pPr marL="0" indent="0">
              <a:buNone/>
            </a:pPr>
            <a:r>
              <a:rPr lang="en-IN" sz="2400" dirty="0"/>
              <a:t>int[][] numbers = new int[3][];</a:t>
            </a:r>
          </a:p>
          <a:p>
            <a:pPr marL="0" indent="0">
              <a:buNone/>
            </a:pPr>
            <a:r>
              <a:rPr lang="en-IN" sz="2400" dirty="0"/>
              <a:t>numbers[0] = new int[] {10,20,30};</a:t>
            </a:r>
          </a:p>
          <a:p>
            <a:pPr marL="0" indent="0">
              <a:buNone/>
            </a:pPr>
            <a:r>
              <a:rPr lang="en-IN" sz="2400" dirty="0"/>
              <a:t>numbers[1] = new int[] {40,50};</a:t>
            </a:r>
          </a:p>
          <a:p>
            <a:pPr marL="0" indent="0">
              <a:buNone/>
            </a:pPr>
            <a:r>
              <a:rPr lang="en-IN" sz="2400" dirty="0"/>
              <a:t>numbers[2] = new int[] {60,70,80,90};</a:t>
            </a:r>
          </a:p>
          <a:p>
            <a:pPr marL="0" indent="0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(numbers[0][2]);</a:t>
            </a:r>
          </a:p>
          <a:p>
            <a:pPr marL="0" indent="0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(numbers[1][1]);</a:t>
            </a:r>
          </a:p>
          <a:p>
            <a:pPr marL="0" indent="0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(numbers[2][3]);</a:t>
            </a:r>
          </a:p>
          <a:p>
            <a:pPr marL="0" indent="0">
              <a:buNone/>
            </a:pPr>
            <a:r>
              <a:rPr lang="en-IN" sz="2400" dirty="0"/>
              <a:t>    }</a:t>
            </a:r>
          </a:p>
          <a:p>
            <a:pPr marL="0" indent="0">
              <a:buNone/>
            </a:pPr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10261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D0FE-6E80-6DB1-A428-2FDED1815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DFD1A-475E-467C-BAA1-067DB668E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Collections: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E2542-4E0D-176B-0CD8-F2B7F887D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IN" sz="2400" dirty="0"/>
              <a:t>A generic collection is a collection that can store objects of any type, as long as the type parameter is specified at the time of instantiation. </a:t>
            </a:r>
          </a:p>
          <a:p>
            <a:pPr marL="0" indent="0" algn="just">
              <a:buNone/>
            </a:pPr>
            <a:r>
              <a:rPr lang="en-IN" sz="2400" dirty="0"/>
              <a:t>In other words, a generic collection can be used to store a collection of objects of any type, without having to create a separate collection for each type of object.</a:t>
            </a:r>
          </a:p>
          <a:p>
            <a:pPr marL="0" indent="0" algn="just">
              <a:buNone/>
            </a:pPr>
            <a:r>
              <a:rPr lang="en-IN" sz="2400" b="1" dirty="0"/>
              <a:t>Generics</a:t>
            </a:r>
            <a:r>
              <a:rPr lang="en-IN" sz="2400" dirty="0"/>
              <a:t> = Tool to write general-purpose code that works with any data type.</a:t>
            </a:r>
          </a:p>
          <a:p>
            <a:pPr marL="0" indent="0">
              <a:buNone/>
            </a:pPr>
            <a:br>
              <a:rPr lang="en-IN" sz="2400" dirty="0"/>
            </a:br>
            <a:r>
              <a:rPr lang="en-IN" sz="2400" b="1" dirty="0"/>
              <a:t>Collections</a:t>
            </a:r>
            <a:r>
              <a:rPr lang="en-IN" sz="2400" dirty="0"/>
              <a:t> = Ready-made tools (like List, Dictionary, Stack) to store and organize data-  most are built using generics!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Ex: </a:t>
            </a:r>
            <a:r>
              <a:rPr lang="en-IN" sz="2400" dirty="0"/>
              <a:t>List&lt;int&gt; numbers = new List&lt;int&gt;();</a:t>
            </a:r>
          </a:p>
          <a:p>
            <a:pPr marL="0" indent="0">
              <a:buNone/>
            </a:pPr>
            <a:r>
              <a:rPr lang="en-IN" sz="2400" dirty="0" err="1"/>
              <a:t>numbers.Add</a:t>
            </a:r>
            <a:r>
              <a:rPr lang="en-IN" sz="2400" dirty="0"/>
              <a:t>(10); </a:t>
            </a:r>
          </a:p>
          <a:p>
            <a:pPr marL="0" indent="0">
              <a:buNone/>
            </a:pPr>
            <a:r>
              <a:rPr lang="en-IN" sz="2400" dirty="0" err="1"/>
              <a:t>numbers.Add</a:t>
            </a:r>
            <a:r>
              <a:rPr lang="en-IN" sz="2400" dirty="0"/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201892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8265D-B255-AA4F-813D-E0AF9BE48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59E88-22D7-D0CF-95C5-A8FA2AE5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1122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1. List&lt;T&gt;</a:t>
            </a:r>
          </a:p>
          <a:p>
            <a:pPr marL="0" indent="0" algn="just">
              <a:buNone/>
            </a:pPr>
            <a:r>
              <a:rPr lang="en-IN" sz="2400" dirty="0"/>
              <a:t>A </a:t>
            </a:r>
            <a:r>
              <a:rPr lang="en-IN" sz="2400" b="1" dirty="0"/>
              <a:t>List</a:t>
            </a:r>
            <a:r>
              <a:rPr lang="en-IN" sz="2400" dirty="0"/>
              <a:t> stores elements in </a:t>
            </a:r>
            <a:r>
              <a:rPr lang="en-IN" sz="2400" b="1" dirty="0"/>
              <a:t>order</a:t>
            </a:r>
            <a:r>
              <a:rPr lang="en-IN" sz="2400" dirty="0"/>
              <a:t> and allows duplicate values. It is similar to an array but has a </a:t>
            </a:r>
            <a:r>
              <a:rPr lang="en-IN" sz="2400" b="1" dirty="0"/>
              <a:t>dynamic size</a:t>
            </a:r>
            <a:r>
              <a:rPr lang="en-IN" sz="2400" dirty="0"/>
              <a:t>.</a:t>
            </a:r>
          </a:p>
          <a:p>
            <a:pPr marL="0" indent="0" algn="just">
              <a:buNone/>
            </a:pPr>
            <a:r>
              <a:rPr lang="en-IN" sz="2400" dirty="0"/>
              <a:t>A </a:t>
            </a:r>
            <a:r>
              <a:rPr lang="en-IN" sz="2400" b="1" dirty="0"/>
              <a:t>List</a:t>
            </a:r>
            <a:r>
              <a:rPr lang="en-IN" sz="2400" dirty="0"/>
              <a:t> is a dynamic collection that stores elements in order and allows duplicate values.</a:t>
            </a:r>
          </a:p>
          <a:p>
            <a:pPr marL="0" indent="0" algn="just">
              <a:buNone/>
            </a:pPr>
            <a:r>
              <a:rPr lang="en-IN" sz="2400" b="1" dirty="0"/>
              <a:t>Syntax: </a:t>
            </a:r>
            <a:r>
              <a:rPr lang="en-IN" sz="2400" dirty="0"/>
              <a:t>List&lt;</a:t>
            </a:r>
            <a:r>
              <a:rPr lang="en-IN" sz="2400" dirty="0" err="1"/>
              <a:t>DataType</a:t>
            </a:r>
            <a:r>
              <a:rPr lang="en-IN" sz="2400" dirty="0"/>
              <a:t>&gt; </a:t>
            </a:r>
            <a:r>
              <a:rPr lang="en-IN" sz="2400" dirty="0" err="1"/>
              <a:t>listName</a:t>
            </a:r>
            <a:r>
              <a:rPr lang="en-IN" sz="2400" dirty="0"/>
              <a:t> = new List&lt;</a:t>
            </a:r>
            <a:r>
              <a:rPr lang="en-IN" sz="2400" dirty="0" err="1"/>
              <a:t>DataType</a:t>
            </a:r>
            <a:r>
              <a:rPr lang="en-IN" sz="2400" dirty="0"/>
              <a:t>&gt;();</a:t>
            </a:r>
          </a:p>
          <a:p>
            <a:pPr marL="0" indent="0" algn="just">
              <a:buNone/>
            </a:pPr>
            <a:r>
              <a:rPr lang="en-IN" sz="2400" b="1" dirty="0"/>
              <a:t>Ex: </a:t>
            </a:r>
            <a:r>
              <a:rPr lang="en-IN" sz="2400" dirty="0"/>
              <a:t>List&lt;string&gt; fruits = new List&lt;string&gt;(); </a:t>
            </a:r>
          </a:p>
          <a:p>
            <a:pPr marL="0" indent="0" algn="just">
              <a:buNone/>
            </a:pPr>
            <a:r>
              <a:rPr lang="en-IN" sz="2400" dirty="0" err="1"/>
              <a:t>fruits.Add</a:t>
            </a:r>
            <a:r>
              <a:rPr lang="en-IN" sz="2400" dirty="0"/>
              <a:t>("Apple"); </a:t>
            </a:r>
          </a:p>
          <a:p>
            <a:pPr marL="0" indent="0" algn="just">
              <a:buNone/>
            </a:pPr>
            <a:r>
              <a:rPr lang="en-IN" sz="2400" dirty="0" err="1"/>
              <a:t>fruits.Add</a:t>
            </a:r>
            <a:r>
              <a:rPr lang="en-IN" sz="2400" dirty="0"/>
              <a:t>("Mango");</a:t>
            </a:r>
          </a:p>
        </p:txBody>
      </p:sp>
    </p:spTree>
    <p:extLst>
      <p:ext uri="{BB962C8B-B14F-4D97-AF65-F5344CB8AC3E}">
        <p14:creationId xmlns:p14="http://schemas.microsoft.com/office/powerpoint/2010/main" val="32056433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C65F0-F1AB-E267-6F3B-9A283154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28863"/>
            <a:ext cx="10058400" cy="842211"/>
          </a:xfrm>
        </p:spPr>
        <p:txBody>
          <a:bodyPr/>
          <a:lstStyle/>
          <a:p>
            <a:r>
              <a:rPr lang="en-US" b="1" dirty="0"/>
              <a:t>List Methods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85955-587C-77C8-08B4-758B879C2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171074"/>
            <a:ext cx="10563726" cy="5358063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Add item: </a:t>
            </a:r>
            <a:r>
              <a:rPr lang="en-IN" sz="2400" dirty="0"/>
              <a:t>Adds an item to the end of the list-&gt; </a:t>
            </a:r>
            <a:r>
              <a:rPr lang="en-US" sz="2400" dirty="0" err="1"/>
              <a:t>fruits.Add</a:t>
            </a:r>
            <a:r>
              <a:rPr lang="en-US" sz="2400" dirty="0"/>
              <a:t>("Orange");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err="1"/>
              <a:t>AddRange</a:t>
            </a:r>
            <a:r>
              <a:rPr lang="en-IN" sz="2400" b="1" dirty="0"/>
              <a:t>(): </a:t>
            </a:r>
            <a:r>
              <a:rPr lang="en-IN" sz="2400" dirty="0"/>
              <a:t>Adds multiple items at once-&gt; </a:t>
            </a:r>
            <a:r>
              <a:rPr lang="en-IN" sz="2400" dirty="0" err="1"/>
              <a:t>fruits.AddRange</a:t>
            </a:r>
            <a:r>
              <a:rPr lang="en-IN" sz="2400" dirty="0"/>
              <a:t>(new string[] {"Banana", "Orange"});</a:t>
            </a:r>
            <a:r>
              <a:rPr lang="en-US" sz="2400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Insert(): </a:t>
            </a:r>
            <a:r>
              <a:rPr lang="en-IN" sz="2400" dirty="0"/>
              <a:t>Adds an item at a specific position-&gt; </a:t>
            </a:r>
            <a:r>
              <a:rPr lang="en-IN" sz="2400" dirty="0" err="1"/>
              <a:t>fruits.Insert</a:t>
            </a:r>
            <a:r>
              <a:rPr lang="en-IN" sz="2400" dirty="0"/>
              <a:t>(1, "Grapes");</a:t>
            </a:r>
            <a:r>
              <a:rPr lang="en-US" sz="2400" dirty="0"/>
              <a:t>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Contains(): </a:t>
            </a:r>
            <a:r>
              <a:rPr lang="en-IN" sz="2400" dirty="0"/>
              <a:t>Checks whether an item exists-&gt; </a:t>
            </a:r>
            <a:r>
              <a:rPr lang="en-IN" sz="2400" dirty="0" err="1"/>
              <a:t>fruits.Contains</a:t>
            </a:r>
            <a:r>
              <a:rPr lang="en-IN" sz="2400" dirty="0"/>
              <a:t>("Apple"));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err="1"/>
              <a:t>IndexOf</a:t>
            </a:r>
            <a:r>
              <a:rPr lang="en-IN" sz="2400" b="1" dirty="0"/>
              <a:t>(): </a:t>
            </a:r>
            <a:r>
              <a:rPr lang="en-IN" sz="2400" dirty="0"/>
              <a:t>Returns the position of an item-&gt; </a:t>
            </a:r>
            <a:r>
              <a:rPr lang="en-IN" sz="2400" dirty="0" err="1"/>
              <a:t>fruits.IndexOf</a:t>
            </a:r>
            <a:r>
              <a:rPr lang="en-IN" sz="2400" dirty="0"/>
              <a:t>("Orange");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Sort(): </a:t>
            </a:r>
            <a:r>
              <a:rPr lang="en-IN" sz="2400" dirty="0"/>
              <a:t>Sorts items alphabetically or numerically-&gt; </a:t>
            </a:r>
            <a:r>
              <a:rPr lang="en-IN" sz="2400" dirty="0" err="1"/>
              <a:t>fruits.Sort</a:t>
            </a:r>
            <a:r>
              <a:rPr lang="en-IN" sz="2400" dirty="0"/>
              <a:t>();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Reverse(): </a:t>
            </a:r>
            <a:r>
              <a:rPr lang="en-IN" sz="2400" dirty="0"/>
              <a:t>Reverses the order-&gt; </a:t>
            </a:r>
            <a:r>
              <a:rPr lang="en-IN" sz="2400" dirty="0" err="1"/>
              <a:t>fruits.Reverse</a:t>
            </a:r>
            <a:r>
              <a:rPr lang="en-IN" sz="2400" dirty="0"/>
              <a:t>();</a:t>
            </a:r>
            <a:endParaRPr lang="en-US" sz="2400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Remove item:</a:t>
            </a:r>
            <a:r>
              <a:rPr lang="en-US" sz="2400" dirty="0"/>
              <a:t> </a:t>
            </a:r>
            <a:r>
              <a:rPr lang="en-IN" sz="2400" dirty="0"/>
              <a:t>Removes the first occurrence of an item-&gt; </a:t>
            </a:r>
            <a:r>
              <a:rPr lang="en-US" sz="2400" dirty="0" err="1"/>
              <a:t>fruits.Remove</a:t>
            </a:r>
            <a:r>
              <a:rPr lang="en-US" sz="2400" dirty="0"/>
              <a:t>("Apple");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RemoveAt</a:t>
            </a:r>
            <a:r>
              <a:rPr lang="en-US" sz="2400" b="1" dirty="0"/>
              <a:t>(): </a:t>
            </a:r>
            <a:r>
              <a:rPr lang="en-IN" sz="2400" dirty="0"/>
              <a:t>Removes an item using its index-&gt; </a:t>
            </a:r>
            <a:r>
              <a:rPr lang="en-US" sz="2400" dirty="0" err="1"/>
              <a:t>fruits.RemoveAt</a:t>
            </a:r>
            <a:r>
              <a:rPr lang="en-US" sz="2400" dirty="0"/>
              <a:t>(1);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Clear(): </a:t>
            </a:r>
            <a:r>
              <a:rPr lang="en-US" sz="2400" dirty="0"/>
              <a:t>Remove all items-&gt; </a:t>
            </a:r>
            <a:r>
              <a:rPr lang="en-US" sz="2400" dirty="0" err="1"/>
              <a:t>fruits.Clear</a:t>
            </a:r>
            <a:r>
              <a:rPr lang="en-US" sz="2400" dirty="0"/>
              <a:t>();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Count: </a:t>
            </a:r>
            <a:r>
              <a:rPr lang="en-US" sz="2400" dirty="0"/>
              <a:t>Number of items-&gt; </a:t>
            </a:r>
            <a:r>
              <a:rPr lang="en-US" sz="2400" dirty="0" err="1"/>
              <a:t>fruits.Count</a:t>
            </a:r>
            <a:r>
              <a:rPr lang="en-US" sz="2400" dirty="0"/>
              <a:t>;            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673533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62EAC-EE70-607D-A616-9DC1D1F5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4494E-2575-1169-47E3-D1D33077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EA4DD-87F6-4B78-B43A-37F7EB6A0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11228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400" b="1" dirty="0"/>
              <a:t>2. Dictionary&lt;</a:t>
            </a:r>
            <a:r>
              <a:rPr lang="en-IN" sz="2400" b="1" dirty="0" err="1"/>
              <a:t>TKey</a:t>
            </a:r>
            <a:r>
              <a:rPr lang="en-IN" sz="2400" b="1" dirty="0"/>
              <a:t>, TValue&gt;</a:t>
            </a:r>
          </a:p>
          <a:p>
            <a:pPr marL="0" indent="0">
              <a:buNone/>
            </a:pPr>
            <a:r>
              <a:rPr lang="en-IN" sz="2400" dirty="0"/>
              <a:t>A </a:t>
            </a:r>
            <a:r>
              <a:rPr lang="en-IN" sz="2400" b="1" dirty="0"/>
              <a:t>Dictionary</a:t>
            </a:r>
            <a:r>
              <a:rPr lang="en-IN" sz="2400" dirty="0"/>
              <a:t> stores data as </a:t>
            </a:r>
            <a:r>
              <a:rPr lang="en-IN" sz="2400" b="1" dirty="0"/>
              <a:t>Key–Value pairs</a:t>
            </a:r>
            <a:r>
              <a:rPr lang="en-IN" sz="2400" dirty="0"/>
              <a:t>. Each key must be unique, but values may be repeated.</a:t>
            </a:r>
          </a:p>
          <a:p>
            <a:pPr marL="0" indent="0" algn="just">
              <a:buNone/>
            </a:pPr>
            <a:r>
              <a:rPr lang="en-IN" sz="2400" b="1" dirty="0"/>
              <a:t>Syntax: </a:t>
            </a:r>
            <a:r>
              <a:rPr lang="en-US" sz="2400" dirty="0"/>
              <a:t>Dictionary&lt;</a:t>
            </a:r>
            <a:r>
              <a:rPr lang="en-US" sz="2400" dirty="0" err="1"/>
              <a:t>KeyType</a:t>
            </a:r>
            <a:r>
              <a:rPr lang="en-US" sz="2400" dirty="0"/>
              <a:t>, </a:t>
            </a:r>
            <a:r>
              <a:rPr lang="en-US" sz="2400" dirty="0" err="1"/>
              <a:t>ValueType</a:t>
            </a:r>
            <a:r>
              <a:rPr lang="en-US" sz="2400" dirty="0"/>
              <a:t>&gt; </a:t>
            </a:r>
            <a:r>
              <a:rPr lang="en-US" sz="2400" dirty="0" err="1"/>
              <a:t>dictionaryName</a:t>
            </a:r>
            <a:r>
              <a:rPr lang="en-US" sz="2400" dirty="0"/>
              <a:t> = new Dictionary&lt;</a:t>
            </a:r>
            <a:r>
              <a:rPr lang="en-US" sz="2400" dirty="0" err="1"/>
              <a:t>KeyType</a:t>
            </a:r>
            <a:r>
              <a:rPr lang="en-US" sz="2400" dirty="0"/>
              <a:t>, </a:t>
            </a:r>
            <a:r>
              <a:rPr lang="en-US" sz="2400" dirty="0" err="1"/>
              <a:t>ValueType</a:t>
            </a:r>
            <a:r>
              <a:rPr lang="en-US" sz="2400" dirty="0"/>
              <a:t>&gt;();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b="1" dirty="0"/>
              <a:t>Ex: </a:t>
            </a:r>
            <a:r>
              <a:rPr lang="en-IN" sz="2400" dirty="0"/>
              <a:t>Dictionary&lt;int, string&gt; students = new Dictionary&lt;int, string&gt;();</a:t>
            </a:r>
          </a:p>
          <a:p>
            <a:pPr marL="0" indent="0" algn="just">
              <a:buNone/>
            </a:pPr>
            <a:r>
              <a:rPr lang="en-IN" sz="2400" dirty="0" err="1"/>
              <a:t>students.Add</a:t>
            </a:r>
            <a:r>
              <a:rPr lang="en-IN" sz="2400" dirty="0"/>
              <a:t>(101, "Ravi"); </a:t>
            </a:r>
          </a:p>
          <a:p>
            <a:pPr marL="0" indent="0" algn="just">
              <a:buNone/>
            </a:pPr>
            <a:r>
              <a:rPr lang="en-IN" sz="2400" dirty="0" err="1"/>
              <a:t>students.Add</a:t>
            </a:r>
            <a:r>
              <a:rPr lang="en-IN" sz="2400" dirty="0"/>
              <a:t>(102, "Anu"); </a:t>
            </a:r>
          </a:p>
          <a:p>
            <a:pPr marL="0" indent="0" algn="just">
              <a:buNone/>
            </a:pPr>
            <a:r>
              <a:rPr lang="en-IN" sz="2400" dirty="0" err="1"/>
              <a:t>students.Add</a:t>
            </a:r>
            <a:r>
              <a:rPr lang="en-IN" sz="2400" dirty="0"/>
              <a:t>(103, "Kiran"); </a:t>
            </a:r>
          </a:p>
          <a:p>
            <a:pPr marL="0" indent="0" algn="just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(students[102]);</a:t>
            </a:r>
          </a:p>
        </p:txBody>
      </p:sp>
    </p:spTree>
    <p:extLst>
      <p:ext uri="{BB962C8B-B14F-4D97-AF65-F5344CB8AC3E}">
        <p14:creationId xmlns:p14="http://schemas.microsoft.com/office/powerpoint/2010/main" val="2805141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5A581-DC4F-E2AB-6D38-41574378D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1B9F-B538-C72E-61DD-AA3218B39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Methods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257A0-7495-5C93-4A13-10E9010E2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563726" cy="39319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Add(): </a:t>
            </a:r>
            <a:r>
              <a:rPr lang="en-IN" sz="2500" dirty="0"/>
              <a:t>Adds a key-value pair-&gt; </a:t>
            </a:r>
            <a:r>
              <a:rPr lang="en-US" sz="2500" dirty="0" err="1"/>
              <a:t>students.Add</a:t>
            </a:r>
            <a:r>
              <a:rPr lang="en-US" sz="2500" dirty="0"/>
              <a:t>(104, "Asha");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Remove(): </a:t>
            </a:r>
            <a:r>
              <a:rPr lang="en-IN" sz="2500" dirty="0"/>
              <a:t>Removes a key-value pair.-&gt; </a:t>
            </a:r>
            <a:r>
              <a:rPr lang="en-US" sz="2500" dirty="0" err="1"/>
              <a:t>students.Remove</a:t>
            </a:r>
            <a:r>
              <a:rPr lang="en-US" sz="2500" dirty="0"/>
              <a:t>(101);</a:t>
            </a:r>
            <a:endParaRPr lang="en-US" sz="25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 err="1"/>
              <a:t>ContainsKey</a:t>
            </a:r>
            <a:r>
              <a:rPr lang="en-IN" sz="2500" b="1" dirty="0"/>
              <a:t>(): </a:t>
            </a:r>
            <a:r>
              <a:rPr lang="en-IN" sz="2500" dirty="0"/>
              <a:t>Checks if a key exists-&gt; </a:t>
            </a:r>
            <a:r>
              <a:rPr lang="en-US" sz="2500" dirty="0" err="1"/>
              <a:t>students.ContainsKey</a:t>
            </a:r>
            <a:r>
              <a:rPr lang="en-US" sz="2500" dirty="0"/>
              <a:t>(102);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 err="1"/>
              <a:t>ContainsValue</a:t>
            </a:r>
            <a:r>
              <a:rPr lang="en-IN" sz="2500" b="1" dirty="0"/>
              <a:t>(): </a:t>
            </a:r>
            <a:r>
              <a:rPr lang="en-IN" sz="2500" dirty="0"/>
              <a:t>Checks if a value exists-&gt; </a:t>
            </a:r>
            <a:r>
              <a:rPr lang="en-US" sz="2500" dirty="0" err="1"/>
              <a:t>students.ContainsValue</a:t>
            </a:r>
            <a:r>
              <a:rPr lang="en-US" sz="2500" dirty="0"/>
              <a:t>("Ravi");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Count: </a:t>
            </a:r>
            <a:r>
              <a:rPr lang="en-IN" sz="2500" dirty="0"/>
              <a:t>Returns total key-value pairs-&gt; </a:t>
            </a:r>
            <a:r>
              <a:rPr lang="en-IN" sz="2500" dirty="0" err="1"/>
              <a:t>Console.WriteLine</a:t>
            </a:r>
            <a:r>
              <a:rPr lang="en-IN" sz="2500" dirty="0"/>
              <a:t>(</a:t>
            </a:r>
            <a:r>
              <a:rPr lang="en-IN" sz="2500" dirty="0" err="1"/>
              <a:t>students.Count</a:t>
            </a:r>
            <a:r>
              <a:rPr lang="en-IN" sz="2500" dirty="0"/>
              <a:t>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/>
              <a:t>Clear(): </a:t>
            </a:r>
            <a:r>
              <a:rPr lang="en-IN" sz="2500" dirty="0"/>
              <a:t>Removes all entries-&gt; </a:t>
            </a:r>
            <a:r>
              <a:rPr lang="en-IN" sz="2500" dirty="0" err="1"/>
              <a:t>students.Clear</a:t>
            </a:r>
            <a:r>
              <a:rPr lang="en-IN" sz="2500" dirty="0"/>
              <a:t>();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9429580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AF12-78B2-D1CF-69A2-09159BA98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C0DC-361E-132C-D6A0-BA112A2A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9767-7A5C-444A-DAE1-0605BCB93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11228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3. Queue&lt;T&gt;</a:t>
            </a:r>
          </a:p>
          <a:p>
            <a:pPr marL="0" indent="0">
              <a:buNone/>
            </a:pPr>
            <a:r>
              <a:rPr lang="en-IN" sz="2400" dirty="0"/>
              <a:t>A </a:t>
            </a:r>
            <a:r>
              <a:rPr lang="en-IN" sz="2400" b="1" dirty="0"/>
              <a:t>Queue</a:t>
            </a:r>
            <a:r>
              <a:rPr lang="en-IN" sz="2400" dirty="0"/>
              <a:t> follows the </a:t>
            </a:r>
            <a:r>
              <a:rPr lang="en-IN" sz="2400" b="1" dirty="0"/>
              <a:t>FIFO (First In, First Out)</a:t>
            </a:r>
            <a:r>
              <a:rPr lang="en-IN" sz="2400" dirty="0"/>
              <a:t> principle. The first element added is the first element removed.</a:t>
            </a:r>
          </a:p>
          <a:p>
            <a:pPr marL="0" indent="0" algn="just">
              <a:buNone/>
            </a:pPr>
            <a:r>
              <a:rPr lang="en-IN" sz="2400" b="1" dirty="0"/>
              <a:t>Syntax: </a:t>
            </a:r>
            <a:r>
              <a:rPr lang="en-IN" sz="2400" dirty="0"/>
              <a:t>Queue&lt;</a:t>
            </a:r>
            <a:r>
              <a:rPr lang="en-IN" sz="2400" dirty="0" err="1"/>
              <a:t>DataType</a:t>
            </a:r>
            <a:r>
              <a:rPr lang="en-IN" sz="2400" dirty="0"/>
              <a:t>&gt; queue = new Queue&lt;</a:t>
            </a:r>
            <a:r>
              <a:rPr lang="en-IN" sz="2400" dirty="0" err="1"/>
              <a:t>DataType</a:t>
            </a:r>
            <a:r>
              <a:rPr lang="en-IN" sz="2400" dirty="0"/>
              <a:t>&gt;();</a:t>
            </a:r>
          </a:p>
          <a:p>
            <a:pPr marL="0" indent="0" algn="just">
              <a:buNone/>
            </a:pPr>
            <a:r>
              <a:rPr lang="en-IN" sz="2400" b="1" dirty="0"/>
              <a:t>Ex: </a:t>
            </a:r>
            <a:r>
              <a:rPr lang="en-IN" sz="2400" dirty="0"/>
              <a:t>Queue&lt;string&gt; queue = new Queue&lt;string&gt;(); </a:t>
            </a:r>
          </a:p>
          <a:p>
            <a:pPr marL="0" indent="0" algn="just">
              <a:buNone/>
            </a:pPr>
            <a:r>
              <a:rPr lang="en-IN" sz="2400" dirty="0" err="1"/>
              <a:t>queue.Enqueue</a:t>
            </a:r>
            <a:r>
              <a:rPr lang="en-IN" sz="2400" dirty="0"/>
              <a:t>(“Akshatha"); </a:t>
            </a:r>
          </a:p>
          <a:p>
            <a:pPr marL="0" indent="0" algn="just">
              <a:buNone/>
            </a:pPr>
            <a:r>
              <a:rPr lang="en-IN" sz="2400" dirty="0" err="1"/>
              <a:t>queue.Enqueue</a:t>
            </a:r>
            <a:r>
              <a:rPr lang="en-IN" sz="2400" dirty="0"/>
              <a:t>(“Rashmi"); </a:t>
            </a:r>
          </a:p>
          <a:p>
            <a:pPr marL="0" indent="0" algn="just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</a:t>
            </a:r>
            <a:r>
              <a:rPr lang="en-IN" sz="2400" dirty="0" err="1"/>
              <a:t>queue.Dequeue</a:t>
            </a:r>
            <a:r>
              <a:rPr lang="en-IN" sz="2400" dirty="0"/>
              <a:t>()); </a:t>
            </a:r>
          </a:p>
        </p:txBody>
      </p:sp>
    </p:spTree>
    <p:extLst>
      <p:ext uri="{BB962C8B-B14F-4D97-AF65-F5344CB8AC3E}">
        <p14:creationId xmlns:p14="http://schemas.microsoft.com/office/powerpoint/2010/main" val="396969402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0388-B84A-DFFB-0A1B-089BBF4D0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9C92E-53A8-6CFC-F8E4-78B6F31C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Queue Methods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CB1A1-CB1C-ACC1-23D2-139F1BE4F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600" b="1" dirty="0"/>
              <a:t>Enqueue(): </a:t>
            </a:r>
            <a:r>
              <a:rPr lang="en-IN" sz="2600" dirty="0"/>
              <a:t>Adds an item at the rear-&gt; </a:t>
            </a:r>
            <a:r>
              <a:rPr lang="en-IN" sz="2600" dirty="0" err="1"/>
              <a:t>queue.Enqueue</a:t>
            </a:r>
            <a:r>
              <a:rPr lang="en-IN" sz="2600" dirty="0"/>
              <a:t>(“ABC");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600" b="1" dirty="0"/>
              <a:t>Dequeue(): </a:t>
            </a:r>
            <a:r>
              <a:rPr lang="en-IN" sz="2600" dirty="0"/>
              <a:t>Removes and returns the first item-&gt; </a:t>
            </a:r>
            <a:r>
              <a:rPr lang="en-IN" sz="2600" dirty="0" err="1"/>
              <a:t>queue.Dequeue</a:t>
            </a:r>
            <a:r>
              <a:rPr lang="en-IN" sz="2600" dirty="0"/>
              <a:t>();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600" b="1" dirty="0"/>
              <a:t>Peek(): </a:t>
            </a:r>
            <a:r>
              <a:rPr lang="en-IN" sz="2600" dirty="0"/>
              <a:t>Shows the first item without removing it-&gt; </a:t>
            </a:r>
            <a:r>
              <a:rPr lang="en-IN" sz="2600" dirty="0" err="1"/>
              <a:t>queue.Peek</a:t>
            </a:r>
            <a:r>
              <a:rPr lang="en-IN" sz="2600" dirty="0"/>
              <a:t>();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600" b="1" dirty="0"/>
              <a:t>Contains(): </a:t>
            </a:r>
            <a:r>
              <a:rPr lang="en-IN" sz="2600" dirty="0"/>
              <a:t>Checks whether an item exists-&gt; </a:t>
            </a:r>
            <a:r>
              <a:rPr lang="en-IN" sz="2600" dirty="0" err="1"/>
              <a:t>queue.Contains</a:t>
            </a:r>
            <a:r>
              <a:rPr lang="en-IN" sz="2600" dirty="0"/>
              <a:t>(“A");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600" b="1" dirty="0"/>
              <a:t>Count: </a:t>
            </a:r>
            <a:r>
              <a:rPr lang="en-IN" sz="2600" dirty="0"/>
              <a:t>Returns the number of elements-&gt; </a:t>
            </a:r>
            <a:r>
              <a:rPr lang="en-IN" sz="2600" dirty="0" err="1"/>
              <a:t>queue.Count</a:t>
            </a:r>
            <a:r>
              <a:rPr lang="en-IN" sz="2600" dirty="0"/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600" b="1" dirty="0"/>
              <a:t>Clear(): </a:t>
            </a:r>
            <a:r>
              <a:rPr lang="en-IN" sz="2600" dirty="0"/>
              <a:t>Removes all elements-&gt; </a:t>
            </a:r>
            <a:r>
              <a:rPr lang="en-IN" sz="2600" dirty="0" err="1"/>
              <a:t>queue.Clear</a:t>
            </a:r>
            <a:r>
              <a:rPr lang="en-IN" sz="2600" dirty="0"/>
              <a:t>();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600" dirty="0"/>
          </a:p>
          <a:p>
            <a:pPr algn="just">
              <a:buFont typeface="Arial" panose="020B0604020202020204" pitchFamily="34" charset="0"/>
              <a:buChar char="•"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1397631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31936-CB7C-E693-75BB-81FF5A444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36CA9-3676-029C-DB49-C0ED3DFD4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88935-6EED-C8A6-79EF-71D02C254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112286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400" b="1" dirty="0"/>
              <a:t>4. Stack&lt;T&gt;</a:t>
            </a:r>
          </a:p>
          <a:p>
            <a:pPr marL="0" indent="0">
              <a:buNone/>
            </a:pPr>
            <a:r>
              <a:rPr lang="en-IN" sz="2400" dirty="0"/>
              <a:t>A </a:t>
            </a:r>
            <a:r>
              <a:rPr lang="en-IN" sz="2400" b="1" dirty="0"/>
              <a:t>Stack</a:t>
            </a:r>
            <a:r>
              <a:rPr lang="en-IN" sz="2400" dirty="0"/>
              <a:t> follows the </a:t>
            </a:r>
            <a:r>
              <a:rPr lang="en-IN" sz="2400" b="1" dirty="0"/>
              <a:t>LIFO (Last In, First Out)</a:t>
            </a:r>
            <a:r>
              <a:rPr lang="en-IN" sz="2400" dirty="0"/>
              <a:t> principle. The last element added is the first element removed.</a:t>
            </a:r>
          </a:p>
          <a:p>
            <a:pPr marL="0" indent="0" algn="just">
              <a:buNone/>
            </a:pPr>
            <a:r>
              <a:rPr lang="en-IN" sz="2400" b="1" dirty="0"/>
              <a:t>Syntax: </a:t>
            </a:r>
            <a:r>
              <a:rPr lang="en-IN" sz="2400" dirty="0"/>
              <a:t>Stack&lt;</a:t>
            </a:r>
            <a:r>
              <a:rPr lang="en-IN" sz="2400" dirty="0" err="1"/>
              <a:t>DataType</a:t>
            </a:r>
            <a:r>
              <a:rPr lang="en-IN" sz="2400" dirty="0"/>
              <a:t>&gt; stack = new Stack&lt;</a:t>
            </a:r>
            <a:r>
              <a:rPr lang="en-IN" sz="2400" dirty="0" err="1"/>
              <a:t>DataType</a:t>
            </a:r>
            <a:r>
              <a:rPr lang="en-IN" sz="2400" dirty="0"/>
              <a:t>&gt;();</a:t>
            </a:r>
          </a:p>
          <a:p>
            <a:pPr marL="0" indent="0" algn="just">
              <a:buNone/>
            </a:pPr>
            <a:r>
              <a:rPr lang="en-IN" sz="2400" b="1" dirty="0"/>
              <a:t>Ex: </a:t>
            </a:r>
            <a:r>
              <a:rPr lang="en-IN" sz="2400" dirty="0"/>
              <a:t>Stack&lt;string&gt; stack = new Stack&lt;string&gt;(); </a:t>
            </a:r>
          </a:p>
          <a:p>
            <a:pPr marL="0" indent="0" algn="just">
              <a:buNone/>
            </a:pPr>
            <a:r>
              <a:rPr lang="en-IN" sz="2400" dirty="0" err="1"/>
              <a:t>stack.Push</a:t>
            </a:r>
            <a:r>
              <a:rPr lang="en-IN" sz="2400" dirty="0"/>
              <a:t>("Book A"); </a:t>
            </a:r>
          </a:p>
          <a:p>
            <a:pPr marL="0" indent="0" algn="just">
              <a:buNone/>
            </a:pPr>
            <a:r>
              <a:rPr lang="en-IN" sz="2400" dirty="0" err="1"/>
              <a:t>stack.Push</a:t>
            </a:r>
            <a:r>
              <a:rPr lang="en-IN" sz="2400" dirty="0"/>
              <a:t>("Book B"); </a:t>
            </a:r>
          </a:p>
          <a:p>
            <a:pPr marL="0" indent="0" algn="just">
              <a:buNone/>
            </a:pPr>
            <a:r>
              <a:rPr lang="en-IN" sz="2400" dirty="0" err="1"/>
              <a:t>stack.Push</a:t>
            </a:r>
            <a:r>
              <a:rPr lang="en-IN" sz="2400" dirty="0"/>
              <a:t>("Book C"); </a:t>
            </a:r>
          </a:p>
          <a:p>
            <a:pPr marL="0" indent="0" algn="just">
              <a:buNone/>
            </a:pPr>
            <a:r>
              <a:rPr lang="en-IN" sz="2400" dirty="0" err="1"/>
              <a:t>Console.WriteLine</a:t>
            </a:r>
            <a:r>
              <a:rPr lang="en-IN" sz="2400" dirty="0"/>
              <a:t>(</a:t>
            </a:r>
            <a:r>
              <a:rPr lang="en-IN" sz="2400" dirty="0" err="1"/>
              <a:t>stack.Pop</a:t>
            </a:r>
            <a:r>
              <a:rPr lang="en-IN" sz="2400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8663695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15EE7-D828-D304-A83F-E9A2EE22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19B6-ECEE-C92A-820E-168A5A224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Stack Methods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8BD93-7E49-E044-838F-81BA452F9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Push(): </a:t>
            </a:r>
            <a:r>
              <a:rPr lang="en-IN" sz="2800" dirty="0"/>
              <a:t>Adds an item to the top-&gt; </a:t>
            </a:r>
            <a:r>
              <a:rPr lang="en-IN" sz="2800" dirty="0" err="1"/>
              <a:t>stack.Push</a:t>
            </a:r>
            <a:r>
              <a:rPr lang="en-IN" sz="2800" dirty="0"/>
              <a:t>("Book A");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Pop(): </a:t>
            </a:r>
            <a:r>
              <a:rPr lang="en-IN" sz="2800" dirty="0"/>
              <a:t>Removes and returns the top item-&gt; </a:t>
            </a:r>
            <a:r>
              <a:rPr lang="en-IN" sz="2800" dirty="0" err="1"/>
              <a:t>stack.Pop</a:t>
            </a:r>
            <a:r>
              <a:rPr lang="en-IN" sz="2800" dirty="0"/>
              <a:t>();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Peek(): </a:t>
            </a:r>
            <a:r>
              <a:rPr lang="en-IN" sz="2800" dirty="0"/>
              <a:t>Shows the top item without removing it-&gt; </a:t>
            </a:r>
            <a:r>
              <a:rPr lang="en-IN" sz="2800" dirty="0" err="1"/>
              <a:t>stack.Peek</a:t>
            </a:r>
            <a:r>
              <a:rPr lang="en-IN" sz="2800" dirty="0"/>
              <a:t>();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Contains(): </a:t>
            </a:r>
            <a:r>
              <a:rPr lang="en-IN" sz="2800" dirty="0"/>
              <a:t>Checks whether an item exists-&gt; </a:t>
            </a:r>
            <a:r>
              <a:rPr lang="en-IN" sz="2800" dirty="0" err="1"/>
              <a:t>stack.Contains</a:t>
            </a:r>
            <a:r>
              <a:rPr lang="en-IN" sz="2800" dirty="0"/>
              <a:t>(“A");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Count: </a:t>
            </a:r>
            <a:r>
              <a:rPr lang="en-IN" sz="2800" dirty="0"/>
              <a:t>Returns the number of elements-&gt; </a:t>
            </a:r>
            <a:r>
              <a:rPr lang="en-IN" sz="2800" dirty="0" err="1"/>
              <a:t>stack.Count</a:t>
            </a:r>
            <a:r>
              <a:rPr lang="en-IN" sz="2800" dirty="0"/>
              <a:t>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b="1" dirty="0"/>
              <a:t>Clear(): </a:t>
            </a:r>
            <a:r>
              <a:rPr lang="en-IN" sz="2800" dirty="0"/>
              <a:t>Removes all elements-&gt; </a:t>
            </a:r>
            <a:r>
              <a:rPr lang="en-IN" sz="2800" dirty="0" err="1"/>
              <a:t>stack.Clear</a:t>
            </a:r>
            <a:r>
              <a:rPr lang="en-IN" sz="2800" dirty="0"/>
              <a:t>();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246097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D5CFE-6979-A5AC-89F1-210A3DD8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930FB-7F85-16C5-AB68-EB47032E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148BA-B9C0-8B1A-24C0-9D55FF479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112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5. HashSet&lt;T&gt;</a:t>
            </a:r>
          </a:p>
          <a:p>
            <a:pPr marL="0" indent="0" algn="just">
              <a:buNone/>
            </a:pPr>
            <a:r>
              <a:rPr lang="en-IN" sz="2400" dirty="0"/>
              <a:t>A HashSet stores only unique elements. Duplicate values are automatically ignored.</a:t>
            </a:r>
          </a:p>
          <a:p>
            <a:pPr marL="0" indent="0" algn="just">
              <a:buNone/>
            </a:pPr>
            <a:r>
              <a:rPr lang="en-IN" sz="2400" b="1" dirty="0"/>
              <a:t>Syntax: </a:t>
            </a:r>
            <a:r>
              <a:rPr lang="en-IN" sz="2400" dirty="0"/>
              <a:t>HashSet&lt;</a:t>
            </a:r>
            <a:r>
              <a:rPr lang="en-IN" sz="2400" dirty="0" err="1"/>
              <a:t>DataType</a:t>
            </a:r>
            <a:r>
              <a:rPr lang="en-IN" sz="2400" dirty="0"/>
              <a:t>&gt; set = new HashSet&lt;</a:t>
            </a:r>
            <a:r>
              <a:rPr lang="en-IN" sz="2400" dirty="0" err="1"/>
              <a:t>DataType</a:t>
            </a:r>
            <a:r>
              <a:rPr lang="en-IN" sz="2400" dirty="0"/>
              <a:t>&gt;();</a:t>
            </a:r>
          </a:p>
          <a:p>
            <a:pPr marL="0" indent="0" algn="just">
              <a:buNone/>
            </a:pPr>
            <a:r>
              <a:rPr lang="en-IN" sz="2400" b="1" dirty="0"/>
              <a:t>Ex: </a:t>
            </a:r>
            <a:r>
              <a:rPr lang="en-IN" sz="2400" dirty="0"/>
              <a:t>HashSet&lt;string&gt; </a:t>
            </a:r>
            <a:r>
              <a:rPr lang="en-IN" sz="2400" dirty="0" err="1"/>
              <a:t>colors</a:t>
            </a:r>
            <a:r>
              <a:rPr lang="en-IN" sz="2400" dirty="0"/>
              <a:t> = new HashSet&lt;string&gt;(); </a:t>
            </a:r>
          </a:p>
          <a:p>
            <a:pPr marL="0" indent="0" algn="just">
              <a:buNone/>
            </a:pPr>
            <a:r>
              <a:rPr lang="en-IN" sz="2400" dirty="0" err="1"/>
              <a:t>colors.Add</a:t>
            </a:r>
            <a:r>
              <a:rPr lang="en-IN" sz="2400" dirty="0"/>
              <a:t>("Red"); </a:t>
            </a:r>
          </a:p>
          <a:p>
            <a:pPr marL="0" indent="0" algn="just">
              <a:buNone/>
            </a:pPr>
            <a:r>
              <a:rPr lang="en-IN" sz="2400" dirty="0" err="1"/>
              <a:t>colors.Add</a:t>
            </a:r>
            <a:r>
              <a:rPr lang="en-IN" sz="2400" dirty="0"/>
              <a:t>("Blue");</a:t>
            </a:r>
          </a:p>
        </p:txBody>
      </p:sp>
    </p:spTree>
    <p:extLst>
      <p:ext uri="{BB962C8B-B14F-4D97-AF65-F5344CB8AC3E}">
        <p14:creationId xmlns:p14="http://schemas.microsoft.com/office/powerpoint/2010/main" val="10123767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C7AC-DF8F-DE88-FAFD-DB5FBC2F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6C4C9-DF8A-0F7F-41D9-6BFB732C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HashSet Methods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9D099-62BB-131C-0EFB-7AEE2874C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47" y="2103120"/>
            <a:ext cx="10539663" cy="393192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600" b="1" dirty="0"/>
              <a:t>Add(): </a:t>
            </a:r>
            <a:r>
              <a:rPr lang="en-IN" sz="2600" dirty="0"/>
              <a:t>Adds an item-&gt; </a:t>
            </a:r>
            <a:r>
              <a:rPr lang="en-IN" sz="2600" dirty="0" err="1"/>
              <a:t>colors.Add</a:t>
            </a:r>
            <a:r>
              <a:rPr lang="en-IN" sz="2600" dirty="0"/>
              <a:t>("Red");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/>
              <a:t>Remove(): </a:t>
            </a:r>
            <a:r>
              <a:rPr lang="en-US" sz="2500" dirty="0"/>
              <a:t>Remove</a:t>
            </a:r>
            <a:r>
              <a:rPr lang="en-US" sz="2600" dirty="0"/>
              <a:t> item: </a:t>
            </a:r>
            <a:r>
              <a:rPr lang="en-US" sz="2600" dirty="0" err="1"/>
              <a:t>fruits.Remove</a:t>
            </a:r>
            <a:r>
              <a:rPr lang="en-US" sz="2600" dirty="0"/>
              <a:t>("Apple");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b="1" dirty="0"/>
              <a:t>C</a:t>
            </a:r>
            <a:r>
              <a:rPr lang="en-IN" sz="2600" b="1" dirty="0" err="1"/>
              <a:t>ontains</a:t>
            </a:r>
            <a:r>
              <a:rPr lang="en-IN" sz="2600" b="1" dirty="0"/>
              <a:t>(): </a:t>
            </a:r>
            <a:r>
              <a:rPr lang="en-IN" sz="2600" dirty="0"/>
              <a:t>Checks if an item exists-&gt; </a:t>
            </a:r>
            <a:r>
              <a:rPr lang="en-IN" sz="2600" dirty="0" err="1"/>
              <a:t>colors.Contains</a:t>
            </a:r>
            <a:r>
              <a:rPr lang="en-IN" sz="2600" dirty="0"/>
              <a:t>("Red");</a:t>
            </a:r>
            <a:endParaRPr lang="en-US" sz="2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/>
              <a:t>Clear(): </a:t>
            </a:r>
            <a:r>
              <a:rPr lang="en-US" sz="2600" dirty="0"/>
              <a:t>Remove all items-&gt; </a:t>
            </a:r>
            <a:r>
              <a:rPr lang="en-US" sz="2600" dirty="0" err="1"/>
              <a:t>fruits.Clear</a:t>
            </a:r>
            <a:r>
              <a:rPr lang="en-US" sz="2600" dirty="0"/>
              <a:t>();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/>
              <a:t>Count: </a:t>
            </a:r>
            <a:r>
              <a:rPr lang="en-US" sz="2600" dirty="0"/>
              <a:t>Number of items-</a:t>
            </a:r>
            <a:r>
              <a:rPr lang="en-US" sz="2600" b="1" dirty="0"/>
              <a:t>&gt; </a:t>
            </a:r>
            <a:r>
              <a:rPr lang="en-US" sz="2600" dirty="0" err="1"/>
              <a:t>fruits.Count</a:t>
            </a:r>
            <a:r>
              <a:rPr lang="en-US" sz="2600" dirty="0"/>
              <a:t>;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600" b="1" dirty="0" err="1"/>
              <a:t>IntersectWith</a:t>
            </a:r>
            <a:r>
              <a:rPr lang="en-IN" sz="2600" b="1" dirty="0"/>
              <a:t>(): </a:t>
            </a:r>
            <a:r>
              <a:rPr lang="en-IN" sz="2600" dirty="0"/>
              <a:t>Keeps only common elements-&gt; set1.IntersectWith(set2);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1" dirty="0" err="1"/>
              <a:t>ExceptWith</a:t>
            </a:r>
            <a:r>
              <a:rPr lang="en-IN" sz="2500" b="1" dirty="0"/>
              <a:t>(): </a:t>
            </a:r>
            <a:r>
              <a:rPr lang="en-IN" sz="2500" dirty="0"/>
              <a:t>Removes common elements-&gt; set1.ExceptWith(set2);</a:t>
            </a:r>
          </a:p>
        </p:txBody>
      </p:sp>
    </p:spTree>
    <p:extLst>
      <p:ext uri="{BB962C8B-B14F-4D97-AF65-F5344CB8AC3E}">
        <p14:creationId xmlns:p14="http://schemas.microsoft.com/office/powerpoint/2010/main" val="4123272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6472</TotalTime>
  <Words>4605</Words>
  <Application>Microsoft Office PowerPoint</Application>
  <PresentationFormat>Widescreen</PresentationFormat>
  <Paragraphs>713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Garamond</vt:lpstr>
      <vt:lpstr>Times New Roman</vt:lpstr>
      <vt:lpstr>Savon</vt:lpstr>
      <vt:lpstr>Fundamentals  and  Data Structures in C# </vt:lpstr>
      <vt:lpstr>Introduction</vt:lpstr>
      <vt:lpstr>Evolution from C# 1.0 to C# 13 (2024)</vt:lpstr>
      <vt:lpstr>Evolution from C# 1.0 to C# 13 (2024)</vt:lpstr>
      <vt:lpstr>CLR, CLS, CTS:</vt:lpstr>
      <vt:lpstr>Execution of C# Program:</vt:lpstr>
      <vt:lpstr>Role of CLR:</vt:lpstr>
      <vt:lpstr>Difference between CLS and CTS.</vt:lpstr>
      <vt:lpstr>Key Features:</vt:lpstr>
      <vt:lpstr>Data Types:</vt:lpstr>
      <vt:lpstr>Variables</vt:lpstr>
      <vt:lpstr>Types of Data Types</vt:lpstr>
      <vt:lpstr>a. Value Types</vt:lpstr>
      <vt:lpstr>Reference Types</vt:lpstr>
      <vt:lpstr>Copying a Reference Type</vt:lpstr>
      <vt:lpstr>Nullable Types</vt:lpstr>
      <vt:lpstr>Control Structures:</vt:lpstr>
      <vt:lpstr>if Statement</vt:lpstr>
      <vt:lpstr>if...else Statement</vt:lpstr>
      <vt:lpstr>else if Ladder</vt:lpstr>
      <vt:lpstr>switch Statement</vt:lpstr>
      <vt:lpstr>while Loop</vt:lpstr>
      <vt:lpstr>do...while Loop</vt:lpstr>
      <vt:lpstr>for Loop</vt:lpstr>
      <vt:lpstr>foreach Loop</vt:lpstr>
      <vt:lpstr>Operators:</vt:lpstr>
      <vt:lpstr>1. Arithmetic Operators</vt:lpstr>
      <vt:lpstr>PowerPoint Presentation</vt:lpstr>
      <vt:lpstr>2. Comparison (Relational) Operators</vt:lpstr>
      <vt:lpstr>PowerPoint Presentation</vt:lpstr>
      <vt:lpstr>3. Logical Operators</vt:lpstr>
      <vt:lpstr>PowerPoint Presentation</vt:lpstr>
      <vt:lpstr>4. Assignment Operators</vt:lpstr>
      <vt:lpstr>PowerPoint Presentation</vt:lpstr>
      <vt:lpstr>PowerPoint Presentation</vt:lpstr>
      <vt:lpstr>Type Conversions:</vt:lpstr>
      <vt:lpstr>Types of Type Conversion</vt:lpstr>
      <vt:lpstr>Types of Type Conversion</vt:lpstr>
      <vt:lpstr>Type Conversion Methods</vt:lpstr>
      <vt:lpstr>Convert Class</vt:lpstr>
      <vt:lpstr>Parse() Method</vt:lpstr>
      <vt:lpstr>is Operator </vt:lpstr>
      <vt:lpstr>as Operator </vt:lpstr>
      <vt:lpstr>Data Structures</vt:lpstr>
      <vt:lpstr>Array</vt:lpstr>
      <vt:lpstr>Types of Arrays </vt:lpstr>
      <vt:lpstr>Types of Arrays </vt:lpstr>
      <vt:lpstr>PowerPoint Presentation</vt:lpstr>
      <vt:lpstr>Types of Arrays </vt:lpstr>
      <vt:lpstr>PowerPoint Presentation</vt:lpstr>
      <vt:lpstr>Collections:</vt:lpstr>
      <vt:lpstr>Types of Collections</vt:lpstr>
      <vt:lpstr>List Methods</vt:lpstr>
      <vt:lpstr>Types of Collections</vt:lpstr>
      <vt:lpstr>Dictionary Methods</vt:lpstr>
      <vt:lpstr>Types of Collections</vt:lpstr>
      <vt:lpstr>Queue Methods</vt:lpstr>
      <vt:lpstr>Types of Collections</vt:lpstr>
      <vt:lpstr>Stack Methods</vt:lpstr>
      <vt:lpstr>Types of Collections</vt:lpstr>
      <vt:lpstr>HashSet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Rashmi Hegde K</dc:creator>
  <cp:lastModifiedBy>Rashmi Hegde K</cp:lastModifiedBy>
  <cp:revision>46</cp:revision>
  <dcterms:created xsi:type="dcterms:W3CDTF">2026-06-23T05:27:43Z</dcterms:created>
  <dcterms:modified xsi:type="dcterms:W3CDTF">2026-08-21T04:15:27Z</dcterms:modified>
</cp:coreProperties>
</file>